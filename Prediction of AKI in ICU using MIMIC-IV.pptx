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8229600" cx="14630400"/>
  <p:notesSz cx="8229600" cy="14630400"/>
  <p:embeddedFontLst>
    <p:embeddedFont>
      <p:font typeface="Raleway"/>
      <p:regular r:id="rId30"/>
      <p:bold r:id="rId31"/>
      <p:italic r:id="rId32"/>
      <p:boldItalic r:id="rId33"/>
    </p:embeddedFont>
    <p:embeddedFont>
      <p:font typeface="Roboto"/>
      <p:regular r:id="rId34"/>
      <p:bold r:id="rId35"/>
      <p:italic r:id="rId36"/>
      <p:boldItalic r:id="rId37"/>
    </p:embeddedFont>
    <p:embeddedFont>
      <p:font typeface="DM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slide" Target="slides/slide16.xml"/><Relationship Id="rId41" Type="http://schemas.openxmlformats.org/officeDocument/2006/relationships/font" Target="fonts/DMSans-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bold.fntdata"/><Relationship Id="rId30" Type="http://schemas.openxmlformats.org/officeDocument/2006/relationships/font" Target="fonts/Raleway-regular.fntdata"/><Relationship Id="rId11" Type="http://schemas.openxmlformats.org/officeDocument/2006/relationships/slide" Target="slides/slide7.xml"/><Relationship Id="rId33" Type="http://schemas.openxmlformats.org/officeDocument/2006/relationships/font" Target="fonts/Raleway-boldItalic.fntdata"/><Relationship Id="rId10" Type="http://schemas.openxmlformats.org/officeDocument/2006/relationships/slide" Target="slides/slide6.xml"/><Relationship Id="rId32" Type="http://schemas.openxmlformats.org/officeDocument/2006/relationships/font" Target="fonts/Raleway-italic.fntdata"/><Relationship Id="rId13" Type="http://schemas.openxmlformats.org/officeDocument/2006/relationships/slide" Target="slides/slide9.xml"/><Relationship Id="rId35" Type="http://schemas.openxmlformats.org/officeDocument/2006/relationships/font" Target="fonts/Roboto-bold.fntdata"/><Relationship Id="rId12" Type="http://schemas.openxmlformats.org/officeDocument/2006/relationships/slide" Target="slides/slide8.xml"/><Relationship Id="rId34" Type="http://schemas.openxmlformats.org/officeDocument/2006/relationships/font" Target="fonts/Roboto-regular.fntdata"/><Relationship Id="rId15" Type="http://schemas.openxmlformats.org/officeDocument/2006/relationships/slide" Target="slides/slide11.xml"/><Relationship Id="rId37" Type="http://schemas.openxmlformats.org/officeDocument/2006/relationships/font" Target="fonts/Roboto-boldItalic.fntdata"/><Relationship Id="rId14" Type="http://schemas.openxmlformats.org/officeDocument/2006/relationships/slide" Target="slides/slide10.xml"/><Relationship Id="rId36" Type="http://schemas.openxmlformats.org/officeDocument/2006/relationships/font" Target="fonts/Roboto-italic.fntdata"/><Relationship Id="rId17" Type="http://schemas.openxmlformats.org/officeDocument/2006/relationships/slide" Target="slides/slide13.xml"/><Relationship Id="rId39" Type="http://schemas.openxmlformats.org/officeDocument/2006/relationships/font" Target="fonts/DMSans-bold.fntdata"/><Relationship Id="rId16" Type="http://schemas.openxmlformats.org/officeDocument/2006/relationships/slide" Target="slides/slide12.xml"/><Relationship Id="rId38" Type="http://schemas.openxmlformats.org/officeDocument/2006/relationships/font" Target="fonts/DMSans-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2" type="hdr"/>
          </p:nvPr>
        </p:nvSpPr>
        <p:spPr>
          <a:xfrm>
            <a:off x="0" y="0"/>
            <a:ext cx="4755000" cy="5487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77" name="Google Shape;77;p1:notes"/>
          <p:cNvSpPr txBox="1"/>
          <p:nvPr>
            <p:ph idx="10" type="dt"/>
          </p:nvPr>
        </p:nvSpPr>
        <p:spPr>
          <a:xfrm>
            <a:off x="6216016" y="0"/>
            <a:ext cx="4755000" cy="54870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78" name="Google Shape;78;p1:notes"/>
          <p:cNvSpPr/>
          <p:nvPr>
            <p:ph idx="3" type="sldImg"/>
          </p:nvPr>
        </p:nvSpPr>
        <p:spPr>
          <a:xfrm>
            <a:off x="3429000" y="820421"/>
            <a:ext cx="4114800" cy="4107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1:notes"/>
          <p:cNvSpPr txBox="1"/>
          <p:nvPr>
            <p:ph idx="1" type="body"/>
          </p:nvPr>
        </p:nvSpPr>
        <p:spPr>
          <a:xfrm>
            <a:off x="1097280" y="5201920"/>
            <a:ext cx="8778300" cy="4930200"/>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Hello everyone, we’re Team 7 and our project focuses on predicting drug-induced Acute Kidney Injury in ICU patients using the MIMIC-IV dataset. We built a fully reproducible SQL-based pipeline and machine learning models to better detect AKI risk early.”</a:t>
            </a:r>
            <a:endParaRPr sz="1900"/>
          </a:p>
        </p:txBody>
      </p:sp>
      <p:sp>
        <p:nvSpPr>
          <p:cNvPr id="80" name="Google Shape;80;p1:notes"/>
          <p:cNvSpPr txBox="1"/>
          <p:nvPr>
            <p:ph idx="11" type="ftr"/>
          </p:nvPr>
        </p:nvSpPr>
        <p:spPr>
          <a:xfrm>
            <a:off x="0" y="10403840"/>
            <a:ext cx="4755000" cy="5460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81" name="Google Shape;81;p1:notes"/>
          <p:cNvSpPr txBox="1"/>
          <p:nvPr>
            <p:ph idx="12" type="sldNum"/>
          </p:nvPr>
        </p:nvSpPr>
        <p:spPr>
          <a:xfrm>
            <a:off x="6216016" y="10403840"/>
            <a:ext cx="4755000" cy="546000"/>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89" name="Google Shape;89;p2: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90" name="Google Shape;90;p2: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2: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In the ICU, AKI is mostly detected after kidney damage has already happened — a challenge commonly highlighted in prior studies. We also found from existing papers that many models rely on inconsistent AKI definitions and use pipelines that cannot be easily reproduced across hospitals. Drug-associated AKI is also a rare outcome, which means commonly reported metrics like ROC-AUC can appear strong even when models fail to identify true at-risk patients.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“We reviewed recent literature on reproducibility in kidney research, including an editorial in Kidney360 that focuses on the role of transparent, reproducible methods in nephrology research. We also examined a related study published in Frontiers in Medicine that highlights challenges and solutions in implementing rigorous, reproducible pipelines, insights from these led to our decision to build a fully </a:t>
            </a:r>
            <a:r>
              <a:rPr b="1" lang="en-US" sz="1100">
                <a:latin typeface="Arial"/>
                <a:ea typeface="Arial"/>
                <a:cs typeface="Arial"/>
                <a:sym typeface="Arial"/>
              </a:rPr>
              <a:t>clean, consistent way </a:t>
            </a:r>
            <a:r>
              <a:rPr lang="en-US" sz="1100">
                <a:latin typeface="Arial"/>
                <a:ea typeface="Arial"/>
                <a:cs typeface="Arial"/>
                <a:sym typeface="Arial"/>
              </a:rPr>
              <a:t>workflow for AKI detection.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92" name="Google Shape;92;p2: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93" name="Google Shape;93;p2: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f1ab66241_0_1:notes"/>
          <p:cNvSpPr txBox="1"/>
          <p:nvPr>
            <p:ph idx="2" type="hdr"/>
          </p:nvPr>
        </p:nvSpPr>
        <p:spPr>
          <a:xfrm>
            <a:off x="0" y="0"/>
            <a:ext cx="4755000" cy="5487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21" name="Google Shape;121;g3af1ab66241_0_1:notes"/>
          <p:cNvSpPr txBox="1"/>
          <p:nvPr>
            <p:ph idx="10" type="dt"/>
          </p:nvPr>
        </p:nvSpPr>
        <p:spPr>
          <a:xfrm>
            <a:off x="6216016" y="0"/>
            <a:ext cx="4755000" cy="54870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22" name="Google Shape;122;g3af1ab66241_0_1:notes"/>
          <p:cNvSpPr/>
          <p:nvPr>
            <p:ph idx="3" type="sldImg"/>
          </p:nvPr>
        </p:nvSpPr>
        <p:spPr>
          <a:xfrm>
            <a:off x="3429000" y="820421"/>
            <a:ext cx="4114800" cy="4107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af1ab66241_0_1:notes"/>
          <p:cNvSpPr txBox="1"/>
          <p:nvPr>
            <p:ph idx="1" type="body"/>
          </p:nvPr>
        </p:nvSpPr>
        <p:spPr>
          <a:xfrm>
            <a:off x="1097280" y="5201920"/>
            <a:ext cx="8778300" cy="49302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a:p>
        </p:txBody>
      </p:sp>
      <p:sp>
        <p:nvSpPr>
          <p:cNvPr id="124" name="Google Shape;124;g3af1ab66241_0_1:notes"/>
          <p:cNvSpPr txBox="1"/>
          <p:nvPr>
            <p:ph idx="11" type="ftr"/>
          </p:nvPr>
        </p:nvSpPr>
        <p:spPr>
          <a:xfrm>
            <a:off x="0" y="10403840"/>
            <a:ext cx="4755000" cy="5460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25" name="Google Shape;125;g3af1ab66241_0_1:notes"/>
          <p:cNvSpPr txBox="1"/>
          <p:nvPr>
            <p:ph idx="12" type="sldNum"/>
          </p:nvPr>
        </p:nvSpPr>
        <p:spPr>
          <a:xfrm>
            <a:off x="6216016" y="10403840"/>
            <a:ext cx="4755000" cy="546000"/>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34" name="Google Shape;134;p3: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35" name="Google Shape;135;p3: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rPr lang="en-US"/>
              <a:t>We did this bec a large portion of AKI is linked to medications — which means it can be prevented.</a:t>
            </a:r>
            <a:endParaRPr/>
          </a:p>
          <a:p>
            <a:pPr indent="0" lvl="0" marL="0" rtl="0" algn="l">
              <a:lnSpc>
                <a:spcPct val="100000"/>
              </a:lnSpc>
              <a:spcBef>
                <a:spcPts val="0"/>
              </a:spcBef>
              <a:spcAft>
                <a:spcPts val="0"/>
              </a:spcAft>
              <a:buSzPts val="1400"/>
              <a:buNone/>
            </a:pPr>
            <a:r>
              <a:rPr lang="en-US"/>
              <a:t>The challenge is that clinicians usually notice AKI only after creatinine rises, which means the kidney has already suffered damage.</a:t>
            </a:r>
            <a:endParaRPr/>
          </a:p>
          <a:p>
            <a:pPr indent="0" lvl="0" marL="0" rtl="0" algn="l">
              <a:lnSpc>
                <a:spcPct val="115000"/>
              </a:lnSpc>
              <a:spcBef>
                <a:spcPts val="0"/>
              </a:spcBef>
              <a:spcAft>
                <a:spcPts val="0"/>
              </a:spcAft>
              <a:buClr>
                <a:schemeClr val="dk1"/>
              </a:buClr>
              <a:buSzPts val="1100"/>
              <a:buFont typeface="Arial"/>
              <a:buNone/>
            </a:pPr>
            <a:r>
              <a:rPr lang="en-US"/>
              <a:t>ICU patients generate thousands of data points each day, but these trends are not manually trackable</a:t>
            </a:r>
            <a:endParaRPr/>
          </a:p>
          <a:p>
            <a:pPr indent="0" lvl="0" marL="0" rtl="0" algn="l">
              <a:lnSpc>
                <a:spcPct val="100000"/>
              </a:lnSpc>
              <a:spcBef>
                <a:spcPts val="0"/>
              </a:spcBef>
              <a:spcAft>
                <a:spcPts val="0"/>
              </a:spcAft>
              <a:buSzPts val="1400"/>
              <a:buNone/>
            </a:pPr>
            <a:r>
              <a:rPr lang="en-US"/>
              <a:t>Our goal was to use these time-based data to flag AKI risk earlier so clinicians can act before real harm happens.”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37" name="Google Shape;137;p3: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38" name="Google Shape;138;p3: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45" name="Google Shape;145;p4: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46" name="Google Shape;146;p4: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4: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This approach helps everyone in the ICU:</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Pharmacists</a:t>
            </a:r>
            <a:r>
              <a:rPr lang="en-US" sz="1100">
                <a:latin typeface="Arial"/>
                <a:ea typeface="Arial"/>
                <a:cs typeface="Arial"/>
                <a:sym typeface="Arial"/>
              </a:rPr>
              <a:t> adjusting doses,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Nephrologists</a:t>
            </a:r>
            <a:r>
              <a:rPr lang="en-US" sz="1100">
                <a:latin typeface="Arial"/>
                <a:ea typeface="Arial"/>
                <a:cs typeface="Arial"/>
                <a:sym typeface="Arial"/>
              </a:rPr>
              <a:t> monitoring high-risk patients,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ICU teams</a:t>
            </a:r>
            <a:r>
              <a:rPr lang="en-US" sz="1100">
                <a:latin typeface="Arial"/>
                <a:ea typeface="Arial"/>
                <a:cs typeface="Arial"/>
                <a:sym typeface="Arial"/>
              </a:rPr>
              <a:t> making safer decisions, and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Patients</a:t>
            </a:r>
            <a:r>
              <a:rPr lang="en-US" sz="1100">
                <a:latin typeface="Arial"/>
                <a:ea typeface="Arial"/>
                <a:cs typeface="Arial"/>
                <a:sym typeface="Arial"/>
              </a:rPr>
              <a:t>, who face fewer complications.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148" name="Google Shape;148;p4: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49" name="Google Shape;149;p4: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55" name="Google Shape;155;p5: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56" name="Google Shape;156;p5: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5: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This also leads to:</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fewer severe AKI cases,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fewer dialysis needs, and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shorter ICU stays,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Now that we’ve covered why this problem matters and the potential impact of our work, I’ll pass it on to talk about the key considerations that shaped our solution.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158" name="Google Shape;158;p5: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59" name="Google Shape;159;p5: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2" type="hdr"/>
          </p:nvPr>
        </p:nvSpPr>
        <p:spPr>
          <a:xfrm>
            <a:off x="0" y="0"/>
            <a:ext cx="4755000" cy="5487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65" name="Google Shape;165;p6:notes"/>
          <p:cNvSpPr txBox="1"/>
          <p:nvPr>
            <p:ph idx="10" type="dt"/>
          </p:nvPr>
        </p:nvSpPr>
        <p:spPr>
          <a:xfrm>
            <a:off x="6216016" y="0"/>
            <a:ext cx="4755000" cy="54870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66" name="Google Shape;166;p6:notes"/>
          <p:cNvSpPr/>
          <p:nvPr>
            <p:ph idx="3" type="sldImg"/>
          </p:nvPr>
        </p:nvSpPr>
        <p:spPr>
          <a:xfrm>
            <a:off x="3429000" y="820421"/>
            <a:ext cx="4114800" cy="4107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1097280" y="5201920"/>
            <a:ext cx="8778300" cy="4930200"/>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“In this project, we defined drug-associated AKI as events occurring within 48 hours of starting a nephrotoxic medication. We derived baseline creatinine using the lowest value in the prior 7 days and accounted for major confounders like sepsis and vasopressor use. However, we acknowledge that AKI causation is complex and not always directly attributable to the drug.</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168" name="Google Shape;168;p6:notes"/>
          <p:cNvSpPr txBox="1"/>
          <p:nvPr>
            <p:ph idx="11" type="ftr"/>
          </p:nvPr>
        </p:nvSpPr>
        <p:spPr>
          <a:xfrm>
            <a:off x="0" y="10403840"/>
            <a:ext cx="4755000" cy="5460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69" name="Google Shape;169;p6:notes"/>
          <p:cNvSpPr txBox="1"/>
          <p:nvPr>
            <p:ph idx="12" type="sldNum"/>
          </p:nvPr>
        </p:nvSpPr>
        <p:spPr>
          <a:xfrm>
            <a:off x="6216016" y="10403840"/>
            <a:ext cx="4755000" cy="546000"/>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75" name="Google Shape;175;p7: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176" name="Google Shape;176;p7: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7: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workflow includes four main steps:</a:t>
            </a:r>
            <a:br>
              <a:rPr lang="en-US" sz="1100">
                <a:latin typeface="Arial"/>
                <a:ea typeface="Arial"/>
                <a:cs typeface="Arial"/>
                <a:sym typeface="Arial"/>
              </a:rPr>
            </a:br>
            <a:r>
              <a:rPr lang="en-US" sz="1100">
                <a:latin typeface="Arial"/>
                <a:ea typeface="Arial"/>
                <a:cs typeface="Arial"/>
                <a:sym typeface="Arial"/>
              </a:rPr>
              <a:t> First, we built a fully reproducible SQL-based pipeline in BigQuery.</a:t>
            </a:r>
            <a:br>
              <a:rPr lang="en-US" sz="1100">
                <a:latin typeface="Arial"/>
                <a:ea typeface="Arial"/>
                <a:cs typeface="Arial"/>
                <a:sym typeface="Arial"/>
              </a:rPr>
            </a:br>
            <a:r>
              <a:rPr lang="en-US" sz="1100">
                <a:latin typeface="Arial"/>
                <a:ea typeface="Arial"/>
                <a:cs typeface="Arial"/>
                <a:sym typeface="Arial"/>
              </a:rPr>
              <a:t> Second, we created two supervised learning tasks — predicting AKI in 48 hours and predicting any post-drug AKI.</a:t>
            </a:r>
            <a:br>
              <a:rPr lang="en-US" sz="1100">
                <a:latin typeface="Arial"/>
                <a:ea typeface="Arial"/>
                <a:cs typeface="Arial"/>
                <a:sym typeface="Arial"/>
              </a:rPr>
            </a:br>
            <a:r>
              <a:rPr lang="en-US" sz="1100">
                <a:latin typeface="Arial"/>
                <a:ea typeface="Arial"/>
                <a:cs typeface="Arial"/>
                <a:sym typeface="Arial"/>
              </a:rPr>
              <a:t> Third, we compared baseline versus temporally enriched feature sets.</a:t>
            </a:r>
            <a:br>
              <a:rPr lang="en-US" sz="1100">
                <a:latin typeface="Arial"/>
                <a:ea typeface="Arial"/>
                <a:cs typeface="Arial"/>
                <a:sym typeface="Arial"/>
              </a:rPr>
            </a:br>
            <a:r>
              <a:rPr lang="en-US" sz="1100">
                <a:latin typeface="Arial"/>
                <a:ea typeface="Arial"/>
                <a:cs typeface="Arial"/>
                <a:sym typeface="Arial"/>
              </a:rPr>
              <a:t> And finally, we used SHAP analysis to ensure the results remain explainable to clinicians.”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178" name="Google Shape;178;p7: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179" name="Google Shape;179;p7: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00" name="Google Shape;200;p8: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01" name="Google Shape;201;p8: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8: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used MIMIC-IV v3.1 on BigQuery and limited the dataset to adult patients at their first ICU stay to avoid repeated bias. After applying all inclusion and timing rules, we ended up with a final cohort of </a:t>
            </a:r>
            <a:r>
              <a:rPr b="1" lang="en-US" sz="1100">
                <a:latin typeface="Arial"/>
                <a:ea typeface="Arial"/>
                <a:cs typeface="Arial"/>
                <a:sym typeface="Arial"/>
              </a:rPr>
              <a:t>65,000</a:t>
            </a:r>
            <a:r>
              <a:rPr lang="en-US" sz="1100">
                <a:latin typeface="Arial"/>
                <a:ea typeface="Arial"/>
                <a:cs typeface="Arial"/>
                <a:sym typeface="Arial"/>
              </a:rPr>
              <a:t> ICU stays.”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203" name="Google Shape;203;p8: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04" name="Google Shape;204;p8: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2" type="hdr"/>
          </p:nvPr>
        </p:nvSpPr>
        <p:spPr>
          <a:xfrm>
            <a:off x="0" y="0"/>
            <a:ext cx="4755000" cy="5487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17" name="Google Shape;217;p9:notes"/>
          <p:cNvSpPr txBox="1"/>
          <p:nvPr>
            <p:ph idx="10" type="dt"/>
          </p:nvPr>
        </p:nvSpPr>
        <p:spPr>
          <a:xfrm>
            <a:off x="6216016" y="0"/>
            <a:ext cx="4755000" cy="54870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18" name="Google Shape;218;p9:notes"/>
          <p:cNvSpPr/>
          <p:nvPr>
            <p:ph idx="3" type="sldImg"/>
          </p:nvPr>
        </p:nvSpPr>
        <p:spPr>
          <a:xfrm>
            <a:off x="3429000" y="820421"/>
            <a:ext cx="4114800" cy="4107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9:notes"/>
          <p:cNvSpPr txBox="1"/>
          <p:nvPr>
            <p:ph idx="1" type="body"/>
          </p:nvPr>
        </p:nvSpPr>
        <p:spPr>
          <a:xfrm>
            <a:off x="1097280" y="5201920"/>
            <a:ext cx="8778300" cy="4930200"/>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we observe expected population patterns — for example, chronic kidney disease and cardiovascular comorbidities are more common among patients who developed AKI. This reinforces that our cohort reflects real clinical risk factors.”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b="1" sz="1100">
              <a:latin typeface="Arial"/>
              <a:ea typeface="Arial"/>
              <a:cs typeface="Arial"/>
              <a:sym typeface="Arial"/>
            </a:endParaRPr>
          </a:p>
        </p:txBody>
      </p:sp>
      <p:sp>
        <p:nvSpPr>
          <p:cNvPr id="220" name="Google Shape;220;p9:notes"/>
          <p:cNvSpPr txBox="1"/>
          <p:nvPr>
            <p:ph idx="11" type="ftr"/>
          </p:nvPr>
        </p:nvSpPr>
        <p:spPr>
          <a:xfrm>
            <a:off x="0" y="10403840"/>
            <a:ext cx="4755000" cy="5460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21" name="Google Shape;221;p9:notes"/>
          <p:cNvSpPr txBox="1"/>
          <p:nvPr>
            <p:ph idx="12" type="sldNum"/>
          </p:nvPr>
        </p:nvSpPr>
        <p:spPr>
          <a:xfrm>
            <a:off x="6216016" y="10403840"/>
            <a:ext cx="4755000" cy="546000"/>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27" name="Google Shape;227;p10: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28" name="Google Shape;228;p10: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“We implemented the full KDIGO 2012 definition of AKI using both creatinine and urine output trends, which allowed us to detect AKI earlier and more accurately than studies that depend on creatinine alone.</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Now we’ll move on to how we modeled drug exposures and engineered features for prediction..”</a:t>
            </a:r>
            <a:endParaRPr sz="1100">
              <a:latin typeface="Arial"/>
              <a:ea typeface="Arial"/>
              <a:cs typeface="Arial"/>
              <a:sym typeface="Arial"/>
            </a:endParaRPr>
          </a:p>
        </p:txBody>
      </p:sp>
      <p:sp>
        <p:nvSpPr>
          <p:cNvPr id="230" name="Google Shape;230;p10: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31" name="Google Shape;231;p10: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47" name="Google Shape;247;p11: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48" name="Google Shape;248;p11: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Clr>
                <a:schemeClr val="dk1"/>
              </a:buClr>
              <a:buSzPts val="1100"/>
              <a:buFont typeface="Arial"/>
              <a:buNone/>
            </a:pPr>
            <a:r>
              <a:rPr b="1" lang="en-US" sz="1100">
                <a:latin typeface="Arial"/>
                <a:ea typeface="Arial"/>
                <a:cs typeface="Arial"/>
                <a:sym typeface="Arial"/>
              </a:rPr>
              <a:t>Slide 11 — Nephrotoxic Drug Exposures</a:t>
            </a:r>
            <a:br>
              <a:rPr b="1" lang="en-US" sz="1100">
                <a:latin typeface="Arial"/>
                <a:ea typeface="Arial"/>
                <a:cs typeface="Arial"/>
                <a:sym typeface="Arial"/>
              </a:rPr>
            </a:br>
            <a:r>
              <a:rPr lang="en-US" sz="1100">
                <a:latin typeface="Arial"/>
                <a:ea typeface="Arial"/>
                <a:cs typeface="Arial"/>
                <a:sym typeface="Arial"/>
              </a:rPr>
              <a:t> “We focused on five nephrotoxic drug classes including vancomycin, loop diuretics, ACE/ARBs, NSAIDs, and aminoglycosides. These are common in critical care and carry significant AKI risk.”</a:t>
            </a:r>
            <a:endParaRPr sz="1900"/>
          </a:p>
        </p:txBody>
      </p:sp>
      <p:sp>
        <p:nvSpPr>
          <p:cNvPr id="250" name="Google Shape;250;p11: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51" name="Google Shape;251;p11: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74" name="Google Shape;274;p12: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75" name="Google Shape;275;p12: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2: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Clr>
                <a:schemeClr val="dk1"/>
              </a:buClr>
              <a:buSzPts val="1100"/>
              <a:buFont typeface="Arial"/>
              <a:buNone/>
            </a:pPr>
            <a:r>
              <a:rPr b="1" lang="en-US" sz="1100">
                <a:latin typeface="Arial"/>
                <a:ea typeface="Arial"/>
                <a:cs typeface="Arial"/>
                <a:sym typeface="Arial"/>
              </a:rPr>
              <a:t>Slide 12 — AKI Prevalence</a:t>
            </a:r>
            <a:br>
              <a:rPr b="1" lang="en-US" sz="1100">
                <a:latin typeface="Arial"/>
                <a:ea typeface="Arial"/>
                <a:cs typeface="Arial"/>
                <a:sym typeface="Arial"/>
              </a:rPr>
            </a:br>
            <a:r>
              <a:rPr lang="en-US" sz="1100">
                <a:latin typeface="Arial"/>
                <a:ea typeface="Arial"/>
                <a:cs typeface="Arial"/>
                <a:sym typeface="Arial"/>
              </a:rPr>
              <a:t> “Across all nephrotoxic exposures, around </a:t>
            </a:r>
            <a:r>
              <a:rPr b="1" lang="en-US" sz="1100">
                <a:latin typeface="Arial"/>
                <a:ea typeface="Arial"/>
                <a:cs typeface="Arial"/>
                <a:sym typeface="Arial"/>
              </a:rPr>
              <a:t>40%</a:t>
            </a:r>
            <a:r>
              <a:rPr lang="en-US" sz="1100">
                <a:latin typeface="Arial"/>
                <a:ea typeface="Arial"/>
                <a:cs typeface="Arial"/>
                <a:sym typeface="Arial"/>
              </a:rPr>
              <a:t> developed some AKI stage. Nearly </a:t>
            </a:r>
            <a:r>
              <a:rPr b="1" lang="en-US" sz="1100">
                <a:latin typeface="Arial"/>
                <a:ea typeface="Arial"/>
                <a:cs typeface="Arial"/>
                <a:sym typeface="Arial"/>
              </a:rPr>
              <a:t>16%</a:t>
            </a:r>
            <a:r>
              <a:rPr lang="en-US" sz="1100">
                <a:latin typeface="Arial"/>
                <a:ea typeface="Arial"/>
                <a:cs typeface="Arial"/>
                <a:sym typeface="Arial"/>
              </a:rPr>
              <a:t> reached Stage 2 or 3 — representing severe kidney damage.”</a:t>
            </a:r>
            <a:endParaRPr sz="1900"/>
          </a:p>
        </p:txBody>
      </p:sp>
      <p:sp>
        <p:nvSpPr>
          <p:cNvPr id="277" name="Google Shape;277;p12: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78" name="Google Shape;278;p12: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84" name="Google Shape;284;p13: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85" name="Google Shape;285;p13: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3: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13 — Confounders + Outcomes + Baseline Features</a:t>
            </a:r>
            <a:br>
              <a:rPr b="1" lang="en-US" sz="1100">
                <a:latin typeface="Arial"/>
                <a:ea typeface="Arial"/>
                <a:cs typeface="Arial"/>
                <a:sym typeface="Arial"/>
              </a:rPr>
            </a:br>
            <a:r>
              <a:rPr lang="en-US" sz="1100">
                <a:latin typeface="Arial"/>
                <a:ea typeface="Arial"/>
                <a:cs typeface="Arial"/>
                <a:sym typeface="Arial"/>
              </a:rPr>
              <a:t> “We included flags like sepsis and vasopressor use — conditions that independently raise AKI risk.</a:t>
            </a:r>
            <a:br>
              <a:rPr lang="en-US" sz="1100">
                <a:latin typeface="Arial"/>
                <a:ea typeface="Arial"/>
                <a:cs typeface="Arial"/>
                <a:sym typeface="Arial"/>
              </a:rPr>
            </a:br>
            <a:r>
              <a:rPr lang="en-US" sz="1100">
                <a:latin typeface="Arial"/>
                <a:ea typeface="Arial"/>
                <a:cs typeface="Arial"/>
                <a:sym typeface="Arial"/>
              </a:rPr>
              <a:t> Two outcomes:</a:t>
            </a:r>
            <a:br>
              <a:rPr lang="en-US" sz="1100">
                <a:latin typeface="Arial"/>
                <a:ea typeface="Arial"/>
                <a:cs typeface="Arial"/>
                <a:sym typeface="Arial"/>
              </a:rPr>
            </a:br>
            <a:r>
              <a:rPr lang="en-US" sz="1100">
                <a:latin typeface="Arial"/>
                <a:ea typeface="Arial"/>
                <a:cs typeface="Arial"/>
                <a:sym typeface="Arial"/>
              </a:rPr>
              <a:t> • 48-hour drug-associated AKI</a:t>
            </a:r>
            <a:br>
              <a:rPr lang="en-US" sz="1100">
                <a:latin typeface="Arial"/>
                <a:ea typeface="Arial"/>
                <a:cs typeface="Arial"/>
                <a:sym typeface="Arial"/>
              </a:rPr>
            </a:br>
            <a:r>
              <a:rPr lang="en-US" sz="1100">
                <a:latin typeface="Arial"/>
                <a:ea typeface="Arial"/>
                <a:cs typeface="Arial"/>
                <a:sym typeface="Arial"/>
              </a:rPr>
              <a:t> • Any post-drug AKI during ICU stay”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48-hour drug-associated AKI:</a:t>
            </a:r>
            <a:r>
              <a:rPr lang="en-US" sz="1100">
                <a:latin typeface="Arial"/>
                <a:ea typeface="Arial"/>
                <a:cs typeface="Arial"/>
                <a:sym typeface="Arial"/>
              </a:rPr>
              <a:t> Kidney injury that occurs within 48 hours after a nephrotoxic drug is given — likely linked to the medication.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b="1" lang="en-US" sz="1100">
                <a:latin typeface="Arial"/>
                <a:ea typeface="Arial"/>
                <a:cs typeface="Arial"/>
                <a:sym typeface="Arial"/>
              </a:rPr>
              <a:t>Any post-drug AKI:</a:t>
            </a:r>
            <a:r>
              <a:rPr lang="en-US" sz="1100">
                <a:latin typeface="Arial"/>
                <a:ea typeface="Arial"/>
                <a:cs typeface="Arial"/>
                <a:sym typeface="Arial"/>
              </a:rPr>
              <a:t> Kidney injury that happens </a:t>
            </a:r>
            <a:r>
              <a:rPr i="1" lang="en-US" sz="1100">
                <a:latin typeface="Arial"/>
                <a:ea typeface="Arial"/>
                <a:cs typeface="Arial"/>
                <a:sym typeface="Arial"/>
              </a:rPr>
              <a:t>any time</a:t>
            </a:r>
            <a:r>
              <a:rPr lang="en-US" sz="1100">
                <a:latin typeface="Arial"/>
                <a:ea typeface="Arial"/>
                <a:cs typeface="Arial"/>
                <a:sym typeface="Arial"/>
              </a:rPr>
              <a:t> after the drug is administered during the ICU stay, regardless of timing.</a:t>
            </a:r>
            <a:endParaRPr sz="1100">
              <a:latin typeface="Arial"/>
              <a:ea typeface="Arial"/>
              <a:cs typeface="Arial"/>
              <a:sym typeface="Arial"/>
            </a:endParaRPr>
          </a:p>
        </p:txBody>
      </p:sp>
      <p:sp>
        <p:nvSpPr>
          <p:cNvPr id="287" name="Google Shape;287;p13: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88" name="Google Shape;288;p13: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296" name="Google Shape;296;p14: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297" name="Google Shape;297;p14: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4: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14 — Feature Engineering</a:t>
            </a:r>
            <a:br>
              <a:rPr b="1" lang="en-US" sz="1100">
                <a:latin typeface="Arial"/>
                <a:ea typeface="Arial"/>
                <a:cs typeface="Arial"/>
                <a:sym typeface="Arial"/>
              </a:rPr>
            </a:br>
            <a:r>
              <a:rPr lang="en-US" sz="1100">
                <a:latin typeface="Arial"/>
                <a:ea typeface="Arial"/>
                <a:cs typeface="Arial"/>
                <a:sym typeface="Arial"/>
              </a:rPr>
              <a:t> “We compared:</a:t>
            </a:r>
            <a:br>
              <a:rPr lang="en-US" sz="1100">
                <a:latin typeface="Arial"/>
                <a:ea typeface="Arial"/>
                <a:cs typeface="Arial"/>
                <a:sym typeface="Arial"/>
              </a:rPr>
            </a:br>
            <a:r>
              <a:rPr lang="en-US" sz="1100">
                <a:latin typeface="Arial"/>
                <a:ea typeface="Arial"/>
                <a:cs typeface="Arial"/>
                <a:sym typeface="Arial"/>
              </a:rPr>
              <a:t> • Simple baseline clinical features vs.</a:t>
            </a:r>
            <a:br>
              <a:rPr lang="en-US" sz="1100">
                <a:latin typeface="Arial"/>
                <a:ea typeface="Arial"/>
                <a:cs typeface="Arial"/>
                <a:sym typeface="Arial"/>
              </a:rPr>
            </a:br>
            <a:r>
              <a:rPr lang="en-US" sz="1100">
                <a:latin typeface="Arial"/>
                <a:ea typeface="Arial"/>
                <a:cs typeface="Arial"/>
                <a:sym typeface="Arial"/>
              </a:rPr>
              <a:t> • Temporally enriched features capturing </a:t>
            </a:r>
            <a:r>
              <a:rPr b="1" lang="en-US" sz="1100">
                <a:latin typeface="Arial"/>
                <a:ea typeface="Arial"/>
                <a:cs typeface="Arial"/>
                <a:sym typeface="Arial"/>
              </a:rPr>
              <a:t>trends</a:t>
            </a:r>
            <a:r>
              <a:rPr lang="en-US" sz="1100">
                <a:latin typeface="Arial"/>
                <a:ea typeface="Arial"/>
                <a:cs typeface="Arial"/>
                <a:sym typeface="Arial"/>
              </a:rPr>
              <a:t>, </a:t>
            </a:r>
            <a:r>
              <a:rPr b="1" lang="en-US" sz="1100">
                <a:latin typeface="Arial"/>
                <a:ea typeface="Arial"/>
                <a:cs typeface="Arial"/>
                <a:sym typeface="Arial"/>
              </a:rPr>
              <a:t>drug timing</a:t>
            </a:r>
            <a:r>
              <a:rPr lang="en-US" sz="1100">
                <a:latin typeface="Arial"/>
                <a:ea typeface="Arial"/>
                <a:cs typeface="Arial"/>
                <a:sym typeface="Arial"/>
              </a:rPr>
              <a:t>, and </a:t>
            </a:r>
            <a:r>
              <a:rPr b="1" lang="en-US" sz="1100">
                <a:latin typeface="Arial"/>
                <a:ea typeface="Arial"/>
                <a:cs typeface="Arial"/>
                <a:sym typeface="Arial"/>
              </a:rPr>
              <a:t>severity</a:t>
            </a:r>
            <a:br>
              <a:rPr b="1" lang="en-US" sz="1100">
                <a:latin typeface="Arial"/>
                <a:ea typeface="Arial"/>
                <a:cs typeface="Arial"/>
                <a:sym typeface="Arial"/>
              </a:rPr>
            </a:br>
            <a:r>
              <a:rPr lang="en-US" sz="1100">
                <a:latin typeface="Arial"/>
                <a:ea typeface="Arial"/>
                <a:cs typeface="Arial"/>
                <a:sym typeface="Arial"/>
              </a:rPr>
              <a:t> This allowed our models to better recognize clinical deterioration before AKI happens.”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 </a:t>
            </a:r>
            <a:r>
              <a:rPr i="1" lang="en-US" sz="1100">
                <a:latin typeface="Arial"/>
                <a:ea typeface="Arial"/>
                <a:cs typeface="Arial"/>
                <a:sym typeface="Arial"/>
              </a:rPr>
              <a:t>Transition:</a:t>
            </a:r>
            <a:r>
              <a:rPr lang="en-US" sz="1100">
                <a:latin typeface="Arial"/>
                <a:ea typeface="Arial"/>
                <a:cs typeface="Arial"/>
                <a:sym typeface="Arial"/>
              </a:rPr>
              <a:t> “Now I’ll hand it over to explain how we modeled and evaluated risk.”</a:t>
            </a:r>
            <a:endParaRPr sz="1900"/>
          </a:p>
        </p:txBody>
      </p:sp>
      <p:sp>
        <p:nvSpPr>
          <p:cNvPr id="299" name="Google Shape;299;p14: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00" name="Google Shape;300;p14: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5: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12" name="Google Shape;312;p15: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313" name="Google Shape;313;p15: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5: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how we trained our enriched CatBoost models for AKI prediction.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Next, we hyperparameterized - tuned Catboost model. For thresholding, instead of relying on the default 0.5, we swept thresholds from 0.05 to 0.50 to find the F1-maximizing point—important when positive cases are so rare. Finally, we used SHAP to interpret the contribution of every feature and to confirm the model aligns with clinical intuition.”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b="1" sz="1100">
              <a:latin typeface="Arial"/>
              <a:ea typeface="Arial"/>
              <a:cs typeface="Arial"/>
              <a:sym typeface="Arial"/>
            </a:endParaRPr>
          </a:p>
        </p:txBody>
      </p:sp>
      <p:sp>
        <p:nvSpPr>
          <p:cNvPr id="315" name="Google Shape;315;p15: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16" name="Google Shape;316;p15: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46" name="Google Shape;346;p16: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347" name="Google Shape;347;p16: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6: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“Here we compare the enriched 48-hour AKI model against the enriched any-post-drug AKI model. Both models achieve strong ROC-AUC—around 0.85 to 0.86—meaning they separate cases from non-cases very well. But the Post-drug AKI model consistently outperforms the 48-hour model on PR-AUC, F1, precision, and recall. This suggests that the enriched feature set is particularly powerful when predicting AKI risk over the entire drug exposure window, not just 48 hours</a:t>
            </a:r>
            <a:endParaRPr sz="1100">
              <a:latin typeface="Arial"/>
              <a:ea typeface="Arial"/>
              <a:cs typeface="Arial"/>
              <a:sym typeface="Arial"/>
            </a:endParaRPr>
          </a:p>
        </p:txBody>
      </p:sp>
      <p:sp>
        <p:nvSpPr>
          <p:cNvPr id="349" name="Google Shape;349;p16: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50" name="Google Shape;350;p16: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57" name="Google Shape;357;p17: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358" name="Google Shape;358;p17: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7: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ROC curves reinforce that both models have strong discriminative ability. The area under the curve is 0.846 for 48-hour AKI and 0.863 for any post-drug AKI. The post-drug model performs slightly better, likely because it has more positive examples and a broader time window to detect meaningful signal.”</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b="1" sz="1100">
              <a:latin typeface="Arial"/>
              <a:ea typeface="Arial"/>
              <a:cs typeface="Arial"/>
              <a:sym typeface="Arial"/>
            </a:endParaRPr>
          </a:p>
        </p:txBody>
      </p:sp>
      <p:sp>
        <p:nvSpPr>
          <p:cNvPr id="360" name="Google Shape;360;p17: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61" name="Google Shape;361;p17: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“This slide shows how precision, recall, and F1 behave as we vary the decision threshold. Across both models, recall stays very high at lower thresholds but decreases as we move toward 0.5. The best F1 for both models occurs around a threshold of 0.54, balancing precision and recall. This is critical for clinical deployment—hospitals may prioritize higher recall to avoid missing AKI cases, even at the cost of some false positives.”</a:t>
            </a:r>
            <a:endParaRPr sz="1100">
              <a:latin typeface="Arial"/>
              <a:ea typeface="Arial"/>
              <a:cs typeface="Arial"/>
              <a:sym typeface="Arial"/>
            </a:endParaRPr>
          </a:p>
        </p:txBody>
      </p:sp>
      <p:sp>
        <p:nvSpPr>
          <p:cNvPr id="367" name="Google Shape;367;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9: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73" name="Google Shape;373;p19: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374" name="Google Shape;374;p19: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9: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“SHAP lets us open the black box and see what features drive AKI predictions. Across both models, the top predictors are clinically intuitive: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Vancomycin exposure — the strongest contributor; SHAP shows AKI risk sharply increases when patients receive vancomycin.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SAPS II severity score — powerful signal of physiologic instability; sicker patients are much more vulnerable.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Loop diuretic exposure — more diuretic orders correlate with fluid depletion and hemodynamic stress, both risk factors for AKI.</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Baseline serum creatinine — higher baseline SCr reflects reduced kidney reserve, consistently increasing predicted risk.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findings match well-known nephrology patterns and validate that the model is learning meaningful clinical relationships.”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Transition: Now that we’ve seen what the model learns and how well it performs, we’ll discuss how this can be applied in real clinical workflows and where future improvements are needed.</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76" name="Google Shape;376;p19: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77" name="Google Shape;377;p19: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0: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95" name="Google Shape;395;p20: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396" name="Google Shape;396;p20: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20: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20 — Why Temporal Enrichment Matters</a:t>
            </a:r>
            <a:br>
              <a:rPr b="1" lang="en-US" sz="1100">
                <a:latin typeface="Arial"/>
                <a:ea typeface="Arial"/>
                <a:cs typeface="Arial"/>
                <a:sym typeface="Arial"/>
              </a:rPr>
            </a:br>
            <a:r>
              <a:rPr lang="en-US" sz="1100">
                <a:latin typeface="Arial"/>
                <a:ea typeface="Arial"/>
                <a:cs typeface="Arial"/>
                <a:sym typeface="Arial"/>
              </a:rPr>
              <a:t>One of our main findings is that </a:t>
            </a:r>
            <a:r>
              <a:rPr b="1" lang="en-US" sz="1100">
                <a:latin typeface="Arial"/>
                <a:ea typeface="Arial"/>
                <a:cs typeface="Arial"/>
                <a:sym typeface="Arial"/>
              </a:rPr>
              <a:t>temporal enrichment is essential</a:t>
            </a:r>
            <a:r>
              <a:rPr lang="en-US" sz="1100">
                <a:latin typeface="Arial"/>
                <a:ea typeface="Arial"/>
                <a:cs typeface="Arial"/>
                <a:sym typeface="Arial"/>
              </a:rPr>
              <a:t>. Single snapshots can’t show how a patient is changing, but trends in serum creatinine, urine output, severity scores, and drug burden reveal early signs of deterioration. These temporal signals give a much more realistic, real-time view of AKI risk and allow for earlier detection.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398" name="Google Shape;398;p20: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399" name="Google Shape;399;p20: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1: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42" name="Google Shape;442;p21: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443" name="Google Shape;443;p21: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1: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21 — Clinical Workflow</a:t>
            </a:r>
            <a:br>
              <a:rPr b="1" lang="en-US" sz="1100">
                <a:latin typeface="Arial"/>
                <a:ea typeface="Arial"/>
                <a:cs typeface="Arial"/>
                <a:sym typeface="Arial"/>
              </a:rPr>
            </a:br>
            <a:r>
              <a:rPr lang="en-US" sz="1100">
                <a:latin typeface="Arial"/>
                <a:ea typeface="Arial"/>
                <a:cs typeface="Arial"/>
                <a:sym typeface="Arial"/>
              </a:rPr>
              <a:t> “Our recommended workflow:</a:t>
            </a:r>
            <a:br>
              <a:rPr lang="en-US" sz="1100">
                <a:latin typeface="Arial"/>
                <a:ea typeface="Arial"/>
                <a:cs typeface="Arial"/>
                <a:sym typeface="Arial"/>
              </a:rPr>
            </a:br>
            <a:r>
              <a:rPr lang="en-US" sz="1100">
                <a:latin typeface="Arial"/>
                <a:ea typeface="Arial"/>
                <a:cs typeface="Arial"/>
                <a:sym typeface="Arial"/>
              </a:rPr>
              <a:t> 1️⃣ Daily risk scoring</a:t>
            </a:r>
            <a:br>
              <a:rPr lang="en-US" sz="1100">
                <a:latin typeface="Arial"/>
                <a:ea typeface="Arial"/>
                <a:cs typeface="Arial"/>
                <a:sym typeface="Arial"/>
              </a:rPr>
            </a:br>
            <a:r>
              <a:rPr lang="en-US" sz="1100">
                <a:latin typeface="Arial"/>
                <a:ea typeface="Arial"/>
                <a:cs typeface="Arial"/>
                <a:sym typeface="Arial"/>
              </a:rPr>
              <a:t> 2️⃣ High-risk flags</a:t>
            </a:r>
            <a:br>
              <a:rPr lang="en-US" sz="1100">
                <a:latin typeface="Arial"/>
                <a:ea typeface="Arial"/>
                <a:cs typeface="Arial"/>
                <a:sym typeface="Arial"/>
              </a:rPr>
            </a:br>
            <a:r>
              <a:rPr lang="en-US" sz="1100">
                <a:latin typeface="Arial"/>
                <a:ea typeface="Arial"/>
                <a:cs typeface="Arial"/>
                <a:sym typeface="Arial"/>
              </a:rPr>
              <a:t> 3️⃣ Pharmacist/nephrologist review</a:t>
            </a:r>
            <a:br>
              <a:rPr lang="en-US" sz="1100">
                <a:latin typeface="Arial"/>
                <a:ea typeface="Arial"/>
                <a:cs typeface="Arial"/>
                <a:sym typeface="Arial"/>
              </a:rPr>
            </a:br>
            <a:r>
              <a:rPr lang="en-US" sz="1100">
                <a:latin typeface="Arial"/>
                <a:ea typeface="Arial"/>
                <a:cs typeface="Arial"/>
                <a:sym typeface="Arial"/>
              </a:rPr>
              <a:t> 4️⃣ Closer monitoring or drug adjustments</a:t>
            </a:r>
            <a:br>
              <a:rPr lang="en-US" sz="1100">
                <a:latin typeface="Arial"/>
                <a:ea typeface="Arial"/>
                <a:cs typeface="Arial"/>
                <a:sym typeface="Arial"/>
              </a:rPr>
            </a:br>
            <a:r>
              <a:rPr lang="en-US" sz="1100">
                <a:latin typeface="Arial"/>
                <a:ea typeface="Arial"/>
                <a:cs typeface="Arial"/>
                <a:sym typeface="Arial"/>
              </a:rPr>
              <a:t> This can fit directly into ICU stewardship programs.”To put this into practice, we propose a straightforward clinical workflow: generate </a:t>
            </a:r>
            <a:r>
              <a:rPr b="1" lang="en-US" sz="1100">
                <a:latin typeface="Arial"/>
                <a:ea typeface="Arial"/>
                <a:cs typeface="Arial"/>
                <a:sym typeface="Arial"/>
              </a:rPr>
              <a:t>daily risk scores</a:t>
            </a:r>
            <a:r>
              <a:rPr lang="en-US" sz="1100">
                <a:latin typeface="Arial"/>
                <a:ea typeface="Arial"/>
                <a:cs typeface="Arial"/>
                <a:sym typeface="Arial"/>
              </a:rPr>
              <a:t>, trigger </a:t>
            </a:r>
            <a:r>
              <a:rPr b="1" lang="en-US" sz="1100">
                <a:latin typeface="Arial"/>
                <a:ea typeface="Arial"/>
                <a:cs typeface="Arial"/>
                <a:sym typeface="Arial"/>
              </a:rPr>
              <a:t>high-risk flags</a:t>
            </a:r>
            <a:r>
              <a:rPr lang="en-US" sz="1100">
                <a:latin typeface="Arial"/>
                <a:ea typeface="Arial"/>
                <a:cs typeface="Arial"/>
                <a:sym typeface="Arial"/>
              </a:rPr>
              <a:t> when thresholds are exceeded, and have a </a:t>
            </a:r>
            <a:r>
              <a:rPr b="1" lang="en-US" sz="1100">
                <a:latin typeface="Arial"/>
                <a:ea typeface="Arial"/>
                <a:cs typeface="Arial"/>
                <a:sym typeface="Arial"/>
              </a:rPr>
              <a:t>pharmacist or nephrologist review</a:t>
            </a:r>
            <a:r>
              <a:rPr lang="en-US" sz="1100">
                <a:latin typeface="Arial"/>
                <a:ea typeface="Arial"/>
                <a:cs typeface="Arial"/>
                <a:sym typeface="Arial"/>
              </a:rPr>
              <a:t> those cases to adjust medications or monitoring as needed. This integrates smoothly into existing ICU stewardship programs.</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445" name="Google Shape;445;p21: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46" name="Google Shape;446;p21: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2: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73" name="Google Shape;473;p22: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474" name="Google Shape;474;p22: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2: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Clr>
                <a:schemeClr val="dk1"/>
              </a:buClr>
              <a:buSzPts val="1100"/>
              <a:buFont typeface="Arial"/>
              <a:buNone/>
            </a:pPr>
            <a:r>
              <a:rPr b="1" lang="en-US" sz="1100">
                <a:latin typeface="Arial"/>
                <a:ea typeface="Arial"/>
                <a:cs typeface="Arial"/>
                <a:sym typeface="Arial"/>
              </a:rPr>
              <a:t>Slide 22 — Limitations &amp; Future Work</a:t>
            </a:r>
            <a:br>
              <a:rPr b="1" lang="en-US" sz="1100">
                <a:latin typeface="Arial"/>
                <a:ea typeface="Arial"/>
                <a:cs typeface="Arial"/>
                <a:sym typeface="Arial"/>
              </a:rPr>
            </a:br>
            <a:r>
              <a:rPr lang="en-US" sz="1100">
                <a:latin typeface="Arial"/>
                <a:ea typeface="Arial"/>
                <a:cs typeface="Arial"/>
                <a:sym typeface="Arial"/>
              </a:rPr>
              <a:t> “We need external validation beyond MIMIC-IV. Causality is still uncertain — AKI could be from illness, not drug. Improving precision and real-world testing are key next steps.”We also recognize limitations: we need </a:t>
            </a:r>
            <a:r>
              <a:rPr b="1" lang="en-US" sz="1100">
                <a:latin typeface="Arial"/>
                <a:ea typeface="Arial"/>
                <a:cs typeface="Arial"/>
                <a:sym typeface="Arial"/>
              </a:rPr>
              <a:t>external validation</a:t>
            </a:r>
            <a:r>
              <a:rPr lang="en-US" sz="1100">
                <a:latin typeface="Arial"/>
                <a:ea typeface="Arial"/>
                <a:cs typeface="Arial"/>
                <a:sym typeface="Arial"/>
              </a:rPr>
              <a:t> beyond MIMIC-IV, and AKI risk may reflect underlying illness rather than drug exposure. Improving precision and testing the model in real clinical settings are important next steps.</a:t>
            </a:r>
            <a:endParaRPr sz="1900"/>
          </a:p>
        </p:txBody>
      </p:sp>
      <p:sp>
        <p:nvSpPr>
          <p:cNvPr id="476" name="Google Shape;476;p22: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77" name="Google Shape;477;p22: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3:notes"/>
          <p:cNvSpPr txBox="1"/>
          <p:nvPr>
            <p:ph idx="2" type="hdr"/>
          </p:nvPr>
        </p:nvSpPr>
        <p:spPr>
          <a:xfrm>
            <a:off x="0" y="0"/>
            <a:ext cx="4754880" cy="54864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91" name="Google Shape;491;p23:notes"/>
          <p:cNvSpPr txBox="1"/>
          <p:nvPr>
            <p:ph idx="10" type="dt"/>
          </p:nvPr>
        </p:nvSpPr>
        <p:spPr>
          <a:xfrm>
            <a:off x="6216016" y="0"/>
            <a:ext cx="4754880" cy="54864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492" name="Google Shape;492;p23:notes"/>
          <p:cNvSpPr/>
          <p:nvPr>
            <p:ph idx="3" type="sldImg"/>
          </p:nvPr>
        </p:nvSpPr>
        <p:spPr>
          <a:xfrm>
            <a:off x="3429000" y="820421"/>
            <a:ext cx="4114800" cy="410717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23:notes"/>
          <p:cNvSpPr txBox="1"/>
          <p:nvPr>
            <p:ph idx="1" type="body"/>
          </p:nvPr>
        </p:nvSpPr>
        <p:spPr>
          <a:xfrm>
            <a:off x="1097280" y="5201920"/>
            <a:ext cx="8778240" cy="4930141"/>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23 — Conclusion</a:t>
            </a:r>
            <a:br>
              <a:rPr b="1" lang="en-US" sz="1100">
                <a:latin typeface="Arial"/>
                <a:ea typeface="Arial"/>
                <a:cs typeface="Arial"/>
                <a:sym typeface="Arial"/>
              </a:rPr>
            </a:br>
            <a:r>
              <a:rPr lang="en-US" sz="1100">
                <a:latin typeface="Arial"/>
                <a:ea typeface="Arial"/>
                <a:cs typeface="Arial"/>
                <a:sym typeface="Arial"/>
              </a:rPr>
              <a:t> “We successfully built a fully reproducible KDIGO pipeline and predictive model. Temporal features were crucial, and our system can support clinicians in preventing avoidable kidney injury.” In summary, we created a fully reproducible KDIGO pipeline and predictive model where </a:t>
            </a:r>
            <a:r>
              <a:rPr b="1" lang="en-US" sz="1100">
                <a:latin typeface="Arial"/>
                <a:ea typeface="Arial"/>
                <a:cs typeface="Arial"/>
                <a:sym typeface="Arial"/>
              </a:rPr>
              <a:t>temporal features played a crucial role</a:t>
            </a:r>
            <a:r>
              <a:rPr lang="en-US" sz="1100">
                <a:latin typeface="Arial"/>
                <a:ea typeface="Arial"/>
                <a:cs typeface="Arial"/>
                <a:sym typeface="Arial"/>
              </a:rPr>
              <a:t>, and the system shows strong potential to help clinicians prevent avoidable kidney injury.</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494" name="Google Shape;494;p23:notes"/>
          <p:cNvSpPr txBox="1"/>
          <p:nvPr>
            <p:ph idx="11" type="ftr"/>
          </p:nvPr>
        </p:nvSpPr>
        <p:spPr>
          <a:xfrm>
            <a:off x="0" y="10403840"/>
            <a:ext cx="4754880" cy="546101"/>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495" name="Google Shape;495;p23:notes"/>
          <p:cNvSpPr txBox="1"/>
          <p:nvPr>
            <p:ph idx="12" type="sldNum"/>
          </p:nvPr>
        </p:nvSpPr>
        <p:spPr>
          <a:xfrm>
            <a:off x="6216016" y="10403840"/>
            <a:ext cx="4754880" cy="546101"/>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f20a56eb3_0_0:notes"/>
          <p:cNvSpPr txBox="1"/>
          <p:nvPr>
            <p:ph idx="2" type="hdr"/>
          </p:nvPr>
        </p:nvSpPr>
        <p:spPr>
          <a:xfrm>
            <a:off x="0" y="0"/>
            <a:ext cx="4755000" cy="5487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509" name="Google Shape;509;g3af20a56eb3_0_0:notes"/>
          <p:cNvSpPr txBox="1"/>
          <p:nvPr>
            <p:ph idx="10" type="dt"/>
          </p:nvPr>
        </p:nvSpPr>
        <p:spPr>
          <a:xfrm>
            <a:off x="6216016" y="0"/>
            <a:ext cx="4755000" cy="548700"/>
          </a:xfrm>
          <a:prstGeom prst="rect">
            <a:avLst/>
          </a:prstGeom>
          <a:noFill/>
          <a:ln>
            <a:noFill/>
          </a:ln>
        </p:spPr>
        <p:txBody>
          <a:bodyPr anchorCtr="0" anchor="t" bIns="60925" lIns="121900" spcFirstLastPara="1" rIns="121900" wrap="square" tIns="60925">
            <a:noAutofit/>
          </a:bodyPr>
          <a:lstStyle/>
          <a:p>
            <a:pPr indent="0" lvl="0" marL="0" rtl="0" algn="r">
              <a:lnSpc>
                <a:spcPct val="100000"/>
              </a:lnSpc>
              <a:spcBef>
                <a:spcPts val="0"/>
              </a:spcBef>
              <a:spcAft>
                <a:spcPts val="0"/>
              </a:spcAft>
              <a:buSzPts val="1400"/>
              <a:buNone/>
            </a:pPr>
            <a:r>
              <a:rPr b="0" i="0" lang="en-US" sz="1600" u="none" cap="none" strike="noStrike">
                <a:solidFill>
                  <a:schemeClr val="dk1"/>
                </a:solidFill>
                <a:latin typeface="Calibri"/>
                <a:ea typeface="Calibri"/>
                <a:cs typeface="Calibri"/>
                <a:sym typeface="Calibri"/>
              </a:rPr>
              <a:t>1.7.2013</a:t>
            </a:r>
            <a:endParaRPr sz="1900"/>
          </a:p>
        </p:txBody>
      </p:sp>
      <p:sp>
        <p:nvSpPr>
          <p:cNvPr id="510" name="Google Shape;510;g3af20a56eb3_0_0:notes"/>
          <p:cNvSpPr/>
          <p:nvPr>
            <p:ph idx="3" type="sldImg"/>
          </p:nvPr>
        </p:nvSpPr>
        <p:spPr>
          <a:xfrm>
            <a:off x="3429000" y="820421"/>
            <a:ext cx="4114800" cy="4107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af20a56eb3_0_0:notes"/>
          <p:cNvSpPr txBox="1"/>
          <p:nvPr>
            <p:ph idx="1" type="body"/>
          </p:nvPr>
        </p:nvSpPr>
        <p:spPr>
          <a:xfrm>
            <a:off x="1097280" y="5201920"/>
            <a:ext cx="8778300" cy="4930200"/>
          </a:xfrm>
          <a:prstGeom prst="rect">
            <a:avLst/>
          </a:prstGeom>
          <a:noFill/>
          <a:ln>
            <a:noFill/>
          </a:ln>
        </p:spPr>
        <p:txBody>
          <a:bodyPr anchorCtr="0" anchor="t" bIns="60925" lIns="121900" spcFirstLastPara="1" rIns="121900" wrap="square" tIns="60925">
            <a:noAutofit/>
          </a:bodyPr>
          <a:lstStyle/>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512" name="Google Shape;512;g3af20a56eb3_0_0:notes"/>
          <p:cNvSpPr txBox="1"/>
          <p:nvPr>
            <p:ph idx="11" type="ftr"/>
          </p:nvPr>
        </p:nvSpPr>
        <p:spPr>
          <a:xfrm>
            <a:off x="0" y="10403840"/>
            <a:ext cx="4755000" cy="5460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400"/>
              <a:buNone/>
            </a:pPr>
            <a:r>
              <a:t/>
            </a:r>
            <a:endParaRPr sz="1600"/>
          </a:p>
        </p:txBody>
      </p:sp>
      <p:sp>
        <p:nvSpPr>
          <p:cNvPr id="513" name="Google Shape;513;g3af20a56eb3_0_0:notes"/>
          <p:cNvSpPr txBox="1"/>
          <p:nvPr>
            <p:ph idx="12" type="sldNum"/>
          </p:nvPr>
        </p:nvSpPr>
        <p:spPr>
          <a:xfrm>
            <a:off x="6216016" y="10403840"/>
            <a:ext cx="4755000" cy="546000"/>
          </a:xfrm>
          <a:prstGeom prst="rect">
            <a:avLst/>
          </a:prstGeom>
          <a:noFill/>
          <a:ln>
            <a:noFill/>
          </a:ln>
        </p:spPr>
        <p:txBody>
          <a:bodyPr anchorCtr="0" anchor="b" bIns="60925" lIns="121900" spcFirstLastPara="1" rIns="121900" wrap="square" tIns="60925">
            <a:noAutofit/>
          </a:bodyPr>
          <a:lstStyle/>
          <a:p>
            <a:pPr indent="0" lvl="0" marL="0" rtl="0" algn="r">
              <a:lnSpc>
                <a:spcPct val="100000"/>
              </a:lnSpc>
              <a:spcBef>
                <a:spcPts val="0"/>
              </a:spcBef>
              <a:spcAft>
                <a:spcPts val="0"/>
              </a:spcAft>
              <a:buSzPts val="1600"/>
              <a:buNone/>
            </a:pPr>
            <a:r>
              <a:rPr b="0" i="0" lang="en-US" sz="1600" u="none" cap="none" strike="noStrike">
                <a:solidFill>
                  <a:schemeClr val="dk1"/>
                </a:solidFill>
                <a:latin typeface="Calibri"/>
                <a:ea typeface="Calibri"/>
                <a:cs typeface="Calibri"/>
                <a:sym typeface="Calibri"/>
              </a:rPr>
              <a:t>‹#›</a:t>
            </a:r>
            <a:endParaRPr sz="1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2"/>
          <p:cNvSpPr txBox="1"/>
          <p:nvPr>
            <p:ph idx="10" type="dt"/>
          </p:nvPr>
        </p:nvSpPr>
        <p:spPr>
          <a:xfrm>
            <a:off x="365760" y="5085080"/>
            <a:ext cx="1706880" cy="292100"/>
          </a:xfrm>
          <a:prstGeom prst="rect">
            <a:avLst/>
          </a:prstGeom>
          <a:noFill/>
          <a:ln>
            <a:noFill/>
          </a:ln>
        </p:spPr>
        <p:txBody>
          <a:bodyPr anchorCtr="0" anchor="ctr" bIns="36550" lIns="73150" spcFirstLastPara="1" rIns="73150" wrap="square" tIns="36550">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p2"/>
          <p:cNvSpPr txBox="1"/>
          <p:nvPr>
            <p:ph idx="11" type="ftr"/>
          </p:nvPr>
        </p:nvSpPr>
        <p:spPr>
          <a:xfrm>
            <a:off x="2499360" y="5085080"/>
            <a:ext cx="2316480" cy="292100"/>
          </a:xfrm>
          <a:prstGeom prst="rect">
            <a:avLst/>
          </a:prstGeom>
          <a:noFill/>
          <a:ln>
            <a:noFill/>
          </a:ln>
        </p:spPr>
        <p:txBody>
          <a:bodyPr anchorCtr="0" anchor="ctr" bIns="36550" lIns="73150" spcFirstLastPara="1" rIns="73150" wrap="square" tIns="36550">
            <a:noAutofit/>
          </a:bodyPr>
          <a:lstStyle>
            <a:lvl1pPr lvl="0"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
          <p:cNvSpPr txBox="1"/>
          <p:nvPr>
            <p:ph idx="12" type="sldNum"/>
          </p:nvPr>
        </p:nvSpPr>
        <p:spPr>
          <a:xfrm>
            <a:off x="5242560" y="5085080"/>
            <a:ext cx="1706880" cy="292100"/>
          </a:xfrm>
          <a:prstGeom prst="rect">
            <a:avLst/>
          </a:prstGeom>
          <a:noFill/>
          <a:ln>
            <a:noFill/>
          </a:ln>
        </p:spPr>
        <p:txBody>
          <a:bodyPr anchorCtr="0" anchor="ctr" bIns="36550" lIns="73150" spcFirstLastPara="1" rIns="73150" wrap="square" tIns="3655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7" name="Shape 17"/>
        <p:cNvGrpSpPr/>
        <p:nvPr/>
      </p:nvGrpSpPr>
      <p:grpSpPr>
        <a:xfrm>
          <a:off x="0" y="0"/>
          <a:ext cx="0" cy="0"/>
          <a:chOff x="0" y="0"/>
          <a:chExt cx="0" cy="0"/>
        </a:xfrm>
      </p:grpSpPr>
      <p:sp>
        <p:nvSpPr>
          <p:cNvPr id="18" name="Google Shape;18;p4"/>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20" name="Shape 20"/>
        <p:cNvGrpSpPr/>
        <p:nvPr/>
      </p:nvGrpSpPr>
      <p:grpSpPr>
        <a:xfrm>
          <a:off x="0" y="0"/>
          <a:ext cx="0" cy="0"/>
          <a:chOff x="0" y="0"/>
          <a:chExt cx="0" cy="0"/>
        </a:xfrm>
      </p:grpSpPr>
      <p:sp>
        <p:nvSpPr>
          <p:cNvPr id="21" name="Google Shape;21;p5"/>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3" name="Shape 23"/>
        <p:cNvGrpSpPr/>
        <p:nvPr/>
      </p:nvGrpSpPr>
      <p:grpSpPr>
        <a:xfrm>
          <a:off x="0" y="0"/>
          <a:ext cx="0" cy="0"/>
          <a:chOff x="0" y="0"/>
          <a:chExt cx="0" cy="0"/>
        </a:xfrm>
      </p:grpSpPr>
      <p:sp>
        <p:nvSpPr>
          <p:cNvPr id="24" name="Google Shape;24;p6"/>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6"/>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7"/>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7"/>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9" name="Shape 29"/>
        <p:cNvGrpSpPr/>
        <p:nvPr/>
      </p:nvGrpSpPr>
      <p:grpSpPr>
        <a:xfrm>
          <a:off x="0" y="0"/>
          <a:ext cx="0" cy="0"/>
          <a:chOff x="0" y="0"/>
          <a:chExt cx="0" cy="0"/>
        </a:xfrm>
      </p:grpSpPr>
      <p:sp>
        <p:nvSpPr>
          <p:cNvPr id="30" name="Google Shape;30;p8"/>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8"/>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2" name="Shape 32"/>
        <p:cNvGrpSpPr/>
        <p:nvPr/>
      </p:nvGrpSpPr>
      <p:grpSpPr>
        <a:xfrm>
          <a:off x="0" y="0"/>
          <a:ext cx="0" cy="0"/>
          <a:chOff x="0" y="0"/>
          <a:chExt cx="0" cy="0"/>
        </a:xfrm>
      </p:grpSpPr>
      <p:sp>
        <p:nvSpPr>
          <p:cNvPr id="33" name="Google Shape;33;p9"/>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5" name="Shape 35"/>
        <p:cNvGrpSpPr/>
        <p:nvPr/>
      </p:nvGrpSpPr>
      <p:grpSpPr>
        <a:xfrm>
          <a:off x="0" y="0"/>
          <a:ext cx="0" cy="0"/>
          <a:chOff x="0" y="0"/>
          <a:chExt cx="0" cy="0"/>
        </a:xfrm>
      </p:grpSpPr>
      <p:sp>
        <p:nvSpPr>
          <p:cNvPr id="36" name="Google Shape;36;p10"/>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 name="Shape 38"/>
        <p:cNvGrpSpPr/>
        <p:nvPr/>
      </p:nvGrpSpPr>
      <p:grpSpPr>
        <a:xfrm>
          <a:off x="0" y="0"/>
          <a:ext cx="0" cy="0"/>
          <a:chOff x="0" y="0"/>
          <a:chExt cx="0" cy="0"/>
        </a:xfrm>
      </p:grpSpPr>
      <p:sp>
        <p:nvSpPr>
          <p:cNvPr id="39" name="Google Shape;39;p11"/>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1"/>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1" name="Shape 41"/>
        <p:cNvGrpSpPr/>
        <p:nvPr/>
      </p:nvGrpSpPr>
      <p:grpSpPr>
        <a:xfrm>
          <a:off x="0" y="0"/>
          <a:ext cx="0" cy="0"/>
          <a:chOff x="0" y="0"/>
          <a:chExt cx="0" cy="0"/>
        </a:xfrm>
      </p:grpSpPr>
      <p:sp>
        <p:nvSpPr>
          <p:cNvPr id="42" name="Google Shape;42;p12"/>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2"/>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4" name="Shape 44"/>
        <p:cNvGrpSpPr/>
        <p:nvPr/>
      </p:nvGrpSpPr>
      <p:grpSpPr>
        <a:xfrm>
          <a:off x="0" y="0"/>
          <a:ext cx="0" cy="0"/>
          <a:chOff x="0" y="0"/>
          <a:chExt cx="0" cy="0"/>
        </a:xfrm>
      </p:grpSpPr>
      <p:sp>
        <p:nvSpPr>
          <p:cNvPr id="45" name="Google Shape;45;p13"/>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3"/>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7" name="Shape 47"/>
        <p:cNvGrpSpPr/>
        <p:nvPr/>
      </p:nvGrpSpPr>
      <p:grpSpPr>
        <a:xfrm>
          <a:off x="0" y="0"/>
          <a:ext cx="0" cy="0"/>
          <a:chOff x="0" y="0"/>
          <a:chExt cx="0" cy="0"/>
        </a:xfrm>
      </p:grpSpPr>
      <p:sp>
        <p:nvSpPr>
          <p:cNvPr id="48" name="Google Shape;48;p14"/>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4"/>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50" name="Shape 50"/>
        <p:cNvGrpSpPr/>
        <p:nvPr/>
      </p:nvGrpSpPr>
      <p:grpSpPr>
        <a:xfrm>
          <a:off x="0" y="0"/>
          <a:ext cx="0" cy="0"/>
          <a:chOff x="0" y="0"/>
          <a:chExt cx="0" cy="0"/>
        </a:xfrm>
      </p:grpSpPr>
      <p:sp>
        <p:nvSpPr>
          <p:cNvPr id="51" name="Google Shape;51;p15"/>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5"/>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53" name="Shape 53"/>
        <p:cNvGrpSpPr/>
        <p:nvPr/>
      </p:nvGrpSpPr>
      <p:grpSpPr>
        <a:xfrm>
          <a:off x="0" y="0"/>
          <a:ext cx="0" cy="0"/>
          <a:chOff x="0" y="0"/>
          <a:chExt cx="0" cy="0"/>
        </a:xfrm>
      </p:grpSpPr>
      <p:sp>
        <p:nvSpPr>
          <p:cNvPr id="54" name="Google Shape;54;p16"/>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6"/>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6" name="Shape 56"/>
        <p:cNvGrpSpPr/>
        <p:nvPr/>
      </p:nvGrpSpPr>
      <p:grpSpPr>
        <a:xfrm>
          <a:off x="0" y="0"/>
          <a:ext cx="0" cy="0"/>
          <a:chOff x="0" y="0"/>
          <a:chExt cx="0" cy="0"/>
        </a:xfrm>
      </p:grpSpPr>
      <p:sp>
        <p:nvSpPr>
          <p:cNvPr id="57" name="Google Shape;57;p17"/>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7"/>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59" name="Shape 59"/>
        <p:cNvGrpSpPr/>
        <p:nvPr/>
      </p:nvGrpSpPr>
      <p:grpSpPr>
        <a:xfrm>
          <a:off x="0" y="0"/>
          <a:ext cx="0" cy="0"/>
          <a:chOff x="0" y="0"/>
          <a:chExt cx="0" cy="0"/>
        </a:xfrm>
      </p:grpSpPr>
      <p:sp>
        <p:nvSpPr>
          <p:cNvPr id="60" name="Google Shape;60;p18"/>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8"/>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62" name="Shape 62"/>
        <p:cNvGrpSpPr/>
        <p:nvPr/>
      </p:nvGrpSpPr>
      <p:grpSpPr>
        <a:xfrm>
          <a:off x="0" y="0"/>
          <a:ext cx="0" cy="0"/>
          <a:chOff x="0" y="0"/>
          <a:chExt cx="0" cy="0"/>
        </a:xfrm>
      </p:grpSpPr>
      <p:sp>
        <p:nvSpPr>
          <p:cNvPr id="63" name="Google Shape;63;p19"/>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9"/>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65" name="Shape 65"/>
        <p:cNvGrpSpPr/>
        <p:nvPr/>
      </p:nvGrpSpPr>
      <p:grpSpPr>
        <a:xfrm>
          <a:off x="0" y="0"/>
          <a:ext cx="0" cy="0"/>
          <a:chOff x="0" y="0"/>
          <a:chExt cx="0" cy="0"/>
        </a:xfrm>
      </p:grpSpPr>
      <p:sp>
        <p:nvSpPr>
          <p:cNvPr id="66" name="Google Shape;66;p20"/>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0"/>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68" name="Shape 68"/>
        <p:cNvGrpSpPr/>
        <p:nvPr/>
      </p:nvGrpSpPr>
      <p:grpSpPr>
        <a:xfrm>
          <a:off x="0" y="0"/>
          <a:ext cx="0" cy="0"/>
          <a:chOff x="0" y="0"/>
          <a:chExt cx="0" cy="0"/>
        </a:xfrm>
      </p:grpSpPr>
      <p:sp>
        <p:nvSpPr>
          <p:cNvPr id="69" name="Google Shape;69;p21"/>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1"/>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71" name="Shape 71"/>
        <p:cNvGrpSpPr/>
        <p:nvPr/>
      </p:nvGrpSpPr>
      <p:grpSpPr>
        <a:xfrm>
          <a:off x="0" y="0"/>
          <a:ext cx="0" cy="0"/>
          <a:chOff x="0" y="0"/>
          <a:chExt cx="0" cy="0"/>
        </a:xfrm>
      </p:grpSpPr>
      <p:sp>
        <p:nvSpPr>
          <p:cNvPr id="72" name="Google Shape;72;p22"/>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2"/>
          <p:cNvSpPr/>
          <p:nvPr/>
        </p:nvSpPr>
        <p:spPr>
          <a:xfrm>
            <a:off x="0" y="0"/>
            <a:ext cx="14630400" cy="82296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74" name="Shape 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F"/>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37.png"/><Relationship Id="rId7"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27.png"/><Relationship Id="rId6"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6.png"/><Relationship Id="rId6"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descr="preencoded.png" id="83" name="Google Shape;83;p24"/>
          <p:cNvSpPr/>
          <p:nvPr/>
        </p:nvSpPr>
        <p:spPr>
          <a:xfrm>
            <a:off x="9144000" y="0"/>
            <a:ext cx="5486400" cy="8229600"/>
          </a:xfrm>
          <a:custGeom>
            <a:rect b="b" l="l" r="r" t="t"/>
            <a:pathLst>
              <a:path extrusionOk="0" h="13716000" w="9144000">
                <a:moveTo>
                  <a:pt x="0" y="0"/>
                </a:moveTo>
                <a:lnTo>
                  <a:pt x="9144000" y="0"/>
                </a:lnTo>
                <a:lnTo>
                  <a:pt x="9144000" y="13716000"/>
                </a:lnTo>
                <a:lnTo>
                  <a:pt x="0" y="13716000"/>
                </a:lnTo>
                <a:lnTo>
                  <a:pt x="0" y="0"/>
                </a:lnTo>
                <a:close/>
              </a:path>
            </a:pathLst>
          </a:custGeom>
          <a:blipFill rotWithShape="1">
            <a:blip r:embed="rId3">
              <a:alphaModFix/>
            </a:blip>
            <a:stretch>
              <a:fillRect b="0" l="0" r="0" t="0"/>
            </a:stretch>
          </a:blipFill>
          <a:ln>
            <a:noFill/>
          </a:ln>
        </p:spPr>
      </p:sp>
      <p:sp>
        <p:nvSpPr>
          <p:cNvPr id="84" name="Google Shape;84;p24"/>
          <p:cNvSpPr txBox="1"/>
          <p:nvPr/>
        </p:nvSpPr>
        <p:spPr>
          <a:xfrm>
            <a:off x="751390" y="1903463"/>
            <a:ext cx="7556400" cy="2391900"/>
          </a:xfrm>
          <a:prstGeom prst="rect">
            <a:avLst/>
          </a:prstGeom>
          <a:noFill/>
          <a:ln>
            <a:noFill/>
          </a:ln>
        </p:spPr>
        <p:txBody>
          <a:bodyPr anchorCtr="0" anchor="t" bIns="0" lIns="0" spcFirstLastPara="1" rIns="0" wrap="square" tIns="0">
            <a:spAutoFit/>
          </a:bodyPr>
          <a:lstStyle/>
          <a:p>
            <a:pPr indent="0" lvl="0" marL="0" marR="0" rtl="0" algn="l">
              <a:lnSpc>
                <a:spcPct val="149230"/>
              </a:lnSpc>
              <a:spcBef>
                <a:spcPts val="0"/>
              </a:spcBef>
              <a:spcAft>
                <a:spcPts val="0"/>
              </a:spcAft>
              <a:buClr>
                <a:srgbClr val="000000"/>
              </a:buClr>
              <a:buSzPts val="3900"/>
              <a:buFont typeface="Arial"/>
              <a:buNone/>
            </a:pPr>
            <a:r>
              <a:rPr b="0" i="0" lang="en-US" sz="3900" u="none" cap="none" strike="noStrike">
                <a:solidFill>
                  <a:srgbClr val="2E3C4E"/>
                </a:solidFill>
                <a:latin typeface="Raleway"/>
                <a:ea typeface="Raleway"/>
                <a:cs typeface="Raleway"/>
                <a:sym typeface="Raleway"/>
              </a:rPr>
              <a:t>Prediction of AKI in ICU using MIMIC-IV: From Phenotyping to Drug Attribution</a:t>
            </a:r>
            <a:endParaRPr b="0" i="0" sz="1100" u="none" cap="none" strike="noStrike">
              <a:solidFill>
                <a:srgbClr val="000000"/>
              </a:solidFill>
              <a:latin typeface="Arial"/>
              <a:ea typeface="Arial"/>
              <a:cs typeface="Arial"/>
              <a:sym typeface="Arial"/>
            </a:endParaRPr>
          </a:p>
        </p:txBody>
      </p:sp>
      <p:sp>
        <p:nvSpPr>
          <p:cNvPr id="85" name="Google Shape;85;p24"/>
          <p:cNvSpPr txBox="1"/>
          <p:nvPr/>
        </p:nvSpPr>
        <p:spPr>
          <a:xfrm>
            <a:off x="751390" y="4952512"/>
            <a:ext cx="7556400" cy="231000"/>
          </a:xfrm>
          <a:prstGeom prst="rect">
            <a:avLst/>
          </a:prstGeom>
          <a:noFill/>
          <a:ln>
            <a:noFill/>
          </a:ln>
        </p:spPr>
        <p:txBody>
          <a:bodyPr anchorCtr="0" anchor="t" bIns="0" lIns="0" spcFirstLastPara="1" rIns="0" wrap="square" tIns="0">
            <a:spAutoFit/>
          </a:bodyPr>
          <a:lstStyle/>
          <a:p>
            <a:pPr indent="0" lvl="0" marL="0" marR="0" rtl="0" algn="l">
              <a:lnSpc>
                <a:spcPct val="178058"/>
              </a:lnSpc>
              <a:spcBef>
                <a:spcPts val="0"/>
              </a:spcBef>
              <a:spcAft>
                <a:spcPts val="0"/>
              </a:spcAft>
              <a:buClr>
                <a:srgbClr val="000000"/>
              </a:buClr>
              <a:buSzPts val="1500"/>
              <a:buFont typeface="Arial"/>
              <a:buNone/>
            </a:pPr>
            <a:r>
              <a:rPr b="0" i="0" lang="en-US" sz="1500" u="none" cap="none" strike="noStrike">
                <a:solidFill>
                  <a:srgbClr val="384653"/>
                </a:solidFill>
                <a:latin typeface="DM Sans"/>
                <a:ea typeface="DM Sans"/>
                <a:cs typeface="DM Sans"/>
                <a:sym typeface="DM Sans"/>
              </a:rPr>
              <a:t>Presented by </a:t>
            </a:r>
            <a:r>
              <a:rPr b="1" i="0" lang="en-US" sz="1500" u="none" cap="none" strike="noStrike">
                <a:solidFill>
                  <a:srgbClr val="384653"/>
                </a:solidFill>
                <a:latin typeface="DM Sans"/>
                <a:ea typeface="DM Sans"/>
                <a:cs typeface="DM Sans"/>
                <a:sym typeface="DM Sans"/>
              </a:rPr>
              <a:t>TEAM 7</a:t>
            </a:r>
            <a:endParaRPr b="0" i="0" sz="1100" u="none" cap="none" strike="noStrike">
              <a:solidFill>
                <a:srgbClr val="000000"/>
              </a:solidFill>
              <a:latin typeface="DM Sans"/>
              <a:ea typeface="DM Sans"/>
              <a:cs typeface="DM Sans"/>
              <a:sym typeface="DM Sans"/>
            </a:endParaRPr>
          </a:p>
        </p:txBody>
      </p:sp>
      <p:sp>
        <p:nvSpPr>
          <p:cNvPr id="86" name="Google Shape;86;p24"/>
          <p:cNvSpPr txBox="1"/>
          <p:nvPr/>
        </p:nvSpPr>
        <p:spPr>
          <a:xfrm>
            <a:off x="751390" y="5473411"/>
            <a:ext cx="7556400" cy="1053000"/>
          </a:xfrm>
          <a:prstGeom prst="rect">
            <a:avLst/>
          </a:prstGeom>
          <a:noFill/>
          <a:ln>
            <a:noFill/>
          </a:ln>
        </p:spPr>
        <p:txBody>
          <a:bodyPr anchorCtr="0" anchor="t" bIns="0" lIns="0" spcFirstLastPara="1" rIns="0" wrap="square" tIns="0">
            <a:spAutoFit/>
          </a:bodyPr>
          <a:lstStyle/>
          <a:p>
            <a:pPr indent="0" lvl="0" marL="0" marR="0" rtl="0" algn="l">
              <a:lnSpc>
                <a:spcPct val="178058"/>
              </a:lnSpc>
              <a:spcBef>
                <a:spcPts val="0"/>
              </a:spcBef>
              <a:spcAft>
                <a:spcPts val="0"/>
              </a:spcAft>
              <a:buClr>
                <a:srgbClr val="000000"/>
              </a:buClr>
              <a:buSzPts val="1500"/>
              <a:buFont typeface="Arial"/>
              <a:buNone/>
            </a:pPr>
            <a:r>
              <a:rPr b="0" i="0" lang="en-US" sz="1500" u="none" cap="none" strike="noStrike">
                <a:solidFill>
                  <a:srgbClr val="384653"/>
                </a:solidFill>
                <a:latin typeface="DM Sans"/>
                <a:ea typeface="DM Sans"/>
                <a:cs typeface="DM Sans"/>
                <a:sym typeface="DM Sans"/>
              </a:rPr>
              <a:t>A comprehensive clinical research project investigating adverse drug events and acute kidney injury in critically ill patients using machine learning and electronic health record data.</a:t>
            </a:r>
            <a:endParaRPr b="0" i="0" sz="1100" u="none" cap="none" strike="noStrike">
              <a:solidFill>
                <a:srgbClr val="000000"/>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5"/>
          <p:cNvSpPr txBox="1"/>
          <p:nvPr/>
        </p:nvSpPr>
        <p:spPr>
          <a:xfrm>
            <a:off x="597402" y="3141106"/>
            <a:ext cx="130428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The Challenge of Drug-Induced AKI in the ICU</a:t>
            </a:r>
            <a:endParaRPr b="0" i="0" sz="1100" u="none" cap="none" strike="noStrike">
              <a:solidFill>
                <a:srgbClr val="000000"/>
              </a:solidFill>
              <a:latin typeface="Arial"/>
              <a:ea typeface="Arial"/>
              <a:cs typeface="Arial"/>
              <a:sym typeface="Arial"/>
            </a:endParaRPr>
          </a:p>
        </p:txBody>
      </p:sp>
      <p:grpSp>
        <p:nvGrpSpPr>
          <p:cNvPr id="96" name="Google Shape;96;p25"/>
          <p:cNvGrpSpPr/>
          <p:nvPr/>
        </p:nvGrpSpPr>
        <p:grpSpPr>
          <a:xfrm>
            <a:off x="597402" y="4175321"/>
            <a:ext cx="4224833" cy="2914421"/>
            <a:chOff x="0" y="0"/>
            <a:chExt cx="7041388" cy="4857369"/>
          </a:xfrm>
        </p:grpSpPr>
        <p:sp>
          <p:nvSpPr>
            <p:cNvPr id="97" name="Google Shape;97;p25"/>
            <p:cNvSpPr/>
            <p:nvPr/>
          </p:nvSpPr>
          <p:spPr>
            <a:xfrm>
              <a:off x="7874" y="7874"/>
              <a:ext cx="7025513" cy="4841494"/>
            </a:xfrm>
            <a:custGeom>
              <a:rect b="b" l="l" r="r" t="t"/>
              <a:pathLst>
                <a:path extrusionOk="0" h="4841494" w="7025513">
                  <a:moveTo>
                    <a:pt x="0" y="139065"/>
                  </a:moveTo>
                  <a:cubicBezTo>
                    <a:pt x="0" y="62230"/>
                    <a:pt x="62357" y="0"/>
                    <a:pt x="139192" y="0"/>
                  </a:cubicBezTo>
                  <a:lnTo>
                    <a:pt x="6886448" y="0"/>
                  </a:lnTo>
                  <a:cubicBezTo>
                    <a:pt x="6963283" y="0"/>
                    <a:pt x="7025513" y="62230"/>
                    <a:pt x="7025513" y="138938"/>
                  </a:cubicBezTo>
                  <a:lnTo>
                    <a:pt x="7025513" y="4702556"/>
                  </a:lnTo>
                  <a:cubicBezTo>
                    <a:pt x="7025513" y="4779264"/>
                    <a:pt x="6963283" y="4841494"/>
                    <a:pt x="6886448" y="4841494"/>
                  </a:cubicBezTo>
                  <a:lnTo>
                    <a:pt x="139192" y="4841494"/>
                  </a:lnTo>
                  <a:cubicBezTo>
                    <a:pt x="62357" y="4841494"/>
                    <a:pt x="127" y="4779264"/>
                    <a:pt x="127" y="4702556"/>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98" name="Google Shape;98;p25"/>
            <p:cNvSpPr/>
            <p:nvPr/>
          </p:nvSpPr>
          <p:spPr>
            <a:xfrm>
              <a:off x="0" y="0"/>
              <a:ext cx="7041388" cy="4857369"/>
            </a:xfrm>
            <a:custGeom>
              <a:rect b="b" l="l" r="r" t="t"/>
              <a:pathLst>
                <a:path extrusionOk="0" h="4857369" w="7041388">
                  <a:moveTo>
                    <a:pt x="0" y="146939"/>
                  </a:moveTo>
                  <a:cubicBezTo>
                    <a:pt x="0" y="65786"/>
                    <a:pt x="65786" y="0"/>
                    <a:pt x="147066" y="0"/>
                  </a:cubicBezTo>
                  <a:lnTo>
                    <a:pt x="6894322" y="0"/>
                  </a:lnTo>
                  <a:lnTo>
                    <a:pt x="6894322" y="7874"/>
                  </a:lnTo>
                  <a:lnTo>
                    <a:pt x="6894322" y="0"/>
                  </a:lnTo>
                  <a:cubicBezTo>
                    <a:pt x="6975475" y="0"/>
                    <a:pt x="7041388" y="65786"/>
                    <a:pt x="7041388" y="146939"/>
                  </a:cubicBezTo>
                  <a:lnTo>
                    <a:pt x="7033514" y="146939"/>
                  </a:lnTo>
                  <a:lnTo>
                    <a:pt x="7041388" y="146939"/>
                  </a:lnTo>
                  <a:lnTo>
                    <a:pt x="7041388" y="4710430"/>
                  </a:lnTo>
                  <a:lnTo>
                    <a:pt x="7033514" y="4710430"/>
                  </a:lnTo>
                  <a:lnTo>
                    <a:pt x="7041388" y="4710430"/>
                  </a:lnTo>
                  <a:cubicBezTo>
                    <a:pt x="7041388" y="4791583"/>
                    <a:pt x="6975602" y="4857369"/>
                    <a:pt x="6894322" y="4857369"/>
                  </a:cubicBezTo>
                  <a:lnTo>
                    <a:pt x="6894322" y="4849495"/>
                  </a:lnTo>
                  <a:lnTo>
                    <a:pt x="6894322" y="4857369"/>
                  </a:lnTo>
                  <a:lnTo>
                    <a:pt x="147066" y="4857369"/>
                  </a:lnTo>
                  <a:lnTo>
                    <a:pt x="147066" y="4849495"/>
                  </a:lnTo>
                  <a:lnTo>
                    <a:pt x="147066" y="4857369"/>
                  </a:lnTo>
                  <a:cubicBezTo>
                    <a:pt x="65786" y="4857369"/>
                    <a:pt x="0" y="4791583"/>
                    <a:pt x="0" y="4710430"/>
                  </a:cubicBezTo>
                  <a:lnTo>
                    <a:pt x="0" y="146939"/>
                  </a:lnTo>
                  <a:lnTo>
                    <a:pt x="7874" y="146939"/>
                  </a:lnTo>
                  <a:lnTo>
                    <a:pt x="0" y="146939"/>
                  </a:lnTo>
                  <a:moveTo>
                    <a:pt x="15875" y="146939"/>
                  </a:moveTo>
                  <a:lnTo>
                    <a:pt x="15875" y="4710430"/>
                  </a:lnTo>
                  <a:lnTo>
                    <a:pt x="7874" y="4710430"/>
                  </a:lnTo>
                  <a:lnTo>
                    <a:pt x="15748" y="4710430"/>
                  </a:lnTo>
                  <a:cubicBezTo>
                    <a:pt x="15748" y="4782820"/>
                    <a:pt x="74422" y="4841494"/>
                    <a:pt x="146939" y="4841494"/>
                  </a:cubicBezTo>
                  <a:lnTo>
                    <a:pt x="6894322" y="4841494"/>
                  </a:lnTo>
                  <a:cubicBezTo>
                    <a:pt x="6966712" y="4841494"/>
                    <a:pt x="7025513" y="4782820"/>
                    <a:pt x="7025513" y="4710430"/>
                  </a:cubicBezTo>
                  <a:lnTo>
                    <a:pt x="7025513" y="146939"/>
                  </a:lnTo>
                  <a:cubicBezTo>
                    <a:pt x="7025513" y="74549"/>
                    <a:pt x="6966839" y="15875"/>
                    <a:pt x="6894322" y="15875"/>
                  </a:cubicBezTo>
                  <a:lnTo>
                    <a:pt x="147066" y="15875"/>
                  </a:lnTo>
                  <a:lnTo>
                    <a:pt x="147066" y="7874"/>
                  </a:lnTo>
                  <a:lnTo>
                    <a:pt x="147066" y="15875"/>
                  </a:lnTo>
                  <a:cubicBezTo>
                    <a:pt x="74676" y="15875"/>
                    <a:pt x="15875" y="74549"/>
                    <a:pt x="15875" y="146939"/>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grpSp>
        <p:nvGrpSpPr>
          <p:cNvPr id="99" name="Google Shape;99;p25"/>
          <p:cNvGrpSpPr/>
          <p:nvPr/>
        </p:nvGrpSpPr>
        <p:grpSpPr>
          <a:xfrm>
            <a:off x="5277977" y="4175321"/>
            <a:ext cx="4224833" cy="2914421"/>
            <a:chOff x="0" y="0"/>
            <a:chExt cx="7041388" cy="4857369"/>
          </a:xfrm>
        </p:grpSpPr>
        <p:sp>
          <p:nvSpPr>
            <p:cNvPr id="100" name="Google Shape;100;p25"/>
            <p:cNvSpPr/>
            <p:nvPr/>
          </p:nvSpPr>
          <p:spPr>
            <a:xfrm>
              <a:off x="7874" y="7874"/>
              <a:ext cx="7025513" cy="4841494"/>
            </a:xfrm>
            <a:custGeom>
              <a:rect b="b" l="l" r="r" t="t"/>
              <a:pathLst>
                <a:path extrusionOk="0" h="4841494" w="7025513">
                  <a:moveTo>
                    <a:pt x="0" y="139065"/>
                  </a:moveTo>
                  <a:cubicBezTo>
                    <a:pt x="0" y="62230"/>
                    <a:pt x="62357" y="0"/>
                    <a:pt x="139192" y="0"/>
                  </a:cubicBezTo>
                  <a:lnTo>
                    <a:pt x="6886448" y="0"/>
                  </a:lnTo>
                  <a:cubicBezTo>
                    <a:pt x="6963283" y="0"/>
                    <a:pt x="7025513" y="62230"/>
                    <a:pt x="7025513" y="138938"/>
                  </a:cubicBezTo>
                  <a:lnTo>
                    <a:pt x="7025513" y="4702556"/>
                  </a:lnTo>
                  <a:cubicBezTo>
                    <a:pt x="7025513" y="4779264"/>
                    <a:pt x="6963283" y="4841494"/>
                    <a:pt x="6886448" y="4841494"/>
                  </a:cubicBezTo>
                  <a:lnTo>
                    <a:pt x="139192" y="4841494"/>
                  </a:lnTo>
                  <a:cubicBezTo>
                    <a:pt x="62357" y="4841494"/>
                    <a:pt x="127" y="4779264"/>
                    <a:pt x="127" y="4702556"/>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01" name="Google Shape;101;p25"/>
            <p:cNvSpPr/>
            <p:nvPr/>
          </p:nvSpPr>
          <p:spPr>
            <a:xfrm>
              <a:off x="0" y="0"/>
              <a:ext cx="7041388" cy="4857369"/>
            </a:xfrm>
            <a:custGeom>
              <a:rect b="b" l="l" r="r" t="t"/>
              <a:pathLst>
                <a:path extrusionOk="0" h="4857369" w="7041388">
                  <a:moveTo>
                    <a:pt x="0" y="146939"/>
                  </a:moveTo>
                  <a:cubicBezTo>
                    <a:pt x="0" y="65786"/>
                    <a:pt x="65786" y="0"/>
                    <a:pt x="147066" y="0"/>
                  </a:cubicBezTo>
                  <a:lnTo>
                    <a:pt x="6894322" y="0"/>
                  </a:lnTo>
                  <a:lnTo>
                    <a:pt x="6894322" y="7874"/>
                  </a:lnTo>
                  <a:lnTo>
                    <a:pt x="6894322" y="0"/>
                  </a:lnTo>
                  <a:cubicBezTo>
                    <a:pt x="6975475" y="0"/>
                    <a:pt x="7041388" y="65786"/>
                    <a:pt x="7041388" y="146939"/>
                  </a:cubicBezTo>
                  <a:lnTo>
                    <a:pt x="7033514" y="146939"/>
                  </a:lnTo>
                  <a:lnTo>
                    <a:pt x="7041388" y="146939"/>
                  </a:lnTo>
                  <a:lnTo>
                    <a:pt x="7041388" y="4710430"/>
                  </a:lnTo>
                  <a:lnTo>
                    <a:pt x="7033514" y="4710430"/>
                  </a:lnTo>
                  <a:lnTo>
                    <a:pt x="7041388" y="4710430"/>
                  </a:lnTo>
                  <a:cubicBezTo>
                    <a:pt x="7041388" y="4791583"/>
                    <a:pt x="6975602" y="4857369"/>
                    <a:pt x="6894322" y="4857369"/>
                  </a:cubicBezTo>
                  <a:lnTo>
                    <a:pt x="6894322" y="4849495"/>
                  </a:lnTo>
                  <a:lnTo>
                    <a:pt x="6894322" y="4857369"/>
                  </a:lnTo>
                  <a:lnTo>
                    <a:pt x="147066" y="4857369"/>
                  </a:lnTo>
                  <a:lnTo>
                    <a:pt x="147066" y="4849495"/>
                  </a:lnTo>
                  <a:lnTo>
                    <a:pt x="147066" y="4857369"/>
                  </a:lnTo>
                  <a:cubicBezTo>
                    <a:pt x="65786" y="4857369"/>
                    <a:pt x="0" y="4791583"/>
                    <a:pt x="0" y="4710430"/>
                  </a:cubicBezTo>
                  <a:lnTo>
                    <a:pt x="0" y="146939"/>
                  </a:lnTo>
                  <a:lnTo>
                    <a:pt x="7874" y="146939"/>
                  </a:lnTo>
                  <a:lnTo>
                    <a:pt x="0" y="146939"/>
                  </a:lnTo>
                  <a:moveTo>
                    <a:pt x="15875" y="146939"/>
                  </a:moveTo>
                  <a:lnTo>
                    <a:pt x="15875" y="4710430"/>
                  </a:lnTo>
                  <a:lnTo>
                    <a:pt x="7874" y="4710430"/>
                  </a:lnTo>
                  <a:lnTo>
                    <a:pt x="15748" y="4710430"/>
                  </a:lnTo>
                  <a:cubicBezTo>
                    <a:pt x="15748" y="4782820"/>
                    <a:pt x="74422" y="4841494"/>
                    <a:pt x="146939" y="4841494"/>
                  </a:cubicBezTo>
                  <a:lnTo>
                    <a:pt x="6894322" y="4841494"/>
                  </a:lnTo>
                  <a:cubicBezTo>
                    <a:pt x="6966712" y="4841494"/>
                    <a:pt x="7025513" y="4782820"/>
                    <a:pt x="7025513" y="4710430"/>
                  </a:cubicBezTo>
                  <a:lnTo>
                    <a:pt x="7025513" y="146939"/>
                  </a:lnTo>
                  <a:cubicBezTo>
                    <a:pt x="7025513" y="74549"/>
                    <a:pt x="6966839" y="15875"/>
                    <a:pt x="6894322" y="15875"/>
                  </a:cubicBezTo>
                  <a:lnTo>
                    <a:pt x="147066" y="15875"/>
                  </a:lnTo>
                  <a:lnTo>
                    <a:pt x="147066" y="7874"/>
                  </a:lnTo>
                  <a:lnTo>
                    <a:pt x="147066" y="15875"/>
                  </a:lnTo>
                  <a:cubicBezTo>
                    <a:pt x="74676" y="15875"/>
                    <a:pt x="15875" y="74549"/>
                    <a:pt x="15875" y="146939"/>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grpSp>
        <p:nvGrpSpPr>
          <p:cNvPr id="102" name="Google Shape;102;p25"/>
          <p:cNvGrpSpPr/>
          <p:nvPr/>
        </p:nvGrpSpPr>
        <p:grpSpPr>
          <a:xfrm>
            <a:off x="9808177" y="4175321"/>
            <a:ext cx="4224833" cy="2914421"/>
            <a:chOff x="0" y="0"/>
            <a:chExt cx="7041388" cy="4857369"/>
          </a:xfrm>
        </p:grpSpPr>
        <p:sp>
          <p:nvSpPr>
            <p:cNvPr id="103" name="Google Shape;103;p25"/>
            <p:cNvSpPr/>
            <p:nvPr/>
          </p:nvSpPr>
          <p:spPr>
            <a:xfrm>
              <a:off x="7874" y="7874"/>
              <a:ext cx="7025513" cy="4841494"/>
            </a:xfrm>
            <a:custGeom>
              <a:rect b="b" l="l" r="r" t="t"/>
              <a:pathLst>
                <a:path extrusionOk="0" h="4841494" w="7025513">
                  <a:moveTo>
                    <a:pt x="0" y="139065"/>
                  </a:moveTo>
                  <a:cubicBezTo>
                    <a:pt x="0" y="62230"/>
                    <a:pt x="62357" y="0"/>
                    <a:pt x="139192" y="0"/>
                  </a:cubicBezTo>
                  <a:lnTo>
                    <a:pt x="6886448" y="0"/>
                  </a:lnTo>
                  <a:cubicBezTo>
                    <a:pt x="6963283" y="0"/>
                    <a:pt x="7025513" y="62230"/>
                    <a:pt x="7025513" y="138938"/>
                  </a:cubicBezTo>
                  <a:lnTo>
                    <a:pt x="7025513" y="4702556"/>
                  </a:lnTo>
                  <a:cubicBezTo>
                    <a:pt x="7025513" y="4779264"/>
                    <a:pt x="6963283" y="4841494"/>
                    <a:pt x="6886448" y="4841494"/>
                  </a:cubicBezTo>
                  <a:lnTo>
                    <a:pt x="139192" y="4841494"/>
                  </a:lnTo>
                  <a:cubicBezTo>
                    <a:pt x="62357" y="4841494"/>
                    <a:pt x="127" y="4779264"/>
                    <a:pt x="127" y="4702556"/>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04" name="Google Shape;104;p25"/>
            <p:cNvSpPr/>
            <p:nvPr/>
          </p:nvSpPr>
          <p:spPr>
            <a:xfrm>
              <a:off x="0" y="0"/>
              <a:ext cx="7041388" cy="4857369"/>
            </a:xfrm>
            <a:custGeom>
              <a:rect b="b" l="l" r="r" t="t"/>
              <a:pathLst>
                <a:path extrusionOk="0" h="4857369" w="7041388">
                  <a:moveTo>
                    <a:pt x="0" y="146939"/>
                  </a:moveTo>
                  <a:cubicBezTo>
                    <a:pt x="0" y="65786"/>
                    <a:pt x="65786" y="0"/>
                    <a:pt x="147066" y="0"/>
                  </a:cubicBezTo>
                  <a:lnTo>
                    <a:pt x="6894322" y="0"/>
                  </a:lnTo>
                  <a:lnTo>
                    <a:pt x="6894322" y="7874"/>
                  </a:lnTo>
                  <a:lnTo>
                    <a:pt x="6894322" y="0"/>
                  </a:lnTo>
                  <a:cubicBezTo>
                    <a:pt x="6975475" y="0"/>
                    <a:pt x="7041388" y="65786"/>
                    <a:pt x="7041388" y="146939"/>
                  </a:cubicBezTo>
                  <a:lnTo>
                    <a:pt x="7033514" y="146939"/>
                  </a:lnTo>
                  <a:lnTo>
                    <a:pt x="7041388" y="146939"/>
                  </a:lnTo>
                  <a:lnTo>
                    <a:pt x="7041388" y="4710430"/>
                  </a:lnTo>
                  <a:lnTo>
                    <a:pt x="7033514" y="4710430"/>
                  </a:lnTo>
                  <a:lnTo>
                    <a:pt x="7041388" y="4710430"/>
                  </a:lnTo>
                  <a:cubicBezTo>
                    <a:pt x="7041388" y="4791583"/>
                    <a:pt x="6975602" y="4857369"/>
                    <a:pt x="6894322" y="4857369"/>
                  </a:cubicBezTo>
                  <a:lnTo>
                    <a:pt x="6894322" y="4849495"/>
                  </a:lnTo>
                  <a:lnTo>
                    <a:pt x="6894322" y="4857369"/>
                  </a:lnTo>
                  <a:lnTo>
                    <a:pt x="147066" y="4857369"/>
                  </a:lnTo>
                  <a:lnTo>
                    <a:pt x="147066" y="4849495"/>
                  </a:lnTo>
                  <a:lnTo>
                    <a:pt x="147066" y="4857369"/>
                  </a:lnTo>
                  <a:cubicBezTo>
                    <a:pt x="65786" y="4857369"/>
                    <a:pt x="0" y="4791583"/>
                    <a:pt x="0" y="4710430"/>
                  </a:cubicBezTo>
                  <a:lnTo>
                    <a:pt x="0" y="146939"/>
                  </a:lnTo>
                  <a:lnTo>
                    <a:pt x="7874" y="146939"/>
                  </a:lnTo>
                  <a:lnTo>
                    <a:pt x="0" y="146939"/>
                  </a:lnTo>
                  <a:moveTo>
                    <a:pt x="15875" y="146939"/>
                  </a:moveTo>
                  <a:lnTo>
                    <a:pt x="15875" y="4710430"/>
                  </a:lnTo>
                  <a:lnTo>
                    <a:pt x="7874" y="4710430"/>
                  </a:lnTo>
                  <a:lnTo>
                    <a:pt x="15748" y="4710430"/>
                  </a:lnTo>
                  <a:cubicBezTo>
                    <a:pt x="15748" y="4782820"/>
                    <a:pt x="74422" y="4841494"/>
                    <a:pt x="146939" y="4841494"/>
                  </a:cubicBezTo>
                  <a:lnTo>
                    <a:pt x="6894322" y="4841494"/>
                  </a:lnTo>
                  <a:cubicBezTo>
                    <a:pt x="6966712" y="4841494"/>
                    <a:pt x="7025513" y="4782820"/>
                    <a:pt x="7025513" y="4710430"/>
                  </a:cubicBezTo>
                  <a:lnTo>
                    <a:pt x="7025513" y="146939"/>
                  </a:lnTo>
                  <a:cubicBezTo>
                    <a:pt x="7025513" y="74549"/>
                    <a:pt x="6966839" y="15875"/>
                    <a:pt x="6894322" y="15875"/>
                  </a:cubicBezTo>
                  <a:lnTo>
                    <a:pt x="147066" y="15875"/>
                  </a:lnTo>
                  <a:lnTo>
                    <a:pt x="147066" y="7874"/>
                  </a:lnTo>
                  <a:lnTo>
                    <a:pt x="147066" y="15875"/>
                  </a:lnTo>
                  <a:cubicBezTo>
                    <a:pt x="74676" y="15875"/>
                    <a:pt x="15875" y="74549"/>
                    <a:pt x="15875" y="146939"/>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grpSp>
      <p:sp>
        <p:nvSpPr>
          <p:cNvPr id="105" name="Google Shape;105;p25"/>
          <p:cNvSpPr/>
          <p:nvPr/>
        </p:nvSpPr>
        <p:spPr>
          <a:xfrm>
            <a:off x="770543" y="4435882"/>
            <a:ext cx="595198" cy="595198"/>
          </a:xfrm>
          <a:custGeom>
            <a:rect b="b" l="l" r="r" t="t"/>
            <a:pathLst>
              <a:path extrusionOk="0" h="991997" w="991997">
                <a:moveTo>
                  <a:pt x="0" y="496062"/>
                </a:moveTo>
                <a:cubicBezTo>
                  <a:pt x="0" y="222123"/>
                  <a:pt x="222123" y="0"/>
                  <a:pt x="496062" y="0"/>
                </a:cubicBezTo>
                <a:cubicBezTo>
                  <a:pt x="770001" y="0"/>
                  <a:pt x="991997" y="222123"/>
                  <a:pt x="991997" y="496062"/>
                </a:cubicBezTo>
                <a:cubicBezTo>
                  <a:pt x="991997" y="770001"/>
                  <a:pt x="769874" y="991997"/>
                  <a:pt x="496062" y="991997"/>
                </a:cubicBezTo>
                <a:cubicBezTo>
                  <a:pt x="222250" y="991997"/>
                  <a:pt x="0" y="769874"/>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5"/>
          <p:cNvSpPr/>
          <p:nvPr/>
        </p:nvSpPr>
        <p:spPr>
          <a:xfrm>
            <a:off x="5451118" y="4435882"/>
            <a:ext cx="595198" cy="595198"/>
          </a:xfrm>
          <a:custGeom>
            <a:rect b="b" l="l" r="r" t="t"/>
            <a:pathLst>
              <a:path extrusionOk="0" h="991997" w="991997">
                <a:moveTo>
                  <a:pt x="0" y="496062"/>
                </a:moveTo>
                <a:cubicBezTo>
                  <a:pt x="0" y="222123"/>
                  <a:pt x="222123" y="0"/>
                  <a:pt x="496062" y="0"/>
                </a:cubicBezTo>
                <a:cubicBezTo>
                  <a:pt x="770001" y="0"/>
                  <a:pt x="991997" y="222123"/>
                  <a:pt x="991997" y="496062"/>
                </a:cubicBezTo>
                <a:cubicBezTo>
                  <a:pt x="991997" y="770001"/>
                  <a:pt x="769874" y="991997"/>
                  <a:pt x="496062" y="991997"/>
                </a:cubicBezTo>
                <a:cubicBezTo>
                  <a:pt x="222250" y="991997"/>
                  <a:pt x="0" y="769874"/>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5"/>
          <p:cNvSpPr/>
          <p:nvPr/>
        </p:nvSpPr>
        <p:spPr>
          <a:xfrm>
            <a:off x="9963318" y="4435882"/>
            <a:ext cx="595198" cy="595198"/>
          </a:xfrm>
          <a:custGeom>
            <a:rect b="b" l="l" r="r" t="t"/>
            <a:pathLst>
              <a:path extrusionOk="0" h="991997" w="991997">
                <a:moveTo>
                  <a:pt x="0" y="496062"/>
                </a:moveTo>
                <a:cubicBezTo>
                  <a:pt x="0" y="222123"/>
                  <a:pt x="222123" y="0"/>
                  <a:pt x="496062" y="0"/>
                </a:cubicBezTo>
                <a:cubicBezTo>
                  <a:pt x="770001" y="0"/>
                  <a:pt x="991997" y="222123"/>
                  <a:pt x="991997" y="496062"/>
                </a:cubicBezTo>
                <a:cubicBezTo>
                  <a:pt x="991997" y="770001"/>
                  <a:pt x="769874" y="991997"/>
                  <a:pt x="496062" y="991997"/>
                </a:cubicBezTo>
                <a:cubicBezTo>
                  <a:pt x="222250" y="991997"/>
                  <a:pt x="0" y="769874"/>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preencoded.png" id="108" name="Google Shape;108;p25"/>
          <p:cNvSpPr/>
          <p:nvPr/>
        </p:nvSpPr>
        <p:spPr>
          <a:xfrm>
            <a:off x="934204" y="4599523"/>
            <a:ext cx="267919" cy="267919"/>
          </a:xfrm>
          <a:custGeom>
            <a:rect b="b" l="l" r="r" t="t"/>
            <a:pathLst>
              <a:path extrusionOk="0" h="446532" w="446532">
                <a:moveTo>
                  <a:pt x="0" y="0"/>
                </a:moveTo>
                <a:lnTo>
                  <a:pt x="446532" y="0"/>
                </a:lnTo>
                <a:lnTo>
                  <a:pt x="446532" y="446532"/>
                </a:lnTo>
                <a:lnTo>
                  <a:pt x="0" y="446532"/>
                </a:lnTo>
                <a:lnTo>
                  <a:pt x="0" y="0"/>
                </a:lnTo>
                <a:close/>
              </a:path>
            </a:pathLst>
          </a:custGeom>
          <a:blipFill rotWithShape="1">
            <a:blip r:embed="rId3">
              <a:alphaModFix/>
            </a:blip>
            <a:stretch>
              <a:fillRect b="6" l="0" r="6" t="0"/>
            </a:stretch>
          </a:blipFill>
          <a:ln>
            <a:noFill/>
          </a:ln>
        </p:spPr>
      </p:sp>
      <p:sp>
        <p:nvSpPr>
          <p:cNvPr descr="preencoded.png" id="109" name="Google Shape;109;p25"/>
          <p:cNvSpPr/>
          <p:nvPr/>
        </p:nvSpPr>
        <p:spPr>
          <a:xfrm>
            <a:off x="5614776" y="4599523"/>
            <a:ext cx="267919" cy="267919"/>
          </a:xfrm>
          <a:custGeom>
            <a:rect b="b" l="l" r="r" t="t"/>
            <a:pathLst>
              <a:path extrusionOk="0" h="446532" w="446532">
                <a:moveTo>
                  <a:pt x="0" y="0"/>
                </a:moveTo>
                <a:lnTo>
                  <a:pt x="446532" y="0"/>
                </a:lnTo>
                <a:lnTo>
                  <a:pt x="446532" y="446532"/>
                </a:lnTo>
                <a:lnTo>
                  <a:pt x="0" y="446532"/>
                </a:lnTo>
                <a:lnTo>
                  <a:pt x="0" y="0"/>
                </a:lnTo>
                <a:close/>
              </a:path>
            </a:pathLst>
          </a:custGeom>
          <a:blipFill rotWithShape="1">
            <a:blip r:embed="rId4">
              <a:alphaModFix/>
            </a:blip>
            <a:stretch>
              <a:fillRect b="6" l="0" r="6" t="0"/>
            </a:stretch>
          </a:blipFill>
          <a:ln>
            <a:noFill/>
          </a:ln>
        </p:spPr>
      </p:sp>
      <p:sp>
        <p:nvSpPr>
          <p:cNvPr descr="preencoded.png" id="110" name="Google Shape;110;p25"/>
          <p:cNvSpPr/>
          <p:nvPr/>
        </p:nvSpPr>
        <p:spPr>
          <a:xfrm>
            <a:off x="9990892" y="3823123"/>
            <a:ext cx="267919" cy="267919"/>
          </a:xfrm>
          <a:custGeom>
            <a:rect b="b" l="l" r="r" t="t"/>
            <a:pathLst>
              <a:path extrusionOk="0" h="446532" w="446532">
                <a:moveTo>
                  <a:pt x="0" y="0"/>
                </a:moveTo>
                <a:lnTo>
                  <a:pt x="446532" y="0"/>
                </a:lnTo>
                <a:lnTo>
                  <a:pt x="446532" y="446532"/>
                </a:lnTo>
                <a:lnTo>
                  <a:pt x="0" y="446532"/>
                </a:lnTo>
                <a:lnTo>
                  <a:pt x="0" y="0"/>
                </a:lnTo>
                <a:close/>
              </a:path>
            </a:pathLst>
          </a:custGeom>
          <a:blipFill rotWithShape="1">
            <a:blip r:embed="rId5">
              <a:alphaModFix/>
            </a:blip>
            <a:stretch>
              <a:fillRect b="6" l="0" r="6" t="0"/>
            </a:stretch>
          </a:blipFill>
          <a:ln>
            <a:noFill/>
          </a:ln>
        </p:spPr>
      </p:sp>
      <p:sp>
        <p:nvSpPr>
          <p:cNvPr descr="preencoded.png" id="111" name="Google Shape;111;p25"/>
          <p:cNvSpPr/>
          <p:nvPr/>
        </p:nvSpPr>
        <p:spPr>
          <a:xfrm>
            <a:off x="10131692" y="4599523"/>
            <a:ext cx="267919" cy="267919"/>
          </a:xfrm>
          <a:custGeom>
            <a:rect b="b" l="l" r="r" t="t"/>
            <a:pathLst>
              <a:path extrusionOk="0" h="446532" w="446532">
                <a:moveTo>
                  <a:pt x="0" y="0"/>
                </a:moveTo>
                <a:lnTo>
                  <a:pt x="446532" y="0"/>
                </a:lnTo>
                <a:lnTo>
                  <a:pt x="446532" y="446532"/>
                </a:lnTo>
                <a:lnTo>
                  <a:pt x="0" y="446532"/>
                </a:lnTo>
                <a:lnTo>
                  <a:pt x="0" y="0"/>
                </a:lnTo>
                <a:close/>
              </a:path>
            </a:pathLst>
          </a:custGeom>
          <a:blipFill rotWithShape="1">
            <a:blip r:embed="rId5">
              <a:alphaModFix/>
            </a:blip>
            <a:stretch>
              <a:fillRect b="6" l="0" r="6" t="0"/>
            </a:stretch>
          </a:blipFill>
          <a:ln>
            <a:noFill/>
          </a:ln>
        </p:spPr>
      </p:sp>
      <p:sp>
        <p:nvSpPr>
          <p:cNvPr id="112" name="Google Shape;112;p25"/>
          <p:cNvSpPr txBox="1"/>
          <p:nvPr/>
        </p:nvSpPr>
        <p:spPr>
          <a:xfrm>
            <a:off x="808118" y="5150317"/>
            <a:ext cx="26469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DM Sans"/>
                <a:ea typeface="DM Sans"/>
                <a:cs typeface="DM Sans"/>
                <a:sym typeface="DM Sans"/>
              </a:rPr>
              <a:t>Reproducible Pipelines</a:t>
            </a:r>
            <a:endParaRPr b="0" i="0" sz="1100" u="none" cap="none" strike="noStrike">
              <a:solidFill>
                <a:srgbClr val="000000"/>
              </a:solidFill>
              <a:latin typeface="DM Sans"/>
              <a:ea typeface="DM Sans"/>
              <a:cs typeface="DM Sans"/>
              <a:sym typeface="DM Sans"/>
            </a:endParaRPr>
          </a:p>
        </p:txBody>
      </p:sp>
      <p:sp>
        <p:nvSpPr>
          <p:cNvPr id="113" name="Google Shape;113;p25"/>
          <p:cNvSpPr txBox="1"/>
          <p:nvPr/>
        </p:nvSpPr>
        <p:spPr>
          <a:xfrm>
            <a:off x="808118" y="5800063"/>
            <a:ext cx="3803400" cy="1027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Many published models rely on ad-hoc preprocessing that is difficult to reproduce across institutions and datasets.</a:t>
            </a:r>
            <a:endParaRPr b="0" i="0" sz="1100" u="none" cap="none" strike="noStrike">
              <a:solidFill>
                <a:srgbClr val="000000"/>
              </a:solidFill>
              <a:latin typeface="DM Sans"/>
              <a:ea typeface="DM Sans"/>
              <a:cs typeface="DM Sans"/>
              <a:sym typeface="DM Sans"/>
            </a:endParaRPr>
          </a:p>
        </p:txBody>
      </p:sp>
      <p:sp>
        <p:nvSpPr>
          <p:cNvPr id="114" name="Google Shape;114;p25"/>
          <p:cNvSpPr txBox="1"/>
          <p:nvPr/>
        </p:nvSpPr>
        <p:spPr>
          <a:xfrm>
            <a:off x="5540618" y="5800063"/>
            <a:ext cx="3803400" cy="1027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AKI definitions vary (SCr-only vs full KDIGO), and model features often ignore temporal context and progression.</a:t>
            </a:r>
            <a:endParaRPr b="0" i="0" sz="1100" u="none" cap="none" strike="noStrike">
              <a:solidFill>
                <a:srgbClr val="000000"/>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500" u="none" cap="none" strike="noStrike">
              <a:solidFill>
                <a:srgbClr val="3C3939"/>
              </a:solidFill>
              <a:latin typeface="DM Sans"/>
              <a:ea typeface="DM Sans"/>
              <a:cs typeface="DM Sans"/>
              <a:sym typeface="DM Sans"/>
            </a:endParaRPr>
          </a:p>
        </p:txBody>
      </p:sp>
      <p:sp>
        <p:nvSpPr>
          <p:cNvPr id="115" name="Google Shape;115;p25"/>
          <p:cNvSpPr txBox="1"/>
          <p:nvPr/>
        </p:nvSpPr>
        <p:spPr>
          <a:xfrm>
            <a:off x="10062418" y="5701412"/>
            <a:ext cx="3803400" cy="1027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AKI events attributed to specific drugs are rare, so metrics like ROC-AUC can look impressive even when precision and F1 are poor.</a:t>
            </a:r>
            <a:endParaRPr b="0" i="0" sz="1500" u="none" cap="none" strike="noStrike">
              <a:solidFill>
                <a:srgbClr val="3C3939"/>
              </a:solidFill>
              <a:latin typeface="DM Sans"/>
              <a:ea typeface="DM Sans"/>
              <a:cs typeface="DM Sans"/>
              <a:sym typeface="DM Sans"/>
            </a:endParaRPr>
          </a:p>
        </p:txBody>
      </p:sp>
      <p:sp>
        <p:nvSpPr>
          <p:cNvPr id="116" name="Google Shape;116;p25"/>
          <p:cNvSpPr txBox="1"/>
          <p:nvPr/>
        </p:nvSpPr>
        <p:spPr>
          <a:xfrm>
            <a:off x="5540618" y="5150317"/>
            <a:ext cx="24810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DM Sans"/>
                <a:ea typeface="DM Sans"/>
                <a:cs typeface="DM Sans"/>
                <a:sym typeface="DM Sans"/>
              </a:rPr>
              <a:t>Outcome Definitions</a:t>
            </a:r>
            <a:endParaRPr b="0" i="0" sz="1100" u="none" cap="none" strike="noStrike">
              <a:solidFill>
                <a:srgbClr val="000000"/>
              </a:solidFill>
              <a:latin typeface="DM Sans"/>
              <a:ea typeface="DM Sans"/>
              <a:cs typeface="DM Sans"/>
              <a:sym typeface="DM Sans"/>
            </a:endParaRPr>
          </a:p>
        </p:txBody>
      </p:sp>
      <p:sp>
        <p:nvSpPr>
          <p:cNvPr id="117" name="Google Shape;117;p25"/>
          <p:cNvSpPr txBox="1"/>
          <p:nvPr/>
        </p:nvSpPr>
        <p:spPr>
          <a:xfrm>
            <a:off x="10107233" y="5121265"/>
            <a:ext cx="2481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0" i="0" lang="en-US" sz="1900" u="none" cap="none" strike="noStrike">
                <a:solidFill>
                  <a:srgbClr val="3C3939"/>
                </a:solidFill>
                <a:latin typeface="DM Sans"/>
                <a:ea typeface="DM Sans"/>
                <a:cs typeface="DM Sans"/>
                <a:sym typeface="DM Sans"/>
              </a:rPr>
              <a:t>Class Imbalance</a:t>
            </a:r>
            <a:endParaRPr b="0" i="0" sz="1900" u="none" cap="none" strike="noStrike">
              <a:solidFill>
                <a:srgbClr val="3C3939"/>
              </a:solidFill>
              <a:latin typeface="DM Sans"/>
              <a:ea typeface="DM Sans"/>
              <a:cs typeface="DM Sans"/>
              <a:sym typeface="DM Sans"/>
            </a:endParaRPr>
          </a:p>
        </p:txBody>
      </p:sp>
      <p:sp>
        <p:nvSpPr>
          <p:cNvPr descr="preencoded.png" id="118" name="Google Shape;118;p25"/>
          <p:cNvSpPr/>
          <p:nvPr/>
        </p:nvSpPr>
        <p:spPr>
          <a:xfrm>
            <a:off x="0" y="-34300"/>
            <a:ext cx="14630400" cy="2480920"/>
          </a:xfrm>
          <a:custGeom>
            <a:rect b="b" l="l" r="r" t="t"/>
            <a:pathLst>
              <a:path extrusionOk="0" h="4134866" w="24384000">
                <a:moveTo>
                  <a:pt x="0" y="0"/>
                </a:moveTo>
                <a:lnTo>
                  <a:pt x="24384000" y="0"/>
                </a:lnTo>
                <a:lnTo>
                  <a:pt x="24384000" y="4134866"/>
                </a:lnTo>
                <a:lnTo>
                  <a:pt x="0" y="4134866"/>
                </a:lnTo>
                <a:lnTo>
                  <a:pt x="0" y="0"/>
                </a:lnTo>
                <a:close/>
              </a:path>
            </a:pathLst>
          </a:custGeom>
          <a:blipFill rotWithShape="1">
            <a:blip r:embed="rId6">
              <a:alphaModFix/>
            </a:blip>
            <a:stretch>
              <a:fillRect b="-8"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6" title="Screenshot 2025-12-09 at 7.18.20 PM.png"/>
          <p:cNvPicPr preferRelativeResize="0"/>
          <p:nvPr/>
        </p:nvPicPr>
        <p:blipFill>
          <a:blip r:embed="rId3">
            <a:alphaModFix/>
          </a:blip>
          <a:stretch>
            <a:fillRect/>
          </a:stretch>
        </p:blipFill>
        <p:spPr>
          <a:xfrm>
            <a:off x="-1" y="0"/>
            <a:ext cx="7505351" cy="6903926"/>
          </a:xfrm>
          <a:prstGeom prst="rect">
            <a:avLst/>
          </a:prstGeom>
          <a:noFill/>
          <a:ln>
            <a:noFill/>
          </a:ln>
        </p:spPr>
      </p:pic>
      <p:pic>
        <p:nvPicPr>
          <p:cNvPr id="128" name="Google Shape;128;p26" title="Screenshot 2025-12-09 at 7.19.01 PM.png"/>
          <p:cNvPicPr preferRelativeResize="0"/>
          <p:nvPr/>
        </p:nvPicPr>
        <p:blipFill>
          <a:blip r:embed="rId4">
            <a:alphaModFix/>
          </a:blip>
          <a:stretch>
            <a:fillRect/>
          </a:stretch>
        </p:blipFill>
        <p:spPr>
          <a:xfrm>
            <a:off x="8835250" y="-215501"/>
            <a:ext cx="4918876" cy="2675600"/>
          </a:xfrm>
          <a:prstGeom prst="rect">
            <a:avLst/>
          </a:prstGeom>
          <a:noFill/>
          <a:ln>
            <a:noFill/>
          </a:ln>
        </p:spPr>
      </p:pic>
      <p:pic>
        <p:nvPicPr>
          <p:cNvPr id="129" name="Google Shape;129;p26" title="Screenshot 2025-12-09 at 7.23.21 PM.png"/>
          <p:cNvPicPr preferRelativeResize="0"/>
          <p:nvPr/>
        </p:nvPicPr>
        <p:blipFill>
          <a:blip r:embed="rId5">
            <a:alphaModFix/>
          </a:blip>
          <a:stretch>
            <a:fillRect/>
          </a:stretch>
        </p:blipFill>
        <p:spPr>
          <a:xfrm>
            <a:off x="6820100" y="2141049"/>
            <a:ext cx="6651950" cy="3023909"/>
          </a:xfrm>
          <a:prstGeom prst="rect">
            <a:avLst/>
          </a:prstGeom>
          <a:noFill/>
          <a:ln>
            <a:noFill/>
          </a:ln>
        </p:spPr>
      </p:pic>
      <p:pic>
        <p:nvPicPr>
          <p:cNvPr id="130" name="Google Shape;130;p26" title="Screenshot 2025-12-09 at 7.23.44 PM.png"/>
          <p:cNvPicPr preferRelativeResize="0"/>
          <p:nvPr/>
        </p:nvPicPr>
        <p:blipFill>
          <a:blip r:embed="rId6">
            <a:alphaModFix/>
          </a:blip>
          <a:stretch>
            <a:fillRect/>
          </a:stretch>
        </p:blipFill>
        <p:spPr>
          <a:xfrm>
            <a:off x="9902775" y="4140500"/>
            <a:ext cx="4727625" cy="4354251"/>
          </a:xfrm>
          <a:prstGeom prst="rect">
            <a:avLst/>
          </a:prstGeom>
          <a:noFill/>
          <a:ln>
            <a:noFill/>
          </a:ln>
        </p:spPr>
      </p:pic>
      <p:pic>
        <p:nvPicPr>
          <p:cNvPr id="131" name="Google Shape;131;p26" title="Screenshot 2025-12-09 at 7.24.20 PM.png"/>
          <p:cNvPicPr preferRelativeResize="0"/>
          <p:nvPr/>
        </p:nvPicPr>
        <p:blipFill>
          <a:blip r:embed="rId7">
            <a:alphaModFix/>
          </a:blip>
          <a:stretch>
            <a:fillRect/>
          </a:stretch>
        </p:blipFill>
        <p:spPr>
          <a:xfrm>
            <a:off x="2352953" y="4029686"/>
            <a:ext cx="5654425" cy="5087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nvSpPr>
        <p:spPr>
          <a:xfrm>
            <a:off x="472751" y="693300"/>
            <a:ext cx="5706600" cy="15345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4000"/>
              <a:buFont typeface="Arial"/>
              <a:buNone/>
            </a:pPr>
            <a:r>
              <a:rPr b="0" i="0" lang="en-US" sz="4000" u="none" cap="none" strike="noStrike">
                <a:solidFill>
                  <a:srgbClr val="1B1B27"/>
                </a:solidFill>
                <a:latin typeface="Raleway"/>
                <a:ea typeface="Raleway"/>
                <a:cs typeface="Raleway"/>
                <a:sym typeface="Raleway"/>
              </a:rPr>
              <a:t>Clinical &amp; Technical Motivation</a:t>
            </a:r>
            <a:endParaRPr b="0" i="0" sz="1200" u="none" cap="none" strike="noStrike">
              <a:solidFill>
                <a:srgbClr val="000000"/>
              </a:solidFill>
              <a:latin typeface="Arial"/>
              <a:ea typeface="Arial"/>
              <a:cs typeface="Arial"/>
              <a:sym typeface="Arial"/>
            </a:endParaRPr>
          </a:p>
        </p:txBody>
      </p:sp>
      <p:sp>
        <p:nvSpPr>
          <p:cNvPr descr="preencoded.png" id="141" name="Google Shape;141;p27"/>
          <p:cNvSpPr/>
          <p:nvPr/>
        </p:nvSpPr>
        <p:spPr>
          <a:xfrm>
            <a:off x="10279575" y="0"/>
            <a:ext cx="4343400" cy="8229600"/>
          </a:xfrm>
          <a:custGeom>
            <a:rect b="b" l="l" r="r" t="t"/>
            <a:pathLst>
              <a:path extrusionOk="0" h="13716000" w="9144000">
                <a:moveTo>
                  <a:pt x="0" y="0"/>
                </a:moveTo>
                <a:lnTo>
                  <a:pt x="9144000" y="0"/>
                </a:lnTo>
                <a:lnTo>
                  <a:pt x="9144000" y="13716000"/>
                </a:lnTo>
                <a:lnTo>
                  <a:pt x="0" y="13716000"/>
                </a:lnTo>
                <a:lnTo>
                  <a:pt x="0" y="0"/>
                </a:lnTo>
                <a:close/>
              </a:path>
            </a:pathLst>
          </a:custGeom>
          <a:blipFill rotWithShape="1">
            <a:blip r:embed="rId3">
              <a:alphaModFix/>
            </a:blip>
            <a:stretch>
              <a:fillRect b="0" l="0" r="0" t="0"/>
            </a:stretch>
          </a:blipFill>
          <a:ln>
            <a:noFill/>
          </a:ln>
        </p:spPr>
      </p:sp>
      <p:pic>
        <p:nvPicPr>
          <p:cNvPr id="142" name="Google Shape;142;p27"/>
          <p:cNvPicPr preferRelativeResize="0"/>
          <p:nvPr/>
        </p:nvPicPr>
        <p:blipFill rotWithShape="1">
          <a:blip r:embed="rId4">
            <a:alphaModFix/>
          </a:blip>
          <a:srcRect b="0" l="0" r="0" t="0"/>
          <a:stretch/>
        </p:blipFill>
        <p:spPr>
          <a:xfrm>
            <a:off x="152400" y="3107300"/>
            <a:ext cx="9974774" cy="25180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p:nvPr/>
        </p:nvSpPr>
        <p:spPr>
          <a:xfrm>
            <a:off x="854025" y="2729025"/>
            <a:ext cx="13072110" cy="4219318"/>
          </a:xfrm>
          <a:custGeom>
            <a:rect b="b" l="l" r="r" t="t"/>
            <a:pathLst>
              <a:path extrusionOk="0" h="7274687" w="23876000">
                <a:moveTo>
                  <a:pt x="0" y="0"/>
                </a:moveTo>
                <a:lnTo>
                  <a:pt x="23876000" y="0"/>
                </a:lnTo>
                <a:lnTo>
                  <a:pt x="23876000" y="7274687"/>
                </a:lnTo>
                <a:lnTo>
                  <a:pt x="0" y="7274687"/>
                </a:lnTo>
                <a:lnTo>
                  <a:pt x="0" y="0"/>
                </a:lnTo>
                <a:close/>
              </a:path>
            </a:pathLst>
          </a:custGeom>
          <a:blipFill rotWithShape="1">
            <a:blip r:embed="rId3">
              <a:alphaModFix/>
            </a:blip>
            <a:stretch>
              <a:fillRect b="0" l="0" r="0" t="0"/>
            </a:stretch>
          </a:blipFill>
          <a:ln>
            <a:noFill/>
          </a:ln>
        </p:spPr>
      </p:sp>
      <p:sp>
        <p:nvSpPr>
          <p:cNvPr id="152" name="Google Shape;152;p28"/>
          <p:cNvSpPr txBox="1"/>
          <p:nvPr/>
        </p:nvSpPr>
        <p:spPr>
          <a:xfrm>
            <a:off x="868677" y="1216506"/>
            <a:ext cx="13042800" cy="6156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4000"/>
              <a:buFont typeface="Arial"/>
              <a:buNone/>
            </a:pPr>
            <a:r>
              <a:rPr b="0" i="0" lang="en-US" sz="4000" u="none" cap="none" strike="noStrike">
                <a:solidFill>
                  <a:srgbClr val="1B1B27"/>
                </a:solidFill>
                <a:latin typeface="Raleway"/>
                <a:ea typeface="Raleway"/>
                <a:cs typeface="Raleway"/>
                <a:sym typeface="Raleway"/>
              </a:rPr>
              <a:t>Who Benefits From This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p:nvPr/>
        </p:nvSpPr>
        <p:spPr>
          <a:xfrm>
            <a:off x="1102688" y="1931875"/>
            <a:ext cx="12425029" cy="5488188"/>
          </a:xfrm>
          <a:custGeom>
            <a:rect b="b" l="l" r="r" t="t"/>
            <a:pathLst>
              <a:path extrusionOk="0" h="7925181" w="17377663">
                <a:moveTo>
                  <a:pt x="0" y="0"/>
                </a:moveTo>
                <a:lnTo>
                  <a:pt x="17377663" y="0"/>
                </a:lnTo>
                <a:lnTo>
                  <a:pt x="17377663" y="7925181"/>
                </a:lnTo>
                <a:lnTo>
                  <a:pt x="0" y="7925181"/>
                </a:lnTo>
                <a:lnTo>
                  <a:pt x="0" y="0"/>
                </a:lnTo>
                <a:close/>
              </a:path>
            </a:pathLst>
          </a:custGeom>
          <a:blipFill rotWithShape="1">
            <a:blip r:embed="rId3">
              <a:alphaModFix/>
            </a:blip>
            <a:stretch>
              <a:fillRect b="0" l="0" r="0" t="0"/>
            </a:stretch>
          </a:blipFill>
          <a:ln>
            <a:noFill/>
          </a:ln>
        </p:spPr>
      </p:sp>
      <p:sp>
        <p:nvSpPr>
          <p:cNvPr id="162" name="Google Shape;162;p29"/>
          <p:cNvSpPr txBox="1"/>
          <p:nvPr/>
        </p:nvSpPr>
        <p:spPr>
          <a:xfrm>
            <a:off x="1102690" y="775706"/>
            <a:ext cx="13042800" cy="6156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4000"/>
              <a:buFont typeface="Arial"/>
              <a:buNone/>
            </a:pPr>
            <a:r>
              <a:rPr b="0" i="0" lang="en-US" sz="4000" u="none" cap="none" strike="noStrike">
                <a:solidFill>
                  <a:srgbClr val="1B1B27"/>
                </a:solidFill>
                <a:latin typeface="Raleway"/>
                <a:ea typeface="Raleway"/>
                <a:cs typeface="Raleway"/>
                <a:sym typeface="Raleway"/>
              </a:rPr>
              <a:t>Impact of Our Model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30"/>
          <p:cNvPicPr preferRelativeResize="0"/>
          <p:nvPr/>
        </p:nvPicPr>
        <p:blipFill rotWithShape="1">
          <a:blip r:embed="rId3">
            <a:alphaModFix/>
          </a:blip>
          <a:srcRect b="0" l="0" r="0" t="0"/>
          <a:stretch/>
        </p:blipFill>
        <p:spPr>
          <a:xfrm>
            <a:off x="759638" y="2646875"/>
            <a:ext cx="13111127" cy="3668300"/>
          </a:xfrm>
          <a:prstGeom prst="rect">
            <a:avLst/>
          </a:prstGeom>
          <a:noFill/>
          <a:ln>
            <a:noFill/>
          </a:ln>
        </p:spPr>
      </p:pic>
      <p:sp>
        <p:nvSpPr>
          <p:cNvPr id="172" name="Google Shape;172;p30"/>
          <p:cNvSpPr txBox="1"/>
          <p:nvPr/>
        </p:nvSpPr>
        <p:spPr>
          <a:xfrm>
            <a:off x="759651" y="1301325"/>
            <a:ext cx="5706600" cy="6156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4000"/>
              <a:buFont typeface="Arial"/>
              <a:buNone/>
            </a:pPr>
            <a:r>
              <a:rPr b="0" i="0" lang="en-US" sz="4000" u="none" cap="none" strike="noStrike">
                <a:solidFill>
                  <a:srgbClr val="1B1B27"/>
                </a:solidFill>
                <a:latin typeface="Raleway"/>
                <a:ea typeface="Raleway"/>
                <a:cs typeface="Raleway"/>
                <a:sym typeface="Raleway"/>
              </a:rPr>
              <a:t>Key Considerations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nvSpPr>
        <p:spPr>
          <a:xfrm>
            <a:off x="793826" y="873250"/>
            <a:ext cx="87792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Our Approach: A Four-Part Solution</a:t>
            </a:r>
            <a:endParaRPr b="0" i="0" sz="1100" u="none" cap="none" strike="noStrike">
              <a:solidFill>
                <a:srgbClr val="000000"/>
              </a:solidFill>
              <a:latin typeface="Arial"/>
              <a:ea typeface="Arial"/>
              <a:cs typeface="Arial"/>
              <a:sym typeface="Arial"/>
            </a:endParaRPr>
          </a:p>
        </p:txBody>
      </p:sp>
      <p:sp>
        <p:nvSpPr>
          <p:cNvPr id="182" name="Google Shape;182;p31"/>
          <p:cNvSpPr/>
          <p:nvPr/>
        </p:nvSpPr>
        <p:spPr>
          <a:xfrm>
            <a:off x="793790" y="2848451"/>
            <a:ext cx="6422213" cy="22860"/>
          </a:xfrm>
          <a:custGeom>
            <a:rect b="b" l="l" r="r" t="t"/>
            <a:pathLst>
              <a:path extrusionOk="0" h="38100" w="10703687">
                <a:moveTo>
                  <a:pt x="0" y="0"/>
                </a:moveTo>
                <a:lnTo>
                  <a:pt x="10703687" y="0"/>
                </a:lnTo>
                <a:lnTo>
                  <a:pt x="10703687" y="38100"/>
                </a:lnTo>
                <a:lnTo>
                  <a:pt x="0" y="38100"/>
                </a:lnTo>
                <a:close/>
              </a:path>
            </a:pathLst>
          </a:custGeom>
          <a:solidFill>
            <a:srgbClr val="1B1B27"/>
          </a:solidFill>
          <a:ln cap="flat" cmpd="sng" w="12700">
            <a:solidFill>
              <a:srgbClr val="000000"/>
            </a:solidFill>
            <a:prstDash val="solid"/>
            <a:round/>
            <a:headEnd len="sm" w="sm" type="none"/>
            <a:tailEnd len="sm" w="sm" type="none"/>
          </a:ln>
        </p:spPr>
      </p:sp>
      <p:sp>
        <p:nvSpPr>
          <p:cNvPr id="183" name="Google Shape;183;p31"/>
          <p:cNvSpPr txBox="1"/>
          <p:nvPr/>
        </p:nvSpPr>
        <p:spPr>
          <a:xfrm>
            <a:off x="793790" y="2932390"/>
            <a:ext cx="2955012"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SQL-Defined ETL Pipeline</a:t>
            </a:r>
            <a:endParaRPr b="0" i="0" sz="1100" u="none" cap="none" strike="noStrike">
              <a:solidFill>
                <a:srgbClr val="000000"/>
              </a:solidFill>
              <a:latin typeface="Arial"/>
              <a:ea typeface="Arial"/>
              <a:cs typeface="Arial"/>
              <a:sym typeface="Arial"/>
            </a:endParaRPr>
          </a:p>
        </p:txBody>
      </p:sp>
      <p:sp>
        <p:nvSpPr>
          <p:cNvPr id="184" name="Google Shape;184;p31"/>
          <p:cNvSpPr txBox="1"/>
          <p:nvPr/>
        </p:nvSpPr>
        <p:spPr>
          <a:xfrm>
            <a:off x="793790" y="3323511"/>
            <a:ext cx="6422100" cy="677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 Built a fully SQL-based BigQuery pipeline on MIMIC-IV v3.1 to generate KDIGO AKI labels and drug-level ADE outcomes.</a:t>
            </a:r>
            <a:endParaRPr b="0" i="0" sz="1100" u="none" cap="none" strike="noStrike">
              <a:solidFill>
                <a:srgbClr val="000000"/>
              </a:solidFill>
              <a:latin typeface="Arial"/>
              <a:ea typeface="Arial"/>
              <a:cs typeface="Arial"/>
              <a:sym typeface="Arial"/>
            </a:endParaRPr>
          </a:p>
        </p:txBody>
      </p:sp>
      <p:sp>
        <p:nvSpPr>
          <p:cNvPr id="185" name="Google Shape;185;p31"/>
          <p:cNvSpPr txBox="1"/>
          <p:nvPr/>
        </p:nvSpPr>
        <p:spPr>
          <a:xfrm>
            <a:off x="7414379" y="2419826"/>
            <a:ext cx="198358" cy="362307"/>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Raleway"/>
                <a:ea typeface="Raleway"/>
                <a:cs typeface="Raleway"/>
                <a:sym typeface="Raleway"/>
              </a:rPr>
              <a:t>2</a:t>
            </a:r>
            <a:endParaRPr b="0" i="0" sz="1100" u="none" cap="none" strike="noStrike">
              <a:solidFill>
                <a:srgbClr val="000000"/>
              </a:solidFill>
              <a:latin typeface="Arial"/>
              <a:ea typeface="Arial"/>
              <a:cs typeface="Arial"/>
              <a:sym typeface="Arial"/>
            </a:endParaRPr>
          </a:p>
        </p:txBody>
      </p:sp>
      <p:sp>
        <p:nvSpPr>
          <p:cNvPr id="186" name="Google Shape;186;p31"/>
          <p:cNvSpPr/>
          <p:nvPr/>
        </p:nvSpPr>
        <p:spPr>
          <a:xfrm>
            <a:off x="7414379" y="2848451"/>
            <a:ext cx="6422213" cy="22860"/>
          </a:xfrm>
          <a:custGeom>
            <a:rect b="b" l="l" r="r" t="t"/>
            <a:pathLst>
              <a:path extrusionOk="0" h="38100" w="10703687">
                <a:moveTo>
                  <a:pt x="0" y="0"/>
                </a:moveTo>
                <a:lnTo>
                  <a:pt x="10703687" y="0"/>
                </a:lnTo>
                <a:lnTo>
                  <a:pt x="10703687" y="38100"/>
                </a:lnTo>
                <a:lnTo>
                  <a:pt x="0" y="38100"/>
                </a:lnTo>
                <a:close/>
              </a:path>
            </a:pathLst>
          </a:custGeom>
          <a:solidFill>
            <a:srgbClr val="1B1B27"/>
          </a:solidFill>
          <a:ln cap="flat" cmpd="sng" w="12700">
            <a:solidFill>
              <a:srgbClr val="000000"/>
            </a:solidFill>
            <a:prstDash val="solid"/>
            <a:round/>
            <a:headEnd len="sm" w="sm" type="none"/>
            <a:tailEnd len="sm" w="sm" type="none"/>
          </a:ln>
        </p:spPr>
      </p:sp>
      <p:sp>
        <p:nvSpPr>
          <p:cNvPr id="187" name="Google Shape;187;p31"/>
          <p:cNvSpPr txBox="1"/>
          <p:nvPr/>
        </p:nvSpPr>
        <p:spPr>
          <a:xfrm>
            <a:off x="7414374" y="2932390"/>
            <a:ext cx="4069500" cy="37116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Supervised Learning Tasks</a:t>
            </a:r>
            <a:endParaRPr b="0" i="0" sz="1100" u="none" cap="none" strike="noStrike">
              <a:solidFill>
                <a:srgbClr val="000000"/>
              </a:solidFill>
              <a:latin typeface="Arial"/>
              <a:ea typeface="Arial"/>
              <a:cs typeface="Arial"/>
              <a:sym typeface="Arial"/>
            </a:endParaRPr>
          </a:p>
        </p:txBody>
      </p:sp>
      <p:sp>
        <p:nvSpPr>
          <p:cNvPr id="188" name="Google Shape;188;p31"/>
          <p:cNvSpPr txBox="1"/>
          <p:nvPr/>
        </p:nvSpPr>
        <p:spPr>
          <a:xfrm>
            <a:off x="7414379" y="3323511"/>
            <a:ext cx="6422100" cy="677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Designed two prediction tasks—48-hour drug-associated AKI and a broader “any post-drug AKI” outcome.</a:t>
            </a:r>
            <a:endParaRPr b="0" i="0" sz="1100" u="none" cap="none" strike="noStrike">
              <a:solidFill>
                <a:srgbClr val="000000"/>
              </a:solidFill>
              <a:latin typeface="Arial"/>
              <a:ea typeface="Arial"/>
              <a:cs typeface="Arial"/>
              <a:sym typeface="Arial"/>
            </a:endParaRPr>
          </a:p>
        </p:txBody>
      </p:sp>
      <p:sp>
        <p:nvSpPr>
          <p:cNvPr id="189" name="Google Shape;189;p31"/>
          <p:cNvSpPr txBox="1"/>
          <p:nvPr/>
        </p:nvSpPr>
        <p:spPr>
          <a:xfrm>
            <a:off x="793790" y="4608076"/>
            <a:ext cx="198358" cy="362307"/>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Raleway"/>
                <a:ea typeface="Raleway"/>
                <a:cs typeface="Raleway"/>
                <a:sym typeface="Raleway"/>
              </a:rPr>
              <a:t>3</a:t>
            </a:r>
            <a:endParaRPr b="0" i="0" sz="1100" u="none" cap="none" strike="noStrike">
              <a:solidFill>
                <a:srgbClr val="000000"/>
              </a:solidFill>
              <a:latin typeface="Arial"/>
              <a:ea typeface="Arial"/>
              <a:cs typeface="Arial"/>
              <a:sym typeface="Arial"/>
            </a:endParaRPr>
          </a:p>
        </p:txBody>
      </p:sp>
      <p:sp>
        <p:nvSpPr>
          <p:cNvPr id="190" name="Google Shape;190;p31"/>
          <p:cNvSpPr/>
          <p:nvPr/>
        </p:nvSpPr>
        <p:spPr>
          <a:xfrm>
            <a:off x="793790" y="5036701"/>
            <a:ext cx="6422213" cy="22860"/>
          </a:xfrm>
          <a:custGeom>
            <a:rect b="b" l="l" r="r" t="t"/>
            <a:pathLst>
              <a:path extrusionOk="0" h="38100" w="10703687">
                <a:moveTo>
                  <a:pt x="0" y="0"/>
                </a:moveTo>
                <a:lnTo>
                  <a:pt x="10703687" y="0"/>
                </a:lnTo>
                <a:lnTo>
                  <a:pt x="10703687" y="38100"/>
                </a:lnTo>
                <a:lnTo>
                  <a:pt x="0" y="38100"/>
                </a:lnTo>
                <a:close/>
              </a:path>
            </a:pathLst>
          </a:custGeom>
          <a:solidFill>
            <a:srgbClr val="1B1B27"/>
          </a:solidFill>
          <a:ln cap="flat" cmpd="sng" w="12700">
            <a:solidFill>
              <a:srgbClr val="000000"/>
            </a:solidFill>
            <a:prstDash val="solid"/>
            <a:round/>
            <a:headEnd len="sm" w="sm" type="none"/>
            <a:tailEnd len="sm" w="sm" type="none"/>
          </a:ln>
        </p:spPr>
      </p:sp>
      <p:sp>
        <p:nvSpPr>
          <p:cNvPr id="191" name="Google Shape;191;p31"/>
          <p:cNvSpPr txBox="1"/>
          <p:nvPr/>
        </p:nvSpPr>
        <p:spPr>
          <a:xfrm>
            <a:off x="793790" y="5120640"/>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Feature Comparison</a:t>
            </a:r>
            <a:endParaRPr b="0" i="0" sz="1100" u="none" cap="none" strike="noStrike">
              <a:solidFill>
                <a:srgbClr val="000000"/>
              </a:solidFill>
              <a:latin typeface="Arial"/>
              <a:ea typeface="Arial"/>
              <a:cs typeface="Arial"/>
              <a:sym typeface="Arial"/>
            </a:endParaRPr>
          </a:p>
        </p:txBody>
      </p:sp>
      <p:sp>
        <p:nvSpPr>
          <p:cNvPr id="192" name="Google Shape;192;p31"/>
          <p:cNvSpPr txBox="1"/>
          <p:nvPr/>
        </p:nvSpPr>
        <p:spPr>
          <a:xfrm>
            <a:off x="793790" y="5511760"/>
            <a:ext cx="6422100" cy="677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Tested baseline vs. temporally enriched models using rolling labs, vitals, urine output, severity scores, and key clinical interactions.</a:t>
            </a:r>
            <a:endParaRPr b="0" i="0" sz="1100" u="none" cap="none" strike="noStrike">
              <a:solidFill>
                <a:srgbClr val="000000"/>
              </a:solidFill>
              <a:latin typeface="Arial"/>
              <a:ea typeface="Arial"/>
              <a:cs typeface="Arial"/>
              <a:sym typeface="Arial"/>
            </a:endParaRPr>
          </a:p>
        </p:txBody>
      </p:sp>
      <p:sp>
        <p:nvSpPr>
          <p:cNvPr id="193" name="Google Shape;193;p31"/>
          <p:cNvSpPr txBox="1"/>
          <p:nvPr/>
        </p:nvSpPr>
        <p:spPr>
          <a:xfrm>
            <a:off x="7414379" y="4608076"/>
            <a:ext cx="198358" cy="362307"/>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Raleway"/>
                <a:ea typeface="Raleway"/>
                <a:cs typeface="Raleway"/>
                <a:sym typeface="Raleway"/>
              </a:rPr>
              <a:t>4</a:t>
            </a:r>
            <a:endParaRPr b="0" i="0" sz="1100" u="none" cap="none" strike="noStrike">
              <a:solidFill>
                <a:srgbClr val="000000"/>
              </a:solidFill>
              <a:latin typeface="Arial"/>
              <a:ea typeface="Arial"/>
              <a:cs typeface="Arial"/>
              <a:sym typeface="Arial"/>
            </a:endParaRPr>
          </a:p>
        </p:txBody>
      </p:sp>
      <p:sp>
        <p:nvSpPr>
          <p:cNvPr id="194" name="Google Shape;194;p31"/>
          <p:cNvSpPr/>
          <p:nvPr/>
        </p:nvSpPr>
        <p:spPr>
          <a:xfrm>
            <a:off x="7414379" y="5036701"/>
            <a:ext cx="6422213" cy="22860"/>
          </a:xfrm>
          <a:custGeom>
            <a:rect b="b" l="l" r="r" t="t"/>
            <a:pathLst>
              <a:path extrusionOk="0" h="38100" w="10703687">
                <a:moveTo>
                  <a:pt x="0" y="0"/>
                </a:moveTo>
                <a:lnTo>
                  <a:pt x="10703687" y="0"/>
                </a:lnTo>
                <a:lnTo>
                  <a:pt x="10703687" y="38100"/>
                </a:lnTo>
                <a:lnTo>
                  <a:pt x="0" y="38100"/>
                </a:lnTo>
                <a:close/>
              </a:path>
            </a:pathLst>
          </a:custGeom>
          <a:solidFill>
            <a:srgbClr val="1B1B27"/>
          </a:solidFill>
          <a:ln cap="flat" cmpd="sng" w="12700">
            <a:solidFill>
              <a:srgbClr val="000000"/>
            </a:solidFill>
            <a:prstDash val="solid"/>
            <a:round/>
            <a:headEnd len="sm" w="sm" type="none"/>
            <a:tailEnd len="sm" w="sm" type="none"/>
          </a:ln>
        </p:spPr>
      </p:sp>
      <p:sp>
        <p:nvSpPr>
          <p:cNvPr id="195" name="Google Shape;195;p31"/>
          <p:cNvSpPr txBox="1"/>
          <p:nvPr/>
        </p:nvSpPr>
        <p:spPr>
          <a:xfrm>
            <a:off x="7414379" y="5120640"/>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Clinical Interpretation</a:t>
            </a:r>
            <a:endParaRPr b="0" i="0" sz="1100" u="none" cap="none" strike="noStrike">
              <a:solidFill>
                <a:srgbClr val="000000"/>
              </a:solidFill>
              <a:latin typeface="Arial"/>
              <a:ea typeface="Arial"/>
              <a:cs typeface="Arial"/>
              <a:sym typeface="Arial"/>
            </a:endParaRPr>
          </a:p>
        </p:txBody>
      </p:sp>
      <p:sp>
        <p:nvSpPr>
          <p:cNvPr id="196" name="Google Shape;196;p31"/>
          <p:cNvSpPr txBox="1"/>
          <p:nvPr/>
        </p:nvSpPr>
        <p:spPr>
          <a:xfrm>
            <a:off x="7414379" y="5511760"/>
            <a:ext cx="6422100" cy="677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Assessed models with PR-AUC and threshold metrics, and used SHAP for clinically meaningful explanations.</a:t>
            </a:r>
            <a:endParaRPr b="0" i="0" sz="1100" u="none" cap="none" strike="noStrike">
              <a:solidFill>
                <a:srgbClr val="000000"/>
              </a:solidFill>
              <a:latin typeface="Arial"/>
              <a:ea typeface="Arial"/>
              <a:cs typeface="Arial"/>
              <a:sym typeface="Arial"/>
            </a:endParaRPr>
          </a:p>
        </p:txBody>
      </p:sp>
      <p:sp>
        <p:nvSpPr>
          <p:cNvPr id="197" name="Google Shape;197;p31"/>
          <p:cNvSpPr txBox="1"/>
          <p:nvPr/>
        </p:nvSpPr>
        <p:spPr>
          <a:xfrm>
            <a:off x="793829" y="2364001"/>
            <a:ext cx="198300" cy="3624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Raleway"/>
                <a:ea typeface="Raleway"/>
                <a:cs typeface="Raleway"/>
                <a:sym typeface="Raleway"/>
              </a:rPr>
              <a:t>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descr="preencoded.png" id="206" name="Google Shape;206;p32"/>
          <p:cNvSpPr/>
          <p:nvPr/>
        </p:nvSpPr>
        <p:spPr>
          <a:xfrm>
            <a:off x="0" y="0"/>
            <a:ext cx="5486400" cy="8229600"/>
          </a:xfrm>
          <a:custGeom>
            <a:rect b="b" l="l" r="r" t="t"/>
            <a:pathLst>
              <a:path extrusionOk="0" h="13716000" w="9144000">
                <a:moveTo>
                  <a:pt x="0" y="0"/>
                </a:moveTo>
                <a:lnTo>
                  <a:pt x="9144000" y="0"/>
                </a:lnTo>
                <a:lnTo>
                  <a:pt x="9144000" y="13716000"/>
                </a:lnTo>
                <a:lnTo>
                  <a:pt x="0" y="13716000"/>
                </a:lnTo>
                <a:lnTo>
                  <a:pt x="0" y="0"/>
                </a:lnTo>
                <a:close/>
              </a:path>
            </a:pathLst>
          </a:custGeom>
          <a:blipFill rotWithShape="1">
            <a:blip r:embed="rId3">
              <a:alphaModFix/>
            </a:blip>
            <a:stretch>
              <a:fillRect b="0" l="0" r="0" t="0"/>
            </a:stretch>
          </a:blipFill>
          <a:ln>
            <a:noFill/>
          </a:ln>
        </p:spPr>
      </p:sp>
      <p:sp>
        <p:nvSpPr>
          <p:cNvPr id="207" name="Google Shape;207;p32"/>
          <p:cNvSpPr txBox="1"/>
          <p:nvPr/>
        </p:nvSpPr>
        <p:spPr>
          <a:xfrm>
            <a:off x="6280190" y="573935"/>
            <a:ext cx="7556400" cy="1290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Data Source and Cohort Construction</a:t>
            </a:r>
            <a:endParaRPr b="0" i="0" sz="1100" u="none" cap="none" strike="noStrike">
              <a:solidFill>
                <a:srgbClr val="000000"/>
              </a:solidFill>
              <a:latin typeface="Arial"/>
              <a:ea typeface="Arial"/>
              <a:cs typeface="Arial"/>
              <a:sym typeface="Arial"/>
            </a:endParaRPr>
          </a:p>
        </p:txBody>
      </p:sp>
      <p:sp>
        <p:nvSpPr>
          <p:cNvPr id="208" name="Google Shape;208;p32"/>
          <p:cNvSpPr txBox="1"/>
          <p:nvPr/>
        </p:nvSpPr>
        <p:spPr>
          <a:xfrm>
            <a:off x="6280201" y="2605418"/>
            <a:ext cx="32334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1B1B27"/>
                </a:solidFill>
                <a:latin typeface="Raleway"/>
                <a:ea typeface="Raleway"/>
                <a:cs typeface="Raleway"/>
                <a:sym typeface="Raleway"/>
              </a:rPr>
              <a:t>MIMIC-IV v3.1 on BigQuery</a:t>
            </a:r>
            <a:endParaRPr b="1" i="0" sz="1100" u="none" cap="none" strike="noStrike">
              <a:solidFill>
                <a:srgbClr val="000000"/>
              </a:solidFill>
              <a:latin typeface="Arial"/>
              <a:ea typeface="Arial"/>
              <a:cs typeface="Arial"/>
              <a:sym typeface="Arial"/>
            </a:endParaRPr>
          </a:p>
        </p:txBody>
      </p:sp>
      <p:sp>
        <p:nvSpPr>
          <p:cNvPr id="209" name="Google Shape;209;p32"/>
          <p:cNvSpPr txBox="1"/>
          <p:nvPr/>
        </p:nvSpPr>
        <p:spPr>
          <a:xfrm>
            <a:off x="6280200" y="3360868"/>
            <a:ext cx="3674400" cy="1124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All analysis used MIMIC-IV v3.1 on Google BigQuery, pulling from core hospital tables and ICU tables..</a:t>
            </a:r>
            <a:endParaRPr b="0" i="0" sz="1100" u="none" cap="none" strike="noStrike">
              <a:solidFill>
                <a:srgbClr val="000000"/>
              </a:solidFill>
              <a:latin typeface="Arial"/>
              <a:ea typeface="Arial"/>
              <a:cs typeface="Arial"/>
              <a:sym typeface="Arial"/>
            </a:endParaRPr>
          </a:p>
        </p:txBody>
      </p:sp>
      <p:sp>
        <p:nvSpPr>
          <p:cNvPr id="210" name="Google Shape;210;p32"/>
          <p:cNvSpPr txBox="1"/>
          <p:nvPr/>
        </p:nvSpPr>
        <p:spPr>
          <a:xfrm>
            <a:off x="6280190" y="5189395"/>
            <a:ext cx="3536100" cy="11247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All transformations were implemented using SQL views/CREATE OR REPLACE TABLE for fully reproducible pipelines.</a:t>
            </a:r>
            <a:endParaRPr b="0" i="0" sz="1100" u="none" cap="none" strike="noStrike">
              <a:solidFill>
                <a:srgbClr val="000000"/>
              </a:solidFill>
              <a:latin typeface="Arial"/>
              <a:ea typeface="Arial"/>
              <a:cs typeface="Arial"/>
              <a:sym typeface="Arial"/>
            </a:endParaRPr>
          </a:p>
        </p:txBody>
      </p:sp>
      <p:sp>
        <p:nvSpPr>
          <p:cNvPr id="211" name="Google Shape;211;p32"/>
          <p:cNvSpPr txBox="1"/>
          <p:nvPr/>
        </p:nvSpPr>
        <p:spPr>
          <a:xfrm>
            <a:off x="10307411" y="2605418"/>
            <a:ext cx="26565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1B1B27"/>
                </a:solidFill>
                <a:latin typeface="Raleway"/>
                <a:ea typeface="Raleway"/>
                <a:cs typeface="Raleway"/>
                <a:sym typeface="Raleway"/>
              </a:rPr>
              <a:t>Adult ICU Cohort</a:t>
            </a:r>
            <a:endParaRPr b="1" i="0" sz="1100" u="none" cap="none" strike="noStrike">
              <a:solidFill>
                <a:srgbClr val="000000"/>
              </a:solidFill>
              <a:latin typeface="Arial"/>
              <a:ea typeface="Arial"/>
              <a:cs typeface="Arial"/>
              <a:sym typeface="Arial"/>
            </a:endParaRPr>
          </a:p>
        </p:txBody>
      </p:sp>
      <p:sp>
        <p:nvSpPr>
          <p:cNvPr id="212" name="Google Shape;212;p32"/>
          <p:cNvSpPr txBox="1"/>
          <p:nvPr/>
        </p:nvSpPr>
        <p:spPr>
          <a:xfrm>
            <a:off x="10308074" y="3360878"/>
            <a:ext cx="3536100" cy="20184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We constructed an adult ICU cohort including all ICU stays for patients &gt;=18 years at ICU admission. For patients with multiple stays, we kept only the first ICU stay</a:t>
            </a:r>
            <a:endParaRPr b="0" i="0" sz="1100" u="none" cap="none" strike="noStrike">
              <a:solidFill>
                <a:srgbClr val="000000"/>
              </a:solidFill>
              <a:latin typeface="Arial"/>
              <a:ea typeface="Arial"/>
              <a:cs typeface="Arial"/>
              <a:sym typeface="Arial"/>
            </a:endParaRPr>
          </a:p>
        </p:txBody>
      </p:sp>
      <p:sp>
        <p:nvSpPr>
          <p:cNvPr id="213" name="Google Shape;213;p32"/>
          <p:cNvSpPr txBox="1"/>
          <p:nvPr/>
        </p:nvSpPr>
        <p:spPr>
          <a:xfrm>
            <a:off x="10308099" y="5904970"/>
            <a:ext cx="3536100" cy="2310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Final cohort: 65,366 unique ICU stays</a:t>
            </a:r>
            <a:endParaRPr b="0" i="0" sz="1100" u="none" cap="none" strike="noStrike">
              <a:solidFill>
                <a:srgbClr val="000000"/>
              </a:solidFill>
              <a:latin typeface="Arial"/>
              <a:ea typeface="Arial"/>
              <a:cs typeface="Arial"/>
              <a:sym typeface="Arial"/>
            </a:endParaRPr>
          </a:p>
        </p:txBody>
      </p:sp>
      <p:sp>
        <p:nvSpPr>
          <p:cNvPr id="214" name="Google Shape;214;p32"/>
          <p:cNvSpPr/>
          <p:nvPr/>
        </p:nvSpPr>
        <p:spPr>
          <a:xfrm>
            <a:off x="610937" y="238125"/>
            <a:ext cx="4264533" cy="7308495"/>
          </a:xfrm>
          <a:custGeom>
            <a:rect b="b" l="l" r="r" t="t"/>
            <a:pathLst>
              <a:path extrusionOk="0" h="12180824" w="7107555">
                <a:moveTo>
                  <a:pt x="0" y="0"/>
                </a:moveTo>
                <a:lnTo>
                  <a:pt x="7107555" y="0"/>
                </a:lnTo>
                <a:lnTo>
                  <a:pt x="7107555" y="12180824"/>
                </a:lnTo>
                <a:lnTo>
                  <a:pt x="0" y="12180824"/>
                </a:lnTo>
                <a:lnTo>
                  <a:pt x="0" y="0"/>
                </a:lnTo>
                <a:close/>
              </a:path>
            </a:pathLst>
          </a:custGeom>
          <a:blipFill rotWithShape="1">
            <a:blip r:embed="rId4">
              <a:alphaModFix/>
            </a:blip>
            <a:stretch>
              <a:fillRect b="-227" l="0" r="0" t="-227"/>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nvSpPr>
        <p:spPr>
          <a:xfrm>
            <a:off x="510325" y="3420150"/>
            <a:ext cx="3516900" cy="138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DM Sans"/>
                <a:ea typeface="DM Sans"/>
                <a:cs typeface="DM Sans"/>
                <a:sym typeface="DM Sans"/>
              </a:rPr>
              <a:t>Table 1.  Baseline Characteristics of the Enriched ADE Cohort</a:t>
            </a:r>
            <a:endParaRPr b="0" i="0" sz="2300" u="none" cap="none" strike="noStrike">
              <a:solidFill>
                <a:schemeClr val="dk1"/>
              </a:solidFill>
              <a:latin typeface="DM Sans"/>
              <a:ea typeface="DM Sans"/>
              <a:cs typeface="DM Sans"/>
              <a:sym typeface="DM Sans"/>
            </a:endParaRPr>
          </a:p>
        </p:txBody>
      </p:sp>
      <p:pic>
        <p:nvPicPr>
          <p:cNvPr id="224" name="Google Shape;224;p33" title="WhatsApp Image 2025-12-09 at 14.44.23.jpeg"/>
          <p:cNvPicPr preferRelativeResize="0"/>
          <p:nvPr/>
        </p:nvPicPr>
        <p:blipFill rotWithShape="1">
          <a:blip r:embed="rId3">
            <a:alphaModFix/>
          </a:blip>
          <a:srcRect b="11107" l="0" r="0" t="13839"/>
          <a:stretch/>
        </p:blipFill>
        <p:spPr>
          <a:xfrm>
            <a:off x="4702825" y="223950"/>
            <a:ext cx="9734351" cy="77817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descr="preencoded.png" id="233" name="Google Shape;233;p34"/>
          <p:cNvSpPr/>
          <p:nvPr/>
        </p:nvSpPr>
        <p:spPr>
          <a:xfrm>
            <a:off x="0" y="0"/>
            <a:ext cx="5486400" cy="8229600"/>
          </a:xfrm>
          <a:custGeom>
            <a:rect b="b" l="l" r="r" t="t"/>
            <a:pathLst>
              <a:path extrusionOk="0" h="13716000" w="9144000">
                <a:moveTo>
                  <a:pt x="0" y="0"/>
                </a:moveTo>
                <a:lnTo>
                  <a:pt x="9144000" y="0"/>
                </a:lnTo>
                <a:lnTo>
                  <a:pt x="9144000" y="13716000"/>
                </a:lnTo>
                <a:lnTo>
                  <a:pt x="0" y="13716000"/>
                </a:lnTo>
                <a:lnTo>
                  <a:pt x="0" y="0"/>
                </a:lnTo>
                <a:close/>
              </a:path>
            </a:pathLst>
          </a:custGeom>
          <a:blipFill rotWithShape="1">
            <a:blip r:embed="rId3">
              <a:alphaModFix/>
            </a:blip>
            <a:stretch>
              <a:fillRect b="0" l="0" r="0" t="0"/>
            </a:stretch>
          </a:blipFill>
          <a:ln>
            <a:noFill/>
          </a:ln>
        </p:spPr>
      </p:sp>
      <p:sp>
        <p:nvSpPr>
          <p:cNvPr id="234" name="Google Shape;234;p34"/>
          <p:cNvSpPr txBox="1"/>
          <p:nvPr/>
        </p:nvSpPr>
        <p:spPr>
          <a:xfrm>
            <a:off x="6280190" y="610910"/>
            <a:ext cx="7556400" cy="1200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Defining AKI: Full KDIGO 2012 Criteria</a:t>
            </a:r>
            <a:endParaRPr b="0" i="0" sz="1100" u="none" cap="none" strike="noStrike">
              <a:solidFill>
                <a:srgbClr val="000000"/>
              </a:solidFill>
              <a:latin typeface="Arial"/>
              <a:ea typeface="Arial"/>
              <a:cs typeface="Arial"/>
              <a:sym typeface="Arial"/>
            </a:endParaRPr>
          </a:p>
        </p:txBody>
      </p:sp>
      <p:sp>
        <p:nvSpPr>
          <p:cNvPr id="235" name="Google Shape;235;p34"/>
          <p:cNvSpPr txBox="1"/>
          <p:nvPr/>
        </p:nvSpPr>
        <p:spPr>
          <a:xfrm>
            <a:off x="6280190" y="2163961"/>
            <a:ext cx="7556421"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We implemented comprehensive AKI detection using both serum creatinine (SCr) and urine output (UO) criteria, following KDIGO 2012 guidelines.</a:t>
            </a:r>
            <a:endParaRPr b="0" i="0" sz="1100" u="none" cap="none" strike="noStrike">
              <a:solidFill>
                <a:srgbClr val="000000"/>
              </a:solidFill>
              <a:latin typeface="Arial"/>
              <a:ea typeface="Arial"/>
              <a:cs typeface="Arial"/>
              <a:sym typeface="Arial"/>
            </a:endParaRPr>
          </a:p>
        </p:txBody>
      </p:sp>
      <p:sp>
        <p:nvSpPr>
          <p:cNvPr descr="preencoded.png" id="236" name="Google Shape;236;p34"/>
          <p:cNvSpPr/>
          <p:nvPr/>
        </p:nvSpPr>
        <p:spPr>
          <a:xfrm>
            <a:off x="6280190" y="3121343"/>
            <a:ext cx="992277" cy="1460982"/>
          </a:xfrm>
          <a:custGeom>
            <a:rect b="b" l="l" r="r" t="t"/>
            <a:pathLst>
              <a:path extrusionOk="0" h="2434971" w="1653794">
                <a:moveTo>
                  <a:pt x="0" y="0"/>
                </a:moveTo>
                <a:lnTo>
                  <a:pt x="1653794" y="0"/>
                </a:lnTo>
                <a:lnTo>
                  <a:pt x="1653794" y="2434971"/>
                </a:lnTo>
                <a:lnTo>
                  <a:pt x="0" y="2434971"/>
                </a:lnTo>
                <a:lnTo>
                  <a:pt x="0" y="0"/>
                </a:lnTo>
                <a:close/>
              </a:path>
            </a:pathLst>
          </a:custGeom>
          <a:blipFill rotWithShape="1">
            <a:blip r:embed="rId4">
              <a:alphaModFix/>
            </a:blip>
            <a:stretch>
              <a:fillRect b="-305" l="0" r="0" t="0"/>
            </a:stretch>
          </a:blipFill>
          <a:ln>
            <a:noFill/>
          </a:ln>
        </p:spPr>
      </p:sp>
      <p:sp>
        <p:nvSpPr>
          <p:cNvPr id="237" name="Google Shape;237;p34"/>
          <p:cNvSpPr txBox="1"/>
          <p:nvPr/>
        </p:nvSpPr>
        <p:spPr>
          <a:xfrm>
            <a:off x="7470815" y="3258741"/>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Baseline SCr</a:t>
            </a:r>
            <a:endParaRPr b="0" i="0" sz="1100" u="none" cap="none" strike="noStrike">
              <a:solidFill>
                <a:srgbClr val="000000"/>
              </a:solidFill>
              <a:latin typeface="Arial"/>
              <a:ea typeface="Arial"/>
              <a:cs typeface="Arial"/>
              <a:sym typeface="Arial"/>
            </a:endParaRPr>
          </a:p>
        </p:txBody>
      </p:sp>
      <p:sp>
        <p:nvSpPr>
          <p:cNvPr id="238" name="Google Shape;238;p34"/>
          <p:cNvSpPr txBox="1"/>
          <p:nvPr/>
        </p:nvSpPr>
        <p:spPr>
          <a:xfrm>
            <a:off x="7470815" y="3649861"/>
            <a:ext cx="6365796"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Lowest SCr in 7 days prior to ICU admission, or first SCr during hospitalization if unavailable.</a:t>
            </a:r>
            <a:endParaRPr b="0" i="0" sz="1100" u="none" cap="none" strike="noStrike">
              <a:solidFill>
                <a:srgbClr val="000000"/>
              </a:solidFill>
              <a:latin typeface="Arial"/>
              <a:ea typeface="Arial"/>
              <a:cs typeface="Arial"/>
              <a:sym typeface="Arial"/>
            </a:endParaRPr>
          </a:p>
        </p:txBody>
      </p:sp>
      <p:sp>
        <p:nvSpPr>
          <p:cNvPr descr="preencoded.png" id="239" name="Google Shape;239;p34"/>
          <p:cNvSpPr/>
          <p:nvPr/>
        </p:nvSpPr>
        <p:spPr>
          <a:xfrm>
            <a:off x="6280190" y="4582358"/>
            <a:ext cx="992277" cy="1460982"/>
          </a:xfrm>
          <a:custGeom>
            <a:rect b="b" l="l" r="r" t="t"/>
            <a:pathLst>
              <a:path extrusionOk="0" h="2434971" w="1653794">
                <a:moveTo>
                  <a:pt x="0" y="0"/>
                </a:moveTo>
                <a:lnTo>
                  <a:pt x="1653794" y="0"/>
                </a:lnTo>
                <a:lnTo>
                  <a:pt x="1653794" y="2434971"/>
                </a:lnTo>
                <a:lnTo>
                  <a:pt x="0" y="2434971"/>
                </a:lnTo>
                <a:lnTo>
                  <a:pt x="0" y="0"/>
                </a:lnTo>
                <a:close/>
              </a:path>
            </a:pathLst>
          </a:custGeom>
          <a:blipFill rotWithShape="1">
            <a:blip r:embed="rId5">
              <a:alphaModFix/>
            </a:blip>
            <a:stretch>
              <a:fillRect b="-305" l="0" r="0" t="0"/>
            </a:stretch>
          </a:blipFill>
          <a:ln>
            <a:noFill/>
          </a:ln>
        </p:spPr>
      </p:sp>
      <p:sp>
        <p:nvSpPr>
          <p:cNvPr id="240" name="Google Shape;240;p34"/>
          <p:cNvSpPr txBox="1"/>
          <p:nvPr/>
        </p:nvSpPr>
        <p:spPr>
          <a:xfrm>
            <a:off x="7470815" y="4719757"/>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SCr-Based AKI</a:t>
            </a:r>
            <a:endParaRPr b="0" i="0" sz="1100" u="none" cap="none" strike="noStrike">
              <a:solidFill>
                <a:srgbClr val="000000"/>
              </a:solidFill>
              <a:latin typeface="Arial"/>
              <a:ea typeface="Arial"/>
              <a:cs typeface="Arial"/>
              <a:sym typeface="Arial"/>
            </a:endParaRPr>
          </a:p>
        </p:txBody>
      </p:sp>
      <p:sp>
        <p:nvSpPr>
          <p:cNvPr id="241" name="Google Shape;241;p34"/>
          <p:cNvSpPr txBox="1"/>
          <p:nvPr/>
        </p:nvSpPr>
        <p:spPr>
          <a:xfrm>
            <a:off x="7470815" y="5110877"/>
            <a:ext cx="6365796"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Increase ≥0.3 mg/dL within 48 hours, ≥1.5× baseline, ≥2× baseline, or absolute SCr ≥4 mg/dL.</a:t>
            </a:r>
            <a:endParaRPr b="0" i="0" sz="1100" u="none" cap="none" strike="noStrike">
              <a:solidFill>
                <a:srgbClr val="000000"/>
              </a:solidFill>
              <a:latin typeface="Arial"/>
              <a:ea typeface="Arial"/>
              <a:cs typeface="Arial"/>
              <a:sym typeface="Arial"/>
            </a:endParaRPr>
          </a:p>
        </p:txBody>
      </p:sp>
      <p:sp>
        <p:nvSpPr>
          <p:cNvPr descr="preencoded.png" id="242" name="Google Shape;242;p34"/>
          <p:cNvSpPr/>
          <p:nvPr/>
        </p:nvSpPr>
        <p:spPr>
          <a:xfrm>
            <a:off x="6280190" y="6043374"/>
            <a:ext cx="992277" cy="1460982"/>
          </a:xfrm>
          <a:custGeom>
            <a:rect b="b" l="l" r="r" t="t"/>
            <a:pathLst>
              <a:path extrusionOk="0" h="2434971" w="1653794">
                <a:moveTo>
                  <a:pt x="0" y="0"/>
                </a:moveTo>
                <a:lnTo>
                  <a:pt x="1653794" y="0"/>
                </a:lnTo>
                <a:lnTo>
                  <a:pt x="1653794" y="2434971"/>
                </a:lnTo>
                <a:lnTo>
                  <a:pt x="0" y="2434971"/>
                </a:lnTo>
                <a:lnTo>
                  <a:pt x="0" y="0"/>
                </a:lnTo>
                <a:close/>
              </a:path>
            </a:pathLst>
          </a:custGeom>
          <a:blipFill rotWithShape="1">
            <a:blip r:embed="rId6">
              <a:alphaModFix/>
            </a:blip>
            <a:stretch>
              <a:fillRect b="-305" l="0" r="0" t="0"/>
            </a:stretch>
          </a:blipFill>
          <a:ln>
            <a:noFill/>
          </a:ln>
        </p:spPr>
      </p:sp>
      <p:sp>
        <p:nvSpPr>
          <p:cNvPr id="243" name="Google Shape;243;p34"/>
          <p:cNvSpPr txBox="1"/>
          <p:nvPr/>
        </p:nvSpPr>
        <p:spPr>
          <a:xfrm>
            <a:off x="7470815" y="6180773"/>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UO-Based AKI</a:t>
            </a:r>
            <a:endParaRPr b="0" i="0" sz="1100" u="none" cap="none" strike="noStrike">
              <a:solidFill>
                <a:srgbClr val="000000"/>
              </a:solidFill>
              <a:latin typeface="Arial"/>
              <a:ea typeface="Arial"/>
              <a:cs typeface="Arial"/>
              <a:sym typeface="Arial"/>
            </a:endParaRPr>
          </a:p>
        </p:txBody>
      </p:sp>
      <p:sp>
        <p:nvSpPr>
          <p:cNvPr id="244" name="Google Shape;244;p34"/>
          <p:cNvSpPr txBox="1"/>
          <p:nvPr/>
        </p:nvSpPr>
        <p:spPr>
          <a:xfrm>
            <a:off x="7470815" y="6571893"/>
            <a:ext cx="6365796"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Urine output &lt;0.5 mL/kg/hr for ≥6 or ≥12 hours, &lt;0.3 mL/kg/hr for ≥24 hours, or anuria for ≥12 hours.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p:nvPr/>
        </p:nvSpPr>
        <p:spPr>
          <a:xfrm>
            <a:off x="0" y="0"/>
            <a:ext cx="14630400" cy="8229600"/>
          </a:xfrm>
          <a:custGeom>
            <a:rect b="b" l="l" r="r" t="t"/>
            <a:pathLst>
              <a:path extrusionOk="0" h="13716000" w="24384000">
                <a:moveTo>
                  <a:pt x="0" y="0"/>
                </a:moveTo>
                <a:lnTo>
                  <a:pt x="24384000" y="0"/>
                </a:lnTo>
                <a:lnTo>
                  <a:pt x="24384000" y="13716000"/>
                </a:lnTo>
                <a:lnTo>
                  <a:pt x="0" y="13716000"/>
                </a:lnTo>
                <a:close/>
              </a:path>
            </a:pathLst>
          </a:custGeom>
          <a:solidFill>
            <a:srgbClr val="ECECF3"/>
          </a:solidFill>
          <a:ln cap="flat" cmpd="sng" w="12700">
            <a:solidFill>
              <a:srgbClr val="000000"/>
            </a:solidFill>
            <a:prstDash val="solid"/>
            <a:round/>
            <a:headEnd len="sm" w="sm" type="none"/>
            <a:tailEnd len="sm" w="sm" type="none"/>
          </a:ln>
        </p:spPr>
      </p:sp>
      <p:sp>
        <p:nvSpPr>
          <p:cNvPr id="254" name="Google Shape;254;p35"/>
          <p:cNvSpPr/>
          <p:nvPr/>
        </p:nvSpPr>
        <p:spPr>
          <a:xfrm>
            <a:off x="0" y="0"/>
            <a:ext cx="14630400" cy="8229600"/>
          </a:xfrm>
          <a:custGeom>
            <a:rect b="b" l="l" r="r" t="t"/>
            <a:pathLst>
              <a:path extrusionOk="0" h="13716000" w="24384000">
                <a:moveTo>
                  <a:pt x="0" y="0"/>
                </a:moveTo>
                <a:lnTo>
                  <a:pt x="24384000" y="0"/>
                </a:lnTo>
                <a:lnTo>
                  <a:pt x="24384000" y="13716000"/>
                </a:lnTo>
                <a:lnTo>
                  <a:pt x="0" y="13716000"/>
                </a:lnTo>
                <a:close/>
              </a:path>
            </a:pathLst>
          </a:custGeom>
          <a:solidFill>
            <a:srgbClr val="EFF2FF">
              <a:alpha val="89019"/>
            </a:srgbClr>
          </a:solidFill>
          <a:ln cap="flat" cmpd="sng" w="12700">
            <a:solidFill>
              <a:srgbClr val="000000"/>
            </a:solidFill>
            <a:prstDash val="solid"/>
            <a:round/>
            <a:headEnd len="sm" w="sm" type="none"/>
            <a:tailEnd len="sm" w="sm" type="none"/>
          </a:ln>
        </p:spPr>
      </p:sp>
      <p:sp>
        <p:nvSpPr>
          <p:cNvPr id="255" name="Google Shape;255;p35"/>
          <p:cNvSpPr txBox="1"/>
          <p:nvPr/>
        </p:nvSpPr>
        <p:spPr>
          <a:xfrm>
            <a:off x="793802" y="1115500"/>
            <a:ext cx="77619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Nephrotoxic Drug Exposures</a:t>
            </a:r>
            <a:endParaRPr b="0" i="0" sz="1100" u="none" cap="none" strike="noStrike">
              <a:solidFill>
                <a:srgbClr val="000000"/>
              </a:solidFill>
              <a:latin typeface="Arial"/>
              <a:ea typeface="Arial"/>
              <a:cs typeface="Arial"/>
              <a:sym typeface="Arial"/>
            </a:endParaRPr>
          </a:p>
        </p:txBody>
      </p:sp>
      <p:sp>
        <p:nvSpPr>
          <p:cNvPr id="256" name="Google Shape;256;p35"/>
          <p:cNvSpPr txBox="1"/>
          <p:nvPr/>
        </p:nvSpPr>
        <p:spPr>
          <a:xfrm>
            <a:off x="793790" y="2147649"/>
            <a:ext cx="13042821" cy="32766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We focused on five nephrotoxic drug classes, using prescriptions and ICU timing to define exposures spanning ICU stay ±1 day.</a:t>
            </a:r>
            <a:endParaRPr b="0" i="0" sz="1100" u="none" cap="none" strike="noStrike">
              <a:solidFill>
                <a:srgbClr val="000000"/>
              </a:solidFill>
              <a:latin typeface="Arial"/>
              <a:ea typeface="Arial"/>
              <a:cs typeface="Arial"/>
              <a:sym typeface="Arial"/>
            </a:endParaRPr>
          </a:p>
        </p:txBody>
      </p:sp>
      <p:sp>
        <p:nvSpPr>
          <p:cNvPr id="257" name="Google Shape;257;p35"/>
          <p:cNvSpPr txBox="1"/>
          <p:nvPr/>
        </p:nvSpPr>
        <p:spPr>
          <a:xfrm>
            <a:off x="793790" y="2879050"/>
            <a:ext cx="3074670" cy="662583"/>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5100"/>
              <a:buFont typeface="Arial"/>
              <a:buNone/>
            </a:pPr>
            <a:r>
              <a:rPr b="0" i="0" lang="en-US" sz="5100" u="none" cap="none" strike="noStrike">
                <a:solidFill>
                  <a:srgbClr val="3C3939"/>
                </a:solidFill>
                <a:latin typeface="Raleway"/>
                <a:ea typeface="Raleway"/>
                <a:cs typeface="Raleway"/>
                <a:sym typeface="Raleway"/>
              </a:rPr>
              <a:t>25,384</a:t>
            </a:r>
            <a:endParaRPr b="0" i="0" sz="1100" u="none" cap="none" strike="noStrike">
              <a:solidFill>
                <a:srgbClr val="000000"/>
              </a:solidFill>
              <a:latin typeface="Arial"/>
              <a:ea typeface="Arial"/>
              <a:cs typeface="Arial"/>
              <a:sym typeface="Arial"/>
            </a:endParaRPr>
          </a:p>
        </p:txBody>
      </p:sp>
      <p:sp>
        <p:nvSpPr>
          <p:cNvPr id="258" name="Google Shape;258;p35"/>
          <p:cNvSpPr txBox="1"/>
          <p:nvPr/>
        </p:nvSpPr>
        <p:spPr>
          <a:xfrm>
            <a:off x="1090613" y="3728680"/>
            <a:ext cx="2480905" cy="371118"/>
          </a:xfrm>
          <a:prstGeom prst="rect">
            <a:avLst/>
          </a:prstGeom>
          <a:noFill/>
          <a:ln>
            <a:noFill/>
          </a:ln>
        </p:spPr>
        <p:txBody>
          <a:bodyPr anchorCtr="0" anchor="t" bIns="0" lIns="0" spcFirstLastPara="1" rIns="0" wrap="square" tIns="0">
            <a:spAutoFit/>
          </a:bodyPr>
          <a:lstStyle/>
          <a:p>
            <a:pPr indent="0" lvl="0" marL="0" marR="0" rtl="0" algn="ctr">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Vancomycin</a:t>
            </a:r>
            <a:endParaRPr b="0" i="0" sz="1100" u="none" cap="none" strike="noStrike">
              <a:solidFill>
                <a:srgbClr val="000000"/>
              </a:solidFill>
              <a:latin typeface="Arial"/>
              <a:ea typeface="Arial"/>
              <a:cs typeface="Arial"/>
              <a:sym typeface="Arial"/>
            </a:endParaRPr>
          </a:p>
        </p:txBody>
      </p:sp>
      <p:sp>
        <p:nvSpPr>
          <p:cNvPr id="259" name="Google Shape;259;p35"/>
          <p:cNvSpPr txBox="1"/>
          <p:nvPr/>
        </p:nvSpPr>
        <p:spPr>
          <a:xfrm>
            <a:off x="793790" y="4119801"/>
            <a:ext cx="3074670" cy="701041"/>
          </a:xfrm>
          <a:prstGeom prst="rect">
            <a:avLst/>
          </a:prstGeom>
          <a:noFill/>
          <a:ln>
            <a:noFill/>
          </a:ln>
        </p:spPr>
        <p:txBody>
          <a:bodyPr anchorCtr="0" anchor="t" bIns="0" lIns="0" spcFirstLastPara="1" rIns="0" wrap="square" tIns="0">
            <a:spAutoFit/>
          </a:bodyPr>
          <a:lstStyle/>
          <a:p>
            <a:pPr indent="0" lvl="0" marL="0" marR="0" rtl="0" algn="ctr">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Most common nephrotoxic antibiotic exposure</a:t>
            </a:r>
            <a:endParaRPr b="0" i="0" sz="1100" u="none" cap="none" strike="noStrike">
              <a:solidFill>
                <a:srgbClr val="000000"/>
              </a:solidFill>
              <a:latin typeface="Arial"/>
              <a:ea typeface="Arial"/>
              <a:cs typeface="Arial"/>
              <a:sym typeface="Arial"/>
            </a:endParaRPr>
          </a:p>
        </p:txBody>
      </p:sp>
      <p:sp>
        <p:nvSpPr>
          <p:cNvPr id="260" name="Google Shape;260;p35"/>
          <p:cNvSpPr txBox="1"/>
          <p:nvPr/>
        </p:nvSpPr>
        <p:spPr>
          <a:xfrm>
            <a:off x="4116467" y="2879050"/>
            <a:ext cx="3074670" cy="662583"/>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5100"/>
              <a:buFont typeface="Arial"/>
              <a:buNone/>
            </a:pPr>
            <a:r>
              <a:rPr b="0" i="0" lang="en-US" sz="5100" u="none" cap="none" strike="noStrike">
                <a:solidFill>
                  <a:srgbClr val="3C3939"/>
                </a:solidFill>
                <a:latin typeface="Raleway"/>
                <a:ea typeface="Raleway"/>
                <a:cs typeface="Raleway"/>
                <a:sym typeface="Raleway"/>
              </a:rPr>
              <a:t>27,897</a:t>
            </a:r>
            <a:endParaRPr b="0" i="0" sz="1100" u="none" cap="none" strike="noStrike">
              <a:solidFill>
                <a:srgbClr val="000000"/>
              </a:solidFill>
              <a:latin typeface="Arial"/>
              <a:ea typeface="Arial"/>
              <a:cs typeface="Arial"/>
              <a:sym typeface="Arial"/>
            </a:endParaRPr>
          </a:p>
        </p:txBody>
      </p:sp>
      <p:sp>
        <p:nvSpPr>
          <p:cNvPr id="261" name="Google Shape;261;p35"/>
          <p:cNvSpPr txBox="1"/>
          <p:nvPr/>
        </p:nvSpPr>
        <p:spPr>
          <a:xfrm>
            <a:off x="4413290" y="3728680"/>
            <a:ext cx="2480905" cy="371118"/>
          </a:xfrm>
          <a:prstGeom prst="rect">
            <a:avLst/>
          </a:prstGeom>
          <a:noFill/>
          <a:ln>
            <a:noFill/>
          </a:ln>
        </p:spPr>
        <p:txBody>
          <a:bodyPr anchorCtr="0" anchor="t" bIns="0" lIns="0" spcFirstLastPara="1" rIns="0" wrap="square" tIns="0">
            <a:spAutoFit/>
          </a:bodyPr>
          <a:lstStyle/>
          <a:p>
            <a:pPr indent="0" lvl="0" marL="0" marR="0" rtl="0" algn="ctr">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Loop Diuretics</a:t>
            </a:r>
            <a:endParaRPr b="0" i="0" sz="1100" u="none" cap="none" strike="noStrike">
              <a:solidFill>
                <a:srgbClr val="000000"/>
              </a:solidFill>
              <a:latin typeface="Arial"/>
              <a:ea typeface="Arial"/>
              <a:cs typeface="Arial"/>
              <a:sym typeface="Arial"/>
            </a:endParaRPr>
          </a:p>
        </p:txBody>
      </p:sp>
      <p:sp>
        <p:nvSpPr>
          <p:cNvPr id="262" name="Google Shape;262;p35"/>
          <p:cNvSpPr txBox="1"/>
          <p:nvPr/>
        </p:nvSpPr>
        <p:spPr>
          <a:xfrm>
            <a:off x="4116467" y="4119801"/>
            <a:ext cx="3074670" cy="327661"/>
          </a:xfrm>
          <a:prstGeom prst="rect">
            <a:avLst/>
          </a:prstGeom>
          <a:noFill/>
          <a:ln>
            <a:noFill/>
          </a:ln>
        </p:spPr>
        <p:txBody>
          <a:bodyPr anchorCtr="0" anchor="t" bIns="0" lIns="0" spcFirstLastPara="1" rIns="0" wrap="square" tIns="0">
            <a:spAutoFit/>
          </a:bodyPr>
          <a:lstStyle/>
          <a:p>
            <a:pPr indent="0" lvl="0" marL="0" marR="0" rtl="0" algn="ctr">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Highest overall exposure count</a:t>
            </a:r>
            <a:endParaRPr b="0" i="0" sz="1100" u="none" cap="none" strike="noStrike">
              <a:solidFill>
                <a:srgbClr val="000000"/>
              </a:solidFill>
              <a:latin typeface="Arial"/>
              <a:ea typeface="Arial"/>
              <a:cs typeface="Arial"/>
              <a:sym typeface="Arial"/>
            </a:endParaRPr>
          </a:p>
        </p:txBody>
      </p:sp>
      <p:sp>
        <p:nvSpPr>
          <p:cNvPr id="263" name="Google Shape;263;p35"/>
          <p:cNvSpPr txBox="1"/>
          <p:nvPr/>
        </p:nvSpPr>
        <p:spPr>
          <a:xfrm>
            <a:off x="7439144" y="2879050"/>
            <a:ext cx="3074670" cy="662583"/>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5100"/>
              <a:buFont typeface="Arial"/>
              <a:buNone/>
            </a:pPr>
            <a:r>
              <a:rPr b="0" i="0" lang="en-US" sz="5100" u="none" cap="none" strike="noStrike">
                <a:solidFill>
                  <a:srgbClr val="3C3939"/>
                </a:solidFill>
                <a:latin typeface="Raleway"/>
                <a:ea typeface="Raleway"/>
                <a:cs typeface="Raleway"/>
                <a:sym typeface="Raleway"/>
              </a:rPr>
              <a:t>18,755</a:t>
            </a:r>
            <a:endParaRPr b="0" i="0" sz="1100" u="none" cap="none" strike="noStrike">
              <a:solidFill>
                <a:srgbClr val="000000"/>
              </a:solidFill>
              <a:latin typeface="Arial"/>
              <a:ea typeface="Arial"/>
              <a:cs typeface="Arial"/>
              <a:sym typeface="Arial"/>
            </a:endParaRPr>
          </a:p>
        </p:txBody>
      </p:sp>
      <p:sp>
        <p:nvSpPr>
          <p:cNvPr id="264" name="Google Shape;264;p35"/>
          <p:cNvSpPr txBox="1"/>
          <p:nvPr/>
        </p:nvSpPr>
        <p:spPr>
          <a:xfrm>
            <a:off x="7735967" y="3728680"/>
            <a:ext cx="2480905" cy="371118"/>
          </a:xfrm>
          <a:prstGeom prst="rect">
            <a:avLst/>
          </a:prstGeom>
          <a:noFill/>
          <a:ln>
            <a:noFill/>
          </a:ln>
        </p:spPr>
        <p:txBody>
          <a:bodyPr anchorCtr="0" anchor="t" bIns="0" lIns="0" spcFirstLastPara="1" rIns="0" wrap="square" tIns="0">
            <a:spAutoFit/>
          </a:bodyPr>
          <a:lstStyle/>
          <a:p>
            <a:pPr indent="0" lvl="0" marL="0" marR="0" rtl="0" algn="ctr">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ACE/ARBs</a:t>
            </a:r>
            <a:endParaRPr b="0" i="0" sz="1100" u="none" cap="none" strike="noStrike">
              <a:solidFill>
                <a:srgbClr val="000000"/>
              </a:solidFill>
              <a:latin typeface="Arial"/>
              <a:ea typeface="Arial"/>
              <a:cs typeface="Arial"/>
              <a:sym typeface="Arial"/>
            </a:endParaRPr>
          </a:p>
        </p:txBody>
      </p:sp>
      <p:sp>
        <p:nvSpPr>
          <p:cNvPr id="265" name="Google Shape;265;p35"/>
          <p:cNvSpPr txBox="1"/>
          <p:nvPr/>
        </p:nvSpPr>
        <p:spPr>
          <a:xfrm>
            <a:off x="7439144" y="4119801"/>
            <a:ext cx="3074670" cy="701041"/>
          </a:xfrm>
          <a:prstGeom prst="rect">
            <a:avLst/>
          </a:prstGeom>
          <a:noFill/>
          <a:ln>
            <a:noFill/>
          </a:ln>
        </p:spPr>
        <p:txBody>
          <a:bodyPr anchorCtr="0" anchor="t" bIns="0" lIns="0" spcFirstLastPara="1" rIns="0" wrap="square" tIns="0">
            <a:spAutoFit/>
          </a:bodyPr>
          <a:lstStyle/>
          <a:p>
            <a:pPr indent="0" lvl="0" marL="0" marR="0" rtl="0" algn="ctr">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Common cardiovascular medications</a:t>
            </a:r>
            <a:endParaRPr b="0" i="0" sz="1100" u="none" cap="none" strike="noStrike">
              <a:solidFill>
                <a:srgbClr val="000000"/>
              </a:solidFill>
              <a:latin typeface="Arial"/>
              <a:ea typeface="Arial"/>
              <a:cs typeface="Arial"/>
              <a:sym typeface="Arial"/>
            </a:endParaRPr>
          </a:p>
        </p:txBody>
      </p:sp>
      <p:sp>
        <p:nvSpPr>
          <p:cNvPr id="266" name="Google Shape;266;p35"/>
          <p:cNvSpPr txBox="1"/>
          <p:nvPr/>
        </p:nvSpPr>
        <p:spPr>
          <a:xfrm>
            <a:off x="10761821" y="2879050"/>
            <a:ext cx="3074789" cy="662583"/>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5100"/>
              <a:buFont typeface="Arial"/>
              <a:buNone/>
            </a:pPr>
            <a:r>
              <a:rPr b="0" i="0" lang="en-US" sz="5100" u="none" cap="none" strike="noStrike">
                <a:solidFill>
                  <a:srgbClr val="3C3939"/>
                </a:solidFill>
                <a:latin typeface="Raleway"/>
                <a:ea typeface="Raleway"/>
                <a:cs typeface="Raleway"/>
                <a:sym typeface="Raleway"/>
              </a:rPr>
              <a:t>9,742</a:t>
            </a:r>
            <a:endParaRPr b="0" i="0" sz="1100" u="none" cap="none" strike="noStrike">
              <a:solidFill>
                <a:srgbClr val="000000"/>
              </a:solidFill>
              <a:latin typeface="Arial"/>
              <a:ea typeface="Arial"/>
              <a:cs typeface="Arial"/>
              <a:sym typeface="Arial"/>
            </a:endParaRPr>
          </a:p>
        </p:txBody>
      </p:sp>
      <p:sp>
        <p:nvSpPr>
          <p:cNvPr id="267" name="Google Shape;267;p35"/>
          <p:cNvSpPr txBox="1"/>
          <p:nvPr/>
        </p:nvSpPr>
        <p:spPr>
          <a:xfrm>
            <a:off x="11058763" y="3728680"/>
            <a:ext cx="2480905" cy="371118"/>
          </a:xfrm>
          <a:prstGeom prst="rect">
            <a:avLst/>
          </a:prstGeom>
          <a:noFill/>
          <a:ln>
            <a:noFill/>
          </a:ln>
        </p:spPr>
        <p:txBody>
          <a:bodyPr anchorCtr="0" anchor="t" bIns="0" lIns="0" spcFirstLastPara="1" rIns="0" wrap="square" tIns="0">
            <a:spAutoFit/>
          </a:bodyPr>
          <a:lstStyle/>
          <a:p>
            <a:pPr indent="0" lvl="0" marL="0" marR="0" rtl="0" algn="ctr">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NSAIDs</a:t>
            </a:r>
            <a:endParaRPr b="0" i="0" sz="1100" u="none" cap="none" strike="noStrike">
              <a:solidFill>
                <a:srgbClr val="000000"/>
              </a:solidFill>
              <a:latin typeface="Arial"/>
              <a:ea typeface="Arial"/>
              <a:cs typeface="Arial"/>
              <a:sym typeface="Arial"/>
            </a:endParaRPr>
          </a:p>
        </p:txBody>
      </p:sp>
      <p:sp>
        <p:nvSpPr>
          <p:cNvPr id="268" name="Google Shape;268;p35"/>
          <p:cNvSpPr txBox="1"/>
          <p:nvPr/>
        </p:nvSpPr>
        <p:spPr>
          <a:xfrm>
            <a:off x="10761821" y="4119801"/>
            <a:ext cx="3074789" cy="327661"/>
          </a:xfrm>
          <a:prstGeom prst="rect">
            <a:avLst/>
          </a:prstGeom>
          <a:noFill/>
          <a:ln>
            <a:noFill/>
          </a:ln>
        </p:spPr>
        <p:txBody>
          <a:bodyPr anchorCtr="0" anchor="t" bIns="0" lIns="0" spcFirstLastPara="1" rIns="0" wrap="square" tIns="0">
            <a:spAutoFit/>
          </a:bodyPr>
          <a:lstStyle/>
          <a:p>
            <a:pPr indent="0" lvl="0" marL="0" marR="0" rtl="0" algn="ctr">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Frequently used analgesics</a:t>
            </a:r>
            <a:endParaRPr b="0" i="0" sz="1100" u="none" cap="none" strike="noStrike">
              <a:solidFill>
                <a:srgbClr val="000000"/>
              </a:solidFill>
              <a:latin typeface="Arial"/>
              <a:ea typeface="Arial"/>
              <a:cs typeface="Arial"/>
              <a:sym typeface="Arial"/>
            </a:endParaRPr>
          </a:p>
        </p:txBody>
      </p:sp>
      <p:sp>
        <p:nvSpPr>
          <p:cNvPr id="269" name="Google Shape;269;p35"/>
          <p:cNvSpPr txBox="1"/>
          <p:nvPr/>
        </p:nvSpPr>
        <p:spPr>
          <a:xfrm>
            <a:off x="5777746" y="5342334"/>
            <a:ext cx="3074789" cy="662583"/>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5100"/>
              <a:buFont typeface="Arial"/>
              <a:buNone/>
            </a:pPr>
            <a:r>
              <a:rPr b="0" i="0" lang="en-US" sz="5100" u="none" cap="none" strike="noStrike">
                <a:solidFill>
                  <a:srgbClr val="3C3939"/>
                </a:solidFill>
                <a:latin typeface="Raleway"/>
                <a:ea typeface="Raleway"/>
                <a:cs typeface="Raleway"/>
                <a:sym typeface="Raleway"/>
              </a:rPr>
              <a:t>1,726</a:t>
            </a:r>
            <a:endParaRPr b="0" i="0" sz="1100" u="none" cap="none" strike="noStrike">
              <a:solidFill>
                <a:srgbClr val="000000"/>
              </a:solidFill>
              <a:latin typeface="Arial"/>
              <a:ea typeface="Arial"/>
              <a:cs typeface="Arial"/>
              <a:sym typeface="Arial"/>
            </a:endParaRPr>
          </a:p>
        </p:txBody>
      </p:sp>
      <p:sp>
        <p:nvSpPr>
          <p:cNvPr id="270" name="Google Shape;270;p35"/>
          <p:cNvSpPr txBox="1"/>
          <p:nvPr/>
        </p:nvSpPr>
        <p:spPr>
          <a:xfrm>
            <a:off x="6074688" y="6191964"/>
            <a:ext cx="2480905" cy="371118"/>
          </a:xfrm>
          <a:prstGeom prst="rect">
            <a:avLst/>
          </a:prstGeom>
          <a:noFill/>
          <a:ln>
            <a:noFill/>
          </a:ln>
        </p:spPr>
        <p:txBody>
          <a:bodyPr anchorCtr="0" anchor="t" bIns="0" lIns="0" spcFirstLastPara="1" rIns="0" wrap="square" tIns="0">
            <a:spAutoFit/>
          </a:bodyPr>
          <a:lstStyle/>
          <a:p>
            <a:pPr indent="0" lvl="0" marL="0" marR="0" rtl="0" algn="ctr">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Aminoglycosides</a:t>
            </a:r>
            <a:endParaRPr b="0" i="0" sz="1100" u="none" cap="none" strike="noStrike">
              <a:solidFill>
                <a:srgbClr val="000000"/>
              </a:solidFill>
              <a:latin typeface="Arial"/>
              <a:ea typeface="Arial"/>
              <a:cs typeface="Arial"/>
              <a:sym typeface="Arial"/>
            </a:endParaRPr>
          </a:p>
        </p:txBody>
      </p:sp>
      <p:sp>
        <p:nvSpPr>
          <p:cNvPr id="271" name="Google Shape;271;p35"/>
          <p:cNvSpPr txBox="1"/>
          <p:nvPr/>
        </p:nvSpPr>
        <p:spPr>
          <a:xfrm>
            <a:off x="5777746" y="6583085"/>
            <a:ext cx="3074789" cy="701041"/>
          </a:xfrm>
          <a:prstGeom prst="rect">
            <a:avLst/>
          </a:prstGeom>
          <a:noFill/>
          <a:ln>
            <a:noFill/>
          </a:ln>
        </p:spPr>
        <p:txBody>
          <a:bodyPr anchorCtr="0" anchor="t" bIns="0" lIns="0" spcFirstLastPara="1" rIns="0" wrap="square" tIns="0">
            <a:spAutoFit/>
          </a:bodyPr>
          <a:lstStyle/>
          <a:p>
            <a:pPr indent="0" lvl="0" marL="0" marR="0" rtl="0" algn="ctr">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Potent but nephrotoxic antibiotics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nvSpPr>
        <p:spPr>
          <a:xfrm>
            <a:off x="793811" y="821500"/>
            <a:ext cx="12120000" cy="446400"/>
          </a:xfrm>
          <a:prstGeom prst="rect">
            <a:avLst/>
          </a:prstGeom>
          <a:noFill/>
          <a:ln>
            <a:noFill/>
          </a:ln>
        </p:spPr>
        <p:txBody>
          <a:bodyPr anchorCtr="0" anchor="t" bIns="0" lIns="0" spcFirstLastPara="1" rIns="0" wrap="square" tIns="0">
            <a:spAutoFit/>
          </a:bodyPr>
          <a:lstStyle/>
          <a:p>
            <a:pPr indent="0" lvl="0" marL="0" marR="0" rtl="0" algn="l">
              <a:lnSpc>
                <a:spcPct val="151006"/>
              </a:lnSpc>
              <a:spcBef>
                <a:spcPts val="0"/>
              </a:spcBef>
              <a:spcAft>
                <a:spcPts val="0"/>
              </a:spcAft>
              <a:buClr>
                <a:srgbClr val="000000"/>
              </a:buClr>
              <a:buSzPts val="2900"/>
              <a:buFont typeface="Arial"/>
              <a:buNone/>
            </a:pPr>
            <a:r>
              <a:rPr b="0" i="0" lang="en-US" sz="2900" u="none" cap="none" strike="noStrike">
                <a:solidFill>
                  <a:srgbClr val="1B1B27"/>
                </a:solidFill>
                <a:latin typeface="Raleway"/>
                <a:ea typeface="Raleway"/>
                <a:cs typeface="Raleway"/>
                <a:sym typeface="Raleway"/>
              </a:rPr>
              <a:t>AKI Prevalence in Nephrotoxic Drugs-Exposed Cohort</a:t>
            </a:r>
            <a:endParaRPr b="0" i="0" sz="1100" u="none" cap="none" strike="noStrike">
              <a:solidFill>
                <a:srgbClr val="000000"/>
              </a:solidFill>
              <a:latin typeface="Arial"/>
              <a:ea typeface="Arial"/>
              <a:cs typeface="Arial"/>
              <a:sym typeface="Arial"/>
            </a:endParaRPr>
          </a:p>
        </p:txBody>
      </p:sp>
      <p:sp>
        <p:nvSpPr>
          <p:cNvPr id="281" name="Google Shape;281;p36"/>
          <p:cNvSpPr/>
          <p:nvPr/>
        </p:nvSpPr>
        <p:spPr>
          <a:xfrm>
            <a:off x="1287225" y="2003375"/>
            <a:ext cx="11133170" cy="5170371"/>
          </a:xfrm>
          <a:custGeom>
            <a:rect b="b" l="l" r="r" t="t"/>
            <a:pathLst>
              <a:path extrusionOk="0" h="5681726" w="9556369">
                <a:moveTo>
                  <a:pt x="0" y="0"/>
                </a:moveTo>
                <a:lnTo>
                  <a:pt x="9556369" y="0"/>
                </a:lnTo>
                <a:lnTo>
                  <a:pt x="9556369" y="5681726"/>
                </a:lnTo>
                <a:lnTo>
                  <a:pt x="0" y="5681726"/>
                </a:lnTo>
                <a:lnTo>
                  <a:pt x="0" y="0"/>
                </a:lnTo>
                <a:close/>
              </a:path>
            </a:pathLst>
          </a:custGeom>
          <a:blipFill rotWithShape="1">
            <a:blip r:embed="rId3">
              <a:alphaModFix/>
            </a:blip>
            <a:stretch>
              <a:fillRect b="0" l="-67" r="-65"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p:nvPr/>
        </p:nvSpPr>
        <p:spPr>
          <a:xfrm>
            <a:off x="537184" y="2570640"/>
            <a:ext cx="4221900" cy="4526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87400" lIns="87400" spcFirstLastPara="1" rIns="87400" wrap="square" tIns="87400">
            <a:noAutofit/>
          </a:bodyPr>
          <a:lstStyle/>
          <a:p>
            <a:pPr indent="0" lvl="0" marL="0" marR="0" rtl="0" algn="ctr">
              <a:lnSpc>
                <a:spcPct val="100000"/>
              </a:lnSpc>
              <a:spcBef>
                <a:spcPts val="0"/>
              </a:spcBef>
              <a:spcAft>
                <a:spcPts val="0"/>
              </a:spcAft>
              <a:buClr>
                <a:srgbClr val="000000"/>
              </a:buClr>
              <a:buSzPts val="1338"/>
              <a:buFont typeface="Arial"/>
              <a:buNone/>
            </a:pPr>
            <a:r>
              <a:t/>
            </a:r>
            <a:endParaRPr b="0" i="0" sz="1338" u="none" cap="none" strike="noStrike">
              <a:solidFill>
                <a:srgbClr val="000000"/>
              </a:solidFill>
              <a:latin typeface="Calibri"/>
              <a:ea typeface="Calibri"/>
              <a:cs typeface="Calibri"/>
              <a:sym typeface="Calibri"/>
            </a:endParaRPr>
          </a:p>
        </p:txBody>
      </p:sp>
      <p:sp>
        <p:nvSpPr>
          <p:cNvPr id="291" name="Google Shape;291;p37"/>
          <p:cNvSpPr/>
          <p:nvPr/>
        </p:nvSpPr>
        <p:spPr>
          <a:xfrm>
            <a:off x="5092627" y="2570640"/>
            <a:ext cx="4221900" cy="4526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87400" lIns="87400" spcFirstLastPara="1" rIns="87400" wrap="square" tIns="87400">
            <a:noAutofit/>
          </a:bodyPr>
          <a:lstStyle/>
          <a:p>
            <a:pPr indent="0" lvl="0" marL="0" marR="0" rtl="0" algn="ctr">
              <a:lnSpc>
                <a:spcPct val="100000"/>
              </a:lnSpc>
              <a:spcBef>
                <a:spcPts val="0"/>
              </a:spcBef>
              <a:spcAft>
                <a:spcPts val="0"/>
              </a:spcAft>
              <a:buClr>
                <a:srgbClr val="000000"/>
              </a:buClr>
              <a:buSzPts val="1338"/>
              <a:buFont typeface="Arial"/>
              <a:buNone/>
            </a:pPr>
            <a:r>
              <a:t/>
            </a:r>
            <a:endParaRPr b="0" i="0" sz="1338" u="none" cap="none" strike="noStrike">
              <a:solidFill>
                <a:srgbClr val="000000"/>
              </a:solidFill>
              <a:latin typeface="Calibri"/>
              <a:ea typeface="Calibri"/>
              <a:cs typeface="Calibri"/>
              <a:sym typeface="Calibri"/>
            </a:endParaRPr>
          </a:p>
        </p:txBody>
      </p:sp>
      <p:sp>
        <p:nvSpPr>
          <p:cNvPr id="292" name="Google Shape;292;p37"/>
          <p:cNvSpPr/>
          <p:nvPr/>
        </p:nvSpPr>
        <p:spPr>
          <a:xfrm>
            <a:off x="9519014" y="2570640"/>
            <a:ext cx="4524300" cy="4526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87400" lIns="87400" spcFirstLastPara="1" rIns="87400" wrap="square" tIns="87400">
            <a:noAutofit/>
          </a:bodyPr>
          <a:lstStyle/>
          <a:p>
            <a:pPr indent="0" lvl="0" marL="0" marR="0" rtl="0" algn="ctr">
              <a:lnSpc>
                <a:spcPct val="100000"/>
              </a:lnSpc>
              <a:spcBef>
                <a:spcPts val="0"/>
              </a:spcBef>
              <a:spcAft>
                <a:spcPts val="0"/>
              </a:spcAft>
              <a:buClr>
                <a:srgbClr val="000000"/>
              </a:buClr>
              <a:buSzPts val="1338"/>
              <a:buFont typeface="Arial"/>
              <a:buNone/>
            </a:pPr>
            <a:r>
              <a:t/>
            </a:r>
            <a:endParaRPr b="0" i="0" sz="1338" u="none" cap="none" strike="noStrike">
              <a:solidFill>
                <a:srgbClr val="000000"/>
              </a:solidFill>
              <a:latin typeface="Calibri"/>
              <a:ea typeface="Calibri"/>
              <a:cs typeface="Calibri"/>
              <a:sym typeface="Calibri"/>
            </a:endParaRPr>
          </a:p>
        </p:txBody>
      </p:sp>
      <p:pic>
        <p:nvPicPr>
          <p:cNvPr id="293" name="Google Shape;293;p37"/>
          <p:cNvPicPr preferRelativeResize="0"/>
          <p:nvPr/>
        </p:nvPicPr>
        <p:blipFill rotWithShape="1">
          <a:blip r:embed="rId3">
            <a:alphaModFix/>
          </a:blip>
          <a:srcRect b="5121" l="0" r="0" t="0"/>
          <a:stretch/>
        </p:blipFill>
        <p:spPr>
          <a:xfrm>
            <a:off x="377000" y="791850"/>
            <a:ext cx="13422925" cy="6305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p:nvPr/>
        </p:nvSpPr>
        <p:spPr>
          <a:xfrm>
            <a:off x="887325" y="2215175"/>
            <a:ext cx="7556449" cy="2655278"/>
          </a:xfrm>
          <a:custGeom>
            <a:rect b="b" l="l" r="r" t="t"/>
            <a:pathLst>
              <a:path extrusionOk="0" h="4265507" w="12594082">
                <a:moveTo>
                  <a:pt x="0" y="0"/>
                </a:moveTo>
                <a:lnTo>
                  <a:pt x="12594082" y="0"/>
                </a:lnTo>
                <a:lnTo>
                  <a:pt x="12594082" y="4265506"/>
                </a:lnTo>
                <a:lnTo>
                  <a:pt x="0" y="4265506"/>
                </a:lnTo>
                <a:close/>
              </a:path>
            </a:pathLst>
          </a:custGeom>
          <a:solidFill>
            <a:srgbClr val="E1E1EA"/>
          </a:solidFill>
          <a:ln cap="flat" cmpd="sng" w="12700">
            <a:solidFill>
              <a:srgbClr val="000000"/>
            </a:solidFill>
            <a:prstDash val="solid"/>
            <a:round/>
            <a:headEnd len="sm" w="sm" type="none"/>
            <a:tailEnd len="sm" w="sm" type="none"/>
          </a:ln>
        </p:spPr>
      </p:sp>
      <p:sp>
        <p:nvSpPr>
          <p:cNvPr descr="preencoded.png" id="303" name="Google Shape;303;p38"/>
          <p:cNvSpPr/>
          <p:nvPr/>
        </p:nvSpPr>
        <p:spPr>
          <a:xfrm>
            <a:off x="9144000" y="0"/>
            <a:ext cx="5486400" cy="8229600"/>
          </a:xfrm>
          <a:custGeom>
            <a:rect b="b" l="l" r="r" t="t"/>
            <a:pathLst>
              <a:path extrusionOk="0" h="13716000" w="9144000">
                <a:moveTo>
                  <a:pt x="0" y="0"/>
                </a:moveTo>
                <a:lnTo>
                  <a:pt x="9144000" y="0"/>
                </a:lnTo>
                <a:lnTo>
                  <a:pt x="9144000" y="13716000"/>
                </a:lnTo>
                <a:lnTo>
                  <a:pt x="0" y="13716000"/>
                </a:lnTo>
                <a:lnTo>
                  <a:pt x="0" y="0"/>
                </a:lnTo>
                <a:close/>
              </a:path>
            </a:pathLst>
          </a:custGeom>
          <a:blipFill rotWithShape="1">
            <a:blip r:embed="rId3">
              <a:alphaModFix/>
            </a:blip>
            <a:stretch>
              <a:fillRect b="0" l="0" r="0" t="0"/>
            </a:stretch>
          </a:blipFill>
          <a:ln>
            <a:noFill/>
          </a:ln>
        </p:spPr>
      </p:sp>
      <p:sp>
        <p:nvSpPr>
          <p:cNvPr id="304" name="Google Shape;304;p38"/>
          <p:cNvSpPr txBox="1"/>
          <p:nvPr/>
        </p:nvSpPr>
        <p:spPr>
          <a:xfrm>
            <a:off x="887340" y="462592"/>
            <a:ext cx="7556400" cy="14961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Feature Engineering: Baseline vs Enriched</a:t>
            </a:r>
            <a:endParaRPr b="0" i="0" sz="1100" u="none" cap="none" strike="noStrike">
              <a:solidFill>
                <a:srgbClr val="000000"/>
              </a:solidFill>
              <a:latin typeface="Arial"/>
              <a:ea typeface="Arial"/>
              <a:cs typeface="Arial"/>
              <a:sym typeface="Arial"/>
            </a:endParaRPr>
          </a:p>
        </p:txBody>
      </p:sp>
      <p:sp>
        <p:nvSpPr>
          <p:cNvPr id="305" name="Google Shape;305;p38"/>
          <p:cNvSpPr txBox="1"/>
          <p:nvPr/>
        </p:nvSpPr>
        <p:spPr>
          <a:xfrm>
            <a:off x="1015008" y="2415497"/>
            <a:ext cx="24810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3C3939"/>
                </a:solidFill>
                <a:latin typeface="Raleway"/>
                <a:ea typeface="Raleway"/>
                <a:cs typeface="Raleway"/>
                <a:sym typeface="Raleway"/>
              </a:rPr>
              <a:t>Baseline Features</a:t>
            </a:r>
            <a:endParaRPr b="1" i="0" sz="1100" u="none" cap="none" strike="noStrike">
              <a:solidFill>
                <a:srgbClr val="000000"/>
              </a:solidFill>
              <a:latin typeface="Arial"/>
              <a:ea typeface="Arial"/>
              <a:cs typeface="Arial"/>
              <a:sym typeface="Arial"/>
            </a:endParaRPr>
          </a:p>
        </p:txBody>
      </p:sp>
      <p:sp>
        <p:nvSpPr>
          <p:cNvPr id="306" name="Google Shape;306;p38"/>
          <p:cNvSpPr txBox="1"/>
          <p:nvPr/>
        </p:nvSpPr>
        <p:spPr>
          <a:xfrm>
            <a:off x="1089550" y="2793025"/>
            <a:ext cx="7152000" cy="1962600"/>
          </a:xfrm>
          <a:prstGeom prst="rect">
            <a:avLst/>
          </a:prstGeom>
          <a:noFill/>
          <a:ln>
            <a:noFill/>
          </a:ln>
        </p:spPr>
        <p:txBody>
          <a:bodyPr anchorCtr="0" anchor="t" bIns="0" lIns="0" spcFirstLastPara="1" rIns="0" wrap="square" tIns="0">
            <a:spAutoFit/>
          </a:bodyPr>
          <a:lstStyle/>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Demographics &amp; context (age, sex, race, admisssion type, ICU unit)</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Baseline kidney status(SCr, CKD indicator)</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Comorbidities (diabetes, HF, liver disease, cancer, Charlson index)</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Cofounders at drug start(sepsis, vasopressors, ventilation, rhabdomyolysis, loop exposure)</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Drug class + timing</a:t>
            </a:r>
            <a:endParaRPr b="0" i="0" sz="1500" u="none" cap="none" strike="noStrike">
              <a:solidFill>
                <a:srgbClr val="3C3939"/>
              </a:solidFill>
              <a:latin typeface="DM Sans"/>
              <a:ea typeface="DM Sans"/>
              <a:cs typeface="DM Sans"/>
              <a:sym typeface="DM Sans"/>
            </a:endParaRPr>
          </a:p>
        </p:txBody>
      </p:sp>
      <p:sp>
        <p:nvSpPr>
          <p:cNvPr id="307" name="Google Shape;307;p38"/>
          <p:cNvSpPr/>
          <p:nvPr/>
        </p:nvSpPr>
        <p:spPr>
          <a:xfrm>
            <a:off x="887325" y="5126925"/>
            <a:ext cx="7556449" cy="2656979"/>
          </a:xfrm>
          <a:custGeom>
            <a:rect b="b" l="l" r="r" t="t"/>
            <a:pathLst>
              <a:path extrusionOk="0" h="4337925" w="12594082">
                <a:moveTo>
                  <a:pt x="0" y="0"/>
                </a:moveTo>
                <a:lnTo>
                  <a:pt x="12594082" y="0"/>
                </a:lnTo>
                <a:lnTo>
                  <a:pt x="12594082" y="4337925"/>
                </a:lnTo>
                <a:lnTo>
                  <a:pt x="0" y="4337925"/>
                </a:lnTo>
                <a:close/>
              </a:path>
            </a:pathLst>
          </a:custGeom>
          <a:solidFill>
            <a:srgbClr val="E1E1EA"/>
          </a:solidFill>
          <a:ln cap="flat" cmpd="sng" w="12700">
            <a:solidFill>
              <a:srgbClr val="000000"/>
            </a:solidFill>
            <a:prstDash val="solid"/>
            <a:round/>
            <a:headEnd len="sm" w="sm" type="none"/>
            <a:tailEnd len="sm" w="sm" type="none"/>
          </a:ln>
        </p:spPr>
      </p:sp>
      <p:sp>
        <p:nvSpPr>
          <p:cNvPr id="308" name="Google Shape;308;p38"/>
          <p:cNvSpPr txBox="1"/>
          <p:nvPr/>
        </p:nvSpPr>
        <p:spPr>
          <a:xfrm>
            <a:off x="1014999" y="5226425"/>
            <a:ext cx="37785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3C3939"/>
                </a:solidFill>
                <a:latin typeface="Raleway"/>
                <a:ea typeface="Raleway"/>
                <a:cs typeface="Raleway"/>
                <a:sym typeface="Raleway"/>
              </a:rPr>
              <a:t>Temporally Enriched Features</a:t>
            </a:r>
            <a:endParaRPr b="1" i="0" sz="1100" u="none" cap="none" strike="noStrike">
              <a:solidFill>
                <a:srgbClr val="000000"/>
              </a:solidFill>
              <a:latin typeface="Arial"/>
              <a:ea typeface="Arial"/>
              <a:cs typeface="Arial"/>
              <a:sym typeface="Arial"/>
            </a:endParaRPr>
          </a:p>
        </p:txBody>
      </p:sp>
      <p:sp>
        <p:nvSpPr>
          <p:cNvPr id="309" name="Google Shape;309;p38"/>
          <p:cNvSpPr txBox="1"/>
          <p:nvPr/>
        </p:nvSpPr>
        <p:spPr>
          <a:xfrm>
            <a:off x="1015000" y="5589950"/>
            <a:ext cx="7152000" cy="1962600"/>
          </a:xfrm>
          <a:prstGeom prst="rect">
            <a:avLst/>
          </a:prstGeom>
          <a:noFill/>
          <a:ln>
            <a:noFill/>
          </a:ln>
        </p:spPr>
        <p:txBody>
          <a:bodyPr anchorCtr="0" anchor="t" bIns="0" lIns="0" spcFirstLastPara="1" rIns="0" wrap="square" tIns="0">
            <a:spAutoFit/>
          </a:bodyPr>
          <a:lstStyle/>
          <a:p>
            <a:pPr indent="-298450" lvl="0" marL="457200" marR="0" rtl="0" algn="l">
              <a:lnSpc>
                <a:spcPct val="150000"/>
              </a:lnSpc>
              <a:spcBef>
                <a:spcPts val="0"/>
              </a:spcBef>
              <a:spcAft>
                <a:spcPts val="0"/>
              </a:spcAft>
              <a:buClr>
                <a:srgbClr val="000000"/>
              </a:buClr>
              <a:buSzPts val="1100"/>
              <a:buFont typeface="Arial"/>
              <a:buChar char="●"/>
            </a:pPr>
            <a:r>
              <a:rPr b="0" i="0" lang="en-US" sz="1500" u="none" cap="none" strike="noStrike">
                <a:solidFill>
                  <a:srgbClr val="3C3939"/>
                </a:solidFill>
                <a:latin typeface="DM Sans"/>
                <a:ea typeface="DM Sans"/>
                <a:cs typeface="DM Sans"/>
                <a:sym typeface="DM Sans"/>
              </a:rPr>
              <a:t>Rolling labs (24h pre-drug): SCr, BUN, electrolytes, bicarbonate</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ICU vitals: HR, MAP, SpO2</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Urine output: 6h, 12h, 24h volumes</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Drug duration</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Severity scores(SOFA, SAPS II)</a:t>
            </a:r>
            <a:endParaRPr b="0" i="0" sz="1500" u="none" cap="none" strike="noStrike">
              <a:solidFill>
                <a:srgbClr val="3C3939"/>
              </a:solidFill>
              <a:latin typeface="DM Sans"/>
              <a:ea typeface="DM Sans"/>
              <a:cs typeface="DM Sans"/>
              <a:sym typeface="DM Sans"/>
            </a:endParaRPr>
          </a:p>
          <a:p>
            <a:pPr indent="-323850" lvl="0" marL="457200" marR="0" rtl="0" algn="l">
              <a:lnSpc>
                <a:spcPct val="150000"/>
              </a:lnSpc>
              <a:spcBef>
                <a:spcPts val="0"/>
              </a:spcBef>
              <a:spcAft>
                <a:spcPts val="0"/>
              </a:spcAft>
              <a:buClr>
                <a:srgbClr val="3C3939"/>
              </a:buClr>
              <a:buSzPts val="1500"/>
              <a:buFont typeface="DM Sans"/>
              <a:buChar char="●"/>
            </a:pPr>
            <a:r>
              <a:rPr b="0" i="0" lang="en-US" sz="1500" u="none" cap="none" strike="noStrike">
                <a:solidFill>
                  <a:srgbClr val="3C3939"/>
                </a:solidFill>
                <a:latin typeface="DM Sans"/>
                <a:ea typeface="DM Sans"/>
                <a:cs typeface="DM Sans"/>
                <a:sym typeface="DM Sans"/>
              </a:rPr>
              <a:t>Interaction features (e.g., CKD+vancomycin, diabetes+NSAID)</a:t>
            </a:r>
            <a:endParaRPr b="0" i="0" sz="1500" u="none" cap="none" strike="noStrike">
              <a:solidFill>
                <a:srgbClr val="3C3939"/>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9"/>
          <p:cNvSpPr txBox="1"/>
          <p:nvPr/>
        </p:nvSpPr>
        <p:spPr>
          <a:xfrm>
            <a:off x="793803" y="785250"/>
            <a:ext cx="74640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Model Training Approach</a:t>
            </a:r>
            <a:endParaRPr b="0" i="0" sz="1100" u="none" cap="none" strike="noStrike">
              <a:solidFill>
                <a:srgbClr val="000000"/>
              </a:solidFill>
              <a:latin typeface="Arial"/>
              <a:ea typeface="Arial"/>
              <a:cs typeface="Arial"/>
              <a:sym typeface="Arial"/>
            </a:endParaRPr>
          </a:p>
        </p:txBody>
      </p:sp>
      <p:sp>
        <p:nvSpPr>
          <p:cNvPr id="319" name="Google Shape;319;p39"/>
          <p:cNvSpPr txBox="1"/>
          <p:nvPr/>
        </p:nvSpPr>
        <p:spPr>
          <a:xfrm>
            <a:off x="793790" y="1806409"/>
            <a:ext cx="13042800" cy="2616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700" u="none" cap="none" strike="noStrike">
                <a:solidFill>
                  <a:srgbClr val="3C3939"/>
                </a:solidFill>
                <a:latin typeface="DM Sans"/>
                <a:ea typeface="DM Sans"/>
                <a:cs typeface="DM Sans"/>
                <a:sym typeface="DM Sans"/>
              </a:rPr>
              <a:t>For each outcome, we trained two CatBoost classifiers using the same train/test split (80/20) with stratification by outcome.</a:t>
            </a:r>
            <a:endParaRPr b="0" i="0" sz="1300" u="none" cap="none" strike="noStrike">
              <a:solidFill>
                <a:srgbClr val="000000"/>
              </a:solidFill>
              <a:latin typeface="DM Sans"/>
              <a:ea typeface="DM Sans"/>
              <a:cs typeface="DM Sans"/>
              <a:sym typeface="DM Sans"/>
            </a:endParaRPr>
          </a:p>
        </p:txBody>
      </p:sp>
      <p:sp>
        <p:nvSpPr>
          <p:cNvPr id="320" name="Google Shape;320;p39"/>
          <p:cNvSpPr/>
          <p:nvPr/>
        </p:nvSpPr>
        <p:spPr>
          <a:xfrm>
            <a:off x="793790" y="3012758"/>
            <a:ext cx="6422213" cy="1781633"/>
          </a:xfrm>
          <a:custGeom>
            <a:rect b="b" l="l" r="r" t="t"/>
            <a:pathLst>
              <a:path extrusionOk="0" h="2969387" w="10703687">
                <a:moveTo>
                  <a:pt x="0" y="182880"/>
                </a:moveTo>
                <a:cubicBezTo>
                  <a:pt x="0" y="81915"/>
                  <a:pt x="81915" y="0"/>
                  <a:pt x="182880" y="0"/>
                </a:cubicBezTo>
                <a:lnTo>
                  <a:pt x="10520807" y="0"/>
                </a:lnTo>
                <a:cubicBezTo>
                  <a:pt x="10621772" y="0"/>
                  <a:pt x="10703687" y="81915"/>
                  <a:pt x="10703687" y="182880"/>
                </a:cubicBezTo>
                <a:lnTo>
                  <a:pt x="10703687" y="2786507"/>
                </a:lnTo>
                <a:cubicBezTo>
                  <a:pt x="10703687" y="2887472"/>
                  <a:pt x="10621772" y="2969387"/>
                  <a:pt x="10520807" y="2969387"/>
                </a:cubicBezTo>
                <a:lnTo>
                  <a:pt x="182880" y="2969387"/>
                </a:lnTo>
                <a:cubicBezTo>
                  <a:pt x="81915" y="2969387"/>
                  <a:pt x="0" y="2887472"/>
                  <a:pt x="0" y="2786507"/>
                </a:cubicBezTo>
                <a:close/>
              </a:path>
            </a:pathLst>
          </a:custGeom>
          <a:solidFill>
            <a:srgbClr val="EFF2FF">
              <a:alpha val="89019"/>
            </a:srgbClr>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9"/>
          <p:cNvSpPr/>
          <p:nvPr/>
        </p:nvSpPr>
        <p:spPr>
          <a:xfrm>
            <a:off x="793790" y="2989898"/>
            <a:ext cx="6422213" cy="91440"/>
          </a:xfrm>
          <a:custGeom>
            <a:rect b="b" l="l" r="r" t="t"/>
            <a:pathLst>
              <a:path extrusionOk="0" h="152400" w="10703687">
                <a:moveTo>
                  <a:pt x="0" y="76200"/>
                </a:moveTo>
                <a:cubicBezTo>
                  <a:pt x="0" y="34163"/>
                  <a:pt x="34163" y="0"/>
                  <a:pt x="76200" y="0"/>
                </a:cubicBezTo>
                <a:lnTo>
                  <a:pt x="10627487" y="0"/>
                </a:lnTo>
                <a:cubicBezTo>
                  <a:pt x="10669524" y="0"/>
                  <a:pt x="10703687" y="34163"/>
                  <a:pt x="10703687" y="76200"/>
                </a:cubicBezTo>
                <a:cubicBezTo>
                  <a:pt x="10703687" y="118237"/>
                  <a:pt x="10669524" y="152400"/>
                  <a:pt x="10627487" y="152400"/>
                </a:cubicBezTo>
                <a:lnTo>
                  <a:pt x="76200" y="152400"/>
                </a:lnTo>
                <a:cubicBezTo>
                  <a:pt x="34163" y="152400"/>
                  <a:pt x="0" y="118237"/>
                  <a:pt x="0" y="76200"/>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9"/>
          <p:cNvSpPr/>
          <p:nvPr/>
        </p:nvSpPr>
        <p:spPr>
          <a:xfrm>
            <a:off x="3707249" y="2715101"/>
            <a:ext cx="595351" cy="595351"/>
          </a:xfrm>
          <a:custGeom>
            <a:rect b="b" l="l" r="r" t="t"/>
            <a:pathLst>
              <a:path extrusionOk="0"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39"/>
          <p:cNvSpPr txBox="1"/>
          <p:nvPr/>
        </p:nvSpPr>
        <p:spPr>
          <a:xfrm>
            <a:off x="3956544" y="2811610"/>
            <a:ext cx="238200" cy="277200"/>
          </a:xfrm>
          <a:prstGeom prst="rect">
            <a:avLst/>
          </a:prstGeom>
          <a:noFill/>
          <a:ln>
            <a:noFill/>
          </a:ln>
        </p:spPr>
        <p:txBody>
          <a:bodyPr anchorCtr="0" anchor="t" bIns="0" lIns="0" spcFirstLastPara="1" rIns="0" wrap="square" tIns="0">
            <a:spAutoFit/>
          </a:bodyPr>
          <a:lstStyle/>
          <a:p>
            <a:pPr indent="0" lvl="0" marL="0" marR="0" rtl="0" algn="l">
              <a:lnSpc>
                <a:spcPct val="194593"/>
              </a:lnSpc>
              <a:spcBef>
                <a:spcPts val="0"/>
              </a:spcBef>
              <a:spcAft>
                <a:spcPts val="0"/>
              </a:spcAft>
              <a:buClr>
                <a:srgbClr val="000000"/>
              </a:buClr>
              <a:buSzPts val="1800"/>
              <a:buFont typeface="Arial"/>
              <a:buNone/>
            </a:pPr>
            <a:r>
              <a:rPr b="0" i="0" lang="en-US" sz="1800" u="none" cap="none" strike="noStrike">
                <a:solidFill>
                  <a:srgbClr val="FFFFFF"/>
                </a:solidFill>
                <a:latin typeface="Raleway"/>
                <a:ea typeface="Raleway"/>
                <a:cs typeface="Raleway"/>
                <a:sym typeface="Raleway"/>
              </a:rPr>
              <a:t>1</a:t>
            </a:r>
            <a:endParaRPr b="0" i="0" sz="1100" u="none" cap="none" strike="noStrike">
              <a:solidFill>
                <a:srgbClr val="000000"/>
              </a:solidFill>
              <a:latin typeface="Arial"/>
              <a:ea typeface="Arial"/>
              <a:cs typeface="Arial"/>
              <a:sym typeface="Arial"/>
            </a:endParaRPr>
          </a:p>
        </p:txBody>
      </p:sp>
      <p:sp>
        <p:nvSpPr>
          <p:cNvPr id="324" name="Google Shape;324;p39"/>
          <p:cNvSpPr txBox="1"/>
          <p:nvPr/>
        </p:nvSpPr>
        <p:spPr>
          <a:xfrm>
            <a:off x="1015008" y="3447931"/>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Class Weighting</a:t>
            </a:r>
            <a:endParaRPr b="0" i="0" sz="1100" u="none" cap="none" strike="noStrike">
              <a:solidFill>
                <a:srgbClr val="000000"/>
              </a:solidFill>
              <a:latin typeface="Arial"/>
              <a:ea typeface="Arial"/>
              <a:cs typeface="Arial"/>
              <a:sym typeface="Arial"/>
            </a:endParaRPr>
          </a:p>
        </p:txBody>
      </p:sp>
      <p:sp>
        <p:nvSpPr>
          <p:cNvPr id="325" name="Google Shape;325;p39"/>
          <p:cNvSpPr txBox="1"/>
          <p:nvPr/>
        </p:nvSpPr>
        <p:spPr>
          <a:xfrm>
            <a:off x="1015008" y="3839051"/>
            <a:ext cx="5979795"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Applied inverse prevalence weights to address severe imbalance (31:1 for 48h AKI, 23:1 for any AKI).</a:t>
            </a:r>
            <a:endParaRPr b="0" i="0" sz="1100" u="none" cap="none" strike="noStrike">
              <a:solidFill>
                <a:srgbClr val="000000"/>
              </a:solidFill>
              <a:latin typeface="Arial"/>
              <a:ea typeface="Arial"/>
              <a:cs typeface="Arial"/>
              <a:sym typeface="Arial"/>
            </a:endParaRPr>
          </a:p>
        </p:txBody>
      </p:sp>
      <p:sp>
        <p:nvSpPr>
          <p:cNvPr id="326" name="Google Shape;326;p39"/>
          <p:cNvSpPr/>
          <p:nvPr/>
        </p:nvSpPr>
        <p:spPr>
          <a:xfrm>
            <a:off x="7414379" y="3012758"/>
            <a:ext cx="6422213" cy="1781633"/>
          </a:xfrm>
          <a:custGeom>
            <a:rect b="b" l="l" r="r" t="t"/>
            <a:pathLst>
              <a:path extrusionOk="0" h="2969387" w="10703687">
                <a:moveTo>
                  <a:pt x="0" y="182880"/>
                </a:moveTo>
                <a:cubicBezTo>
                  <a:pt x="0" y="81915"/>
                  <a:pt x="81915" y="0"/>
                  <a:pt x="182880" y="0"/>
                </a:cubicBezTo>
                <a:lnTo>
                  <a:pt x="10520807" y="0"/>
                </a:lnTo>
                <a:cubicBezTo>
                  <a:pt x="10621772" y="0"/>
                  <a:pt x="10703687" y="81915"/>
                  <a:pt x="10703687" y="182880"/>
                </a:cubicBezTo>
                <a:lnTo>
                  <a:pt x="10703687" y="2786507"/>
                </a:lnTo>
                <a:cubicBezTo>
                  <a:pt x="10703687" y="2887472"/>
                  <a:pt x="10621772" y="2969387"/>
                  <a:pt x="10520807" y="2969387"/>
                </a:cubicBezTo>
                <a:lnTo>
                  <a:pt x="182880" y="2969387"/>
                </a:lnTo>
                <a:cubicBezTo>
                  <a:pt x="81915" y="2969387"/>
                  <a:pt x="0" y="2887472"/>
                  <a:pt x="0" y="2786507"/>
                </a:cubicBezTo>
                <a:close/>
              </a:path>
            </a:pathLst>
          </a:custGeom>
          <a:solidFill>
            <a:srgbClr val="EFF2FF">
              <a:alpha val="89019"/>
            </a:srgbClr>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9"/>
          <p:cNvSpPr/>
          <p:nvPr/>
        </p:nvSpPr>
        <p:spPr>
          <a:xfrm>
            <a:off x="7414379" y="2989898"/>
            <a:ext cx="6422213" cy="91440"/>
          </a:xfrm>
          <a:custGeom>
            <a:rect b="b" l="l" r="r" t="t"/>
            <a:pathLst>
              <a:path extrusionOk="0" h="152400" w="10703687">
                <a:moveTo>
                  <a:pt x="0" y="76200"/>
                </a:moveTo>
                <a:cubicBezTo>
                  <a:pt x="0" y="34163"/>
                  <a:pt x="34163" y="0"/>
                  <a:pt x="76200" y="0"/>
                </a:cubicBezTo>
                <a:lnTo>
                  <a:pt x="10627487" y="0"/>
                </a:lnTo>
                <a:cubicBezTo>
                  <a:pt x="10669524" y="0"/>
                  <a:pt x="10703687" y="34163"/>
                  <a:pt x="10703687" y="76200"/>
                </a:cubicBezTo>
                <a:cubicBezTo>
                  <a:pt x="10703687" y="118237"/>
                  <a:pt x="10669524" y="152400"/>
                  <a:pt x="10627487" y="152400"/>
                </a:cubicBezTo>
                <a:lnTo>
                  <a:pt x="76200" y="152400"/>
                </a:lnTo>
                <a:cubicBezTo>
                  <a:pt x="34163" y="152400"/>
                  <a:pt x="0" y="118237"/>
                  <a:pt x="0" y="76200"/>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9"/>
          <p:cNvSpPr/>
          <p:nvPr/>
        </p:nvSpPr>
        <p:spPr>
          <a:xfrm>
            <a:off x="10327838" y="2715101"/>
            <a:ext cx="595351" cy="595351"/>
          </a:xfrm>
          <a:custGeom>
            <a:rect b="b" l="l" r="r" t="t"/>
            <a:pathLst>
              <a:path extrusionOk="0"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9"/>
          <p:cNvSpPr txBox="1"/>
          <p:nvPr/>
        </p:nvSpPr>
        <p:spPr>
          <a:xfrm>
            <a:off x="10548853" y="2825750"/>
            <a:ext cx="238200" cy="277200"/>
          </a:xfrm>
          <a:prstGeom prst="rect">
            <a:avLst/>
          </a:prstGeom>
          <a:noFill/>
          <a:ln>
            <a:noFill/>
          </a:ln>
        </p:spPr>
        <p:txBody>
          <a:bodyPr anchorCtr="0" anchor="t" bIns="0" lIns="0" spcFirstLastPara="1" rIns="0" wrap="square" tIns="0">
            <a:spAutoFit/>
          </a:bodyPr>
          <a:lstStyle/>
          <a:p>
            <a:pPr indent="0" lvl="0" marL="0" marR="0" rtl="0" algn="l">
              <a:lnSpc>
                <a:spcPct val="194593"/>
              </a:lnSpc>
              <a:spcBef>
                <a:spcPts val="0"/>
              </a:spcBef>
              <a:spcAft>
                <a:spcPts val="0"/>
              </a:spcAft>
              <a:buClr>
                <a:srgbClr val="000000"/>
              </a:buClr>
              <a:buSzPts val="1800"/>
              <a:buFont typeface="Arial"/>
              <a:buNone/>
            </a:pPr>
            <a:r>
              <a:rPr b="0" i="0" lang="en-US" sz="1800" u="none" cap="none" strike="noStrike">
                <a:solidFill>
                  <a:srgbClr val="FFFFFF"/>
                </a:solidFill>
                <a:latin typeface="Raleway"/>
                <a:ea typeface="Raleway"/>
                <a:cs typeface="Raleway"/>
                <a:sym typeface="Raleway"/>
              </a:rPr>
              <a:t>2</a:t>
            </a:r>
            <a:endParaRPr b="0" i="0" sz="1100" u="none" cap="none" strike="noStrike">
              <a:solidFill>
                <a:srgbClr val="000000"/>
              </a:solidFill>
              <a:latin typeface="Arial"/>
              <a:ea typeface="Arial"/>
              <a:cs typeface="Arial"/>
              <a:sym typeface="Arial"/>
            </a:endParaRPr>
          </a:p>
        </p:txBody>
      </p:sp>
      <p:sp>
        <p:nvSpPr>
          <p:cNvPr id="330" name="Google Shape;330;p39"/>
          <p:cNvSpPr txBox="1"/>
          <p:nvPr/>
        </p:nvSpPr>
        <p:spPr>
          <a:xfrm>
            <a:off x="7635597" y="3447931"/>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Hyperparameters</a:t>
            </a:r>
            <a:endParaRPr b="0" i="0" sz="1100" u="none" cap="none" strike="noStrike">
              <a:solidFill>
                <a:srgbClr val="000000"/>
              </a:solidFill>
              <a:latin typeface="Arial"/>
              <a:ea typeface="Arial"/>
              <a:cs typeface="Arial"/>
              <a:sym typeface="Arial"/>
            </a:endParaRPr>
          </a:p>
        </p:txBody>
      </p:sp>
      <p:sp>
        <p:nvSpPr>
          <p:cNvPr id="331" name="Google Shape;331;p39"/>
          <p:cNvSpPr txBox="1"/>
          <p:nvPr/>
        </p:nvSpPr>
        <p:spPr>
          <a:xfrm>
            <a:off x="7635597" y="3839051"/>
            <a:ext cx="5979795"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Logistic loss, depth 6, 2000 max iterations with early stopping after 50 rounds of non-improving validation AUC.</a:t>
            </a:r>
            <a:endParaRPr b="0" i="0" sz="1100" u="none" cap="none" strike="noStrike">
              <a:solidFill>
                <a:srgbClr val="000000"/>
              </a:solidFill>
              <a:latin typeface="Arial"/>
              <a:ea typeface="Arial"/>
              <a:cs typeface="Arial"/>
              <a:sym typeface="Arial"/>
            </a:endParaRPr>
          </a:p>
        </p:txBody>
      </p:sp>
      <p:sp>
        <p:nvSpPr>
          <p:cNvPr id="332" name="Google Shape;332;p39"/>
          <p:cNvSpPr/>
          <p:nvPr/>
        </p:nvSpPr>
        <p:spPr>
          <a:xfrm>
            <a:off x="793790" y="5290423"/>
            <a:ext cx="6422213" cy="1781633"/>
          </a:xfrm>
          <a:custGeom>
            <a:rect b="b" l="l" r="r" t="t"/>
            <a:pathLst>
              <a:path extrusionOk="0" h="2969387" w="10703687">
                <a:moveTo>
                  <a:pt x="0" y="182880"/>
                </a:moveTo>
                <a:cubicBezTo>
                  <a:pt x="0" y="81915"/>
                  <a:pt x="81915" y="0"/>
                  <a:pt x="182880" y="0"/>
                </a:cubicBezTo>
                <a:lnTo>
                  <a:pt x="10520807" y="0"/>
                </a:lnTo>
                <a:cubicBezTo>
                  <a:pt x="10621772" y="0"/>
                  <a:pt x="10703687" y="81915"/>
                  <a:pt x="10703687" y="182880"/>
                </a:cubicBezTo>
                <a:lnTo>
                  <a:pt x="10703687" y="2786507"/>
                </a:lnTo>
                <a:cubicBezTo>
                  <a:pt x="10703687" y="2887472"/>
                  <a:pt x="10621772" y="2969387"/>
                  <a:pt x="10520807" y="2969387"/>
                </a:cubicBezTo>
                <a:lnTo>
                  <a:pt x="182880" y="2969387"/>
                </a:lnTo>
                <a:cubicBezTo>
                  <a:pt x="81915" y="2969387"/>
                  <a:pt x="0" y="2887472"/>
                  <a:pt x="0" y="2786507"/>
                </a:cubicBezTo>
                <a:close/>
              </a:path>
            </a:pathLst>
          </a:custGeom>
          <a:solidFill>
            <a:srgbClr val="EFF2FF">
              <a:alpha val="89019"/>
            </a:srgbClr>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9"/>
          <p:cNvSpPr/>
          <p:nvPr/>
        </p:nvSpPr>
        <p:spPr>
          <a:xfrm>
            <a:off x="793790" y="5267563"/>
            <a:ext cx="6422213" cy="91440"/>
          </a:xfrm>
          <a:custGeom>
            <a:rect b="b" l="l" r="r" t="t"/>
            <a:pathLst>
              <a:path extrusionOk="0" h="152400" w="10703687">
                <a:moveTo>
                  <a:pt x="0" y="76200"/>
                </a:moveTo>
                <a:cubicBezTo>
                  <a:pt x="0" y="34163"/>
                  <a:pt x="34163" y="0"/>
                  <a:pt x="76200" y="0"/>
                </a:cubicBezTo>
                <a:lnTo>
                  <a:pt x="10627487" y="0"/>
                </a:lnTo>
                <a:cubicBezTo>
                  <a:pt x="10669524" y="0"/>
                  <a:pt x="10703687" y="34163"/>
                  <a:pt x="10703687" y="76200"/>
                </a:cubicBezTo>
                <a:cubicBezTo>
                  <a:pt x="10703687" y="118237"/>
                  <a:pt x="10669524" y="152400"/>
                  <a:pt x="10627487" y="152400"/>
                </a:cubicBezTo>
                <a:lnTo>
                  <a:pt x="76200" y="152400"/>
                </a:lnTo>
                <a:cubicBezTo>
                  <a:pt x="34163" y="152400"/>
                  <a:pt x="0" y="118237"/>
                  <a:pt x="0" y="76200"/>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9"/>
          <p:cNvSpPr/>
          <p:nvPr/>
        </p:nvSpPr>
        <p:spPr>
          <a:xfrm>
            <a:off x="3707249" y="4992767"/>
            <a:ext cx="595351" cy="595351"/>
          </a:xfrm>
          <a:custGeom>
            <a:rect b="b" l="l" r="r" t="t"/>
            <a:pathLst>
              <a:path extrusionOk="0"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9"/>
          <p:cNvSpPr txBox="1"/>
          <p:nvPr/>
        </p:nvSpPr>
        <p:spPr>
          <a:xfrm>
            <a:off x="3928264" y="5089276"/>
            <a:ext cx="238200" cy="277200"/>
          </a:xfrm>
          <a:prstGeom prst="rect">
            <a:avLst/>
          </a:prstGeom>
          <a:noFill/>
          <a:ln>
            <a:noFill/>
          </a:ln>
        </p:spPr>
        <p:txBody>
          <a:bodyPr anchorCtr="0" anchor="t" bIns="0" lIns="0" spcFirstLastPara="1" rIns="0" wrap="square" tIns="0">
            <a:spAutoFit/>
          </a:bodyPr>
          <a:lstStyle/>
          <a:p>
            <a:pPr indent="0" lvl="0" marL="0" marR="0" rtl="0" algn="l">
              <a:lnSpc>
                <a:spcPct val="194593"/>
              </a:lnSpc>
              <a:spcBef>
                <a:spcPts val="0"/>
              </a:spcBef>
              <a:spcAft>
                <a:spcPts val="0"/>
              </a:spcAft>
              <a:buClr>
                <a:srgbClr val="000000"/>
              </a:buClr>
              <a:buSzPts val="1800"/>
              <a:buFont typeface="Arial"/>
              <a:buNone/>
            </a:pPr>
            <a:r>
              <a:rPr b="0" i="0" lang="en-US" sz="1800" u="none" cap="none" strike="noStrike">
                <a:solidFill>
                  <a:srgbClr val="FFFFFF"/>
                </a:solidFill>
                <a:latin typeface="Raleway"/>
                <a:ea typeface="Raleway"/>
                <a:cs typeface="Raleway"/>
                <a:sym typeface="Raleway"/>
              </a:rPr>
              <a:t>3</a:t>
            </a:r>
            <a:endParaRPr b="0" i="0" sz="1100" u="none" cap="none" strike="noStrike">
              <a:solidFill>
                <a:srgbClr val="000000"/>
              </a:solidFill>
              <a:latin typeface="Arial"/>
              <a:ea typeface="Arial"/>
              <a:cs typeface="Arial"/>
              <a:sym typeface="Arial"/>
            </a:endParaRPr>
          </a:p>
        </p:txBody>
      </p:sp>
      <p:sp>
        <p:nvSpPr>
          <p:cNvPr id="336" name="Google Shape;336;p39"/>
          <p:cNvSpPr txBox="1"/>
          <p:nvPr/>
        </p:nvSpPr>
        <p:spPr>
          <a:xfrm>
            <a:off x="1015008" y="5725597"/>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Threshold Selection</a:t>
            </a:r>
            <a:endParaRPr b="0" i="0" sz="1100" u="none" cap="none" strike="noStrike">
              <a:solidFill>
                <a:srgbClr val="000000"/>
              </a:solidFill>
              <a:latin typeface="Arial"/>
              <a:ea typeface="Arial"/>
              <a:cs typeface="Arial"/>
              <a:sym typeface="Arial"/>
            </a:endParaRPr>
          </a:p>
        </p:txBody>
      </p:sp>
      <p:sp>
        <p:nvSpPr>
          <p:cNvPr id="337" name="Google Shape;337;p39"/>
          <p:cNvSpPr txBox="1"/>
          <p:nvPr/>
        </p:nvSpPr>
        <p:spPr>
          <a:xfrm>
            <a:off x="1015008" y="6116717"/>
            <a:ext cx="5979795"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Swept thresholds 0.05-0.50, identified F1-maximizing threshold, fixed at 0.50 for primary reporting.</a:t>
            </a:r>
            <a:endParaRPr b="0" i="0" sz="1100" u="none" cap="none" strike="noStrike">
              <a:solidFill>
                <a:srgbClr val="000000"/>
              </a:solidFill>
              <a:latin typeface="Arial"/>
              <a:ea typeface="Arial"/>
              <a:cs typeface="Arial"/>
              <a:sym typeface="Arial"/>
            </a:endParaRPr>
          </a:p>
        </p:txBody>
      </p:sp>
      <p:sp>
        <p:nvSpPr>
          <p:cNvPr id="338" name="Google Shape;338;p39"/>
          <p:cNvSpPr/>
          <p:nvPr/>
        </p:nvSpPr>
        <p:spPr>
          <a:xfrm>
            <a:off x="7414379" y="5290423"/>
            <a:ext cx="6422213" cy="1781633"/>
          </a:xfrm>
          <a:custGeom>
            <a:rect b="b" l="l" r="r" t="t"/>
            <a:pathLst>
              <a:path extrusionOk="0" h="2969387" w="10703687">
                <a:moveTo>
                  <a:pt x="0" y="182880"/>
                </a:moveTo>
                <a:cubicBezTo>
                  <a:pt x="0" y="81915"/>
                  <a:pt x="81915" y="0"/>
                  <a:pt x="182880" y="0"/>
                </a:cubicBezTo>
                <a:lnTo>
                  <a:pt x="10520807" y="0"/>
                </a:lnTo>
                <a:cubicBezTo>
                  <a:pt x="10621772" y="0"/>
                  <a:pt x="10703687" y="81915"/>
                  <a:pt x="10703687" y="182880"/>
                </a:cubicBezTo>
                <a:lnTo>
                  <a:pt x="10703687" y="2786507"/>
                </a:lnTo>
                <a:cubicBezTo>
                  <a:pt x="10703687" y="2887472"/>
                  <a:pt x="10621772" y="2969387"/>
                  <a:pt x="10520807" y="2969387"/>
                </a:cubicBezTo>
                <a:lnTo>
                  <a:pt x="182880" y="2969387"/>
                </a:lnTo>
                <a:cubicBezTo>
                  <a:pt x="81915" y="2969387"/>
                  <a:pt x="0" y="2887472"/>
                  <a:pt x="0" y="2786507"/>
                </a:cubicBezTo>
                <a:close/>
              </a:path>
            </a:pathLst>
          </a:custGeom>
          <a:solidFill>
            <a:srgbClr val="EFF2FF">
              <a:alpha val="89019"/>
            </a:srgbClr>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9"/>
          <p:cNvSpPr/>
          <p:nvPr/>
        </p:nvSpPr>
        <p:spPr>
          <a:xfrm>
            <a:off x="7414379" y="5267563"/>
            <a:ext cx="6422213" cy="91440"/>
          </a:xfrm>
          <a:custGeom>
            <a:rect b="b" l="l" r="r" t="t"/>
            <a:pathLst>
              <a:path extrusionOk="0" h="152400" w="10703687">
                <a:moveTo>
                  <a:pt x="0" y="76200"/>
                </a:moveTo>
                <a:cubicBezTo>
                  <a:pt x="0" y="34163"/>
                  <a:pt x="34163" y="0"/>
                  <a:pt x="76200" y="0"/>
                </a:cubicBezTo>
                <a:lnTo>
                  <a:pt x="10627487" y="0"/>
                </a:lnTo>
                <a:cubicBezTo>
                  <a:pt x="10669524" y="0"/>
                  <a:pt x="10703687" y="34163"/>
                  <a:pt x="10703687" y="76200"/>
                </a:cubicBezTo>
                <a:cubicBezTo>
                  <a:pt x="10703687" y="118237"/>
                  <a:pt x="10669524" y="152400"/>
                  <a:pt x="10627487" y="152400"/>
                </a:cubicBezTo>
                <a:lnTo>
                  <a:pt x="76200" y="152400"/>
                </a:lnTo>
                <a:cubicBezTo>
                  <a:pt x="34163" y="152400"/>
                  <a:pt x="0" y="118237"/>
                  <a:pt x="0" y="76200"/>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9"/>
          <p:cNvSpPr/>
          <p:nvPr/>
        </p:nvSpPr>
        <p:spPr>
          <a:xfrm>
            <a:off x="10327838" y="4992767"/>
            <a:ext cx="595351" cy="595351"/>
          </a:xfrm>
          <a:custGeom>
            <a:rect b="b" l="l" r="r" t="t"/>
            <a:pathLst>
              <a:path extrusionOk="0"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1B1B27"/>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9"/>
          <p:cNvSpPr txBox="1"/>
          <p:nvPr/>
        </p:nvSpPr>
        <p:spPr>
          <a:xfrm>
            <a:off x="10562993" y="5089276"/>
            <a:ext cx="238200" cy="277200"/>
          </a:xfrm>
          <a:prstGeom prst="rect">
            <a:avLst/>
          </a:prstGeom>
          <a:noFill/>
          <a:ln>
            <a:noFill/>
          </a:ln>
        </p:spPr>
        <p:txBody>
          <a:bodyPr anchorCtr="0" anchor="t" bIns="0" lIns="0" spcFirstLastPara="1" rIns="0" wrap="square" tIns="0">
            <a:spAutoFit/>
          </a:bodyPr>
          <a:lstStyle/>
          <a:p>
            <a:pPr indent="0" lvl="0" marL="0" marR="0" rtl="0" algn="l">
              <a:lnSpc>
                <a:spcPct val="194593"/>
              </a:lnSpc>
              <a:spcBef>
                <a:spcPts val="0"/>
              </a:spcBef>
              <a:spcAft>
                <a:spcPts val="0"/>
              </a:spcAft>
              <a:buClr>
                <a:srgbClr val="000000"/>
              </a:buClr>
              <a:buSzPts val="1800"/>
              <a:buFont typeface="Arial"/>
              <a:buNone/>
            </a:pPr>
            <a:r>
              <a:rPr b="0" i="0" lang="en-US" sz="1800" u="none" cap="none" strike="noStrike">
                <a:solidFill>
                  <a:srgbClr val="FFFFFF"/>
                </a:solidFill>
                <a:latin typeface="Raleway"/>
                <a:ea typeface="Raleway"/>
                <a:cs typeface="Raleway"/>
                <a:sym typeface="Raleway"/>
              </a:rPr>
              <a:t>4</a:t>
            </a:r>
            <a:endParaRPr b="0" i="0" sz="1100" u="none" cap="none" strike="noStrike">
              <a:solidFill>
                <a:srgbClr val="000000"/>
              </a:solidFill>
              <a:latin typeface="Arial"/>
              <a:ea typeface="Arial"/>
              <a:cs typeface="Arial"/>
              <a:sym typeface="Arial"/>
            </a:endParaRPr>
          </a:p>
        </p:txBody>
      </p:sp>
      <p:sp>
        <p:nvSpPr>
          <p:cNvPr id="342" name="Google Shape;342;p39"/>
          <p:cNvSpPr txBox="1"/>
          <p:nvPr/>
        </p:nvSpPr>
        <p:spPr>
          <a:xfrm>
            <a:off x="7635597" y="5725597"/>
            <a:ext cx="2480905" cy="371118"/>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1900" u="none" cap="none" strike="noStrike">
                <a:solidFill>
                  <a:srgbClr val="3C3939"/>
                </a:solidFill>
                <a:latin typeface="Raleway"/>
                <a:ea typeface="Raleway"/>
                <a:cs typeface="Raleway"/>
                <a:sym typeface="Raleway"/>
              </a:rPr>
              <a:t>Interpretation</a:t>
            </a:r>
            <a:endParaRPr b="0" i="0" sz="1100" u="none" cap="none" strike="noStrike">
              <a:solidFill>
                <a:srgbClr val="000000"/>
              </a:solidFill>
              <a:latin typeface="Arial"/>
              <a:ea typeface="Arial"/>
              <a:cs typeface="Arial"/>
              <a:sym typeface="Arial"/>
            </a:endParaRPr>
          </a:p>
        </p:txBody>
      </p:sp>
      <p:sp>
        <p:nvSpPr>
          <p:cNvPr id="343" name="Google Shape;343;p39"/>
          <p:cNvSpPr txBox="1"/>
          <p:nvPr/>
        </p:nvSpPr>
        <p:spPr>
          <a:xfrm>
            <a:off x="7635597" y="6116717"/>
            <a:ext cx="5979795" cy="701041"/>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Computed SHAP values on test data to quantify feature contributions and align with clinical intuition.</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p:nvPr/>
        </p:nvSpPr>
        <p:spPr>
          <a:xfrm>
            <a:off x="437150" y="525750"/>
            <a:ext cx="11023252" cy="6671706"/>
          </a:xfrm>
          <a:custGeom>
            <a:rect b="b" l="l" r="r" t="t"/>
            <a:pathLst>
              <a:path extrusionOk="0" h="10424541" w="15918053">
                <a:moveTo>
                  <a:pt x="0" y="0"/>
                </a:moveTo>
                <a:lnTo>
                  <a:pt x="15918053" y="0"/>
                </a:lnTo>
                <a:lnTo>
                  <a:pt x="15918053" y="10424541"/>
                </a:lnTo>
                <a:lnTo>
                  <a:pt x="0" y="10424541"/>
                </a:lnTo>
                <a:lnTo>
                  <a:pt x="0" y="0"/>
                </a:lnTo>
                <a:close/>
              </a:path>
            </a:pathLst>
          </a:custGeom>
          <a:blipFill rotWithShape="1">
            <a:blip r:embed="rId3">
              <a:alphaModFix/>
            </a:blip>
            <a:stretch>
              <a:fillRect b="0" l="0" r="0" t="0"/>
            </a:stretch>
          </a:blipFill>
          <a:ln>
            <a:noFill/>
          </a:ln>
        </p:spPr>
      </p:sp>
      <p:sp>
        <p:nvSpPr>
          <p:cNvPr id="353" name="Google Shape;353;p40"/>
          <p:cNvSpPr/>
          <p:nvPr/>
        </p:nvSpPr>
        <p:spPr>
          <a:xfrm>
            <a:off x="679225" y="1096325"/>
            <a:ext cx="14325600" cy="335737"/>
          </a:xfrm>
          <a:custGeom>
            <a:rect b="b" l="l" r="r" t="t"/>
            <a:pathLst>
              <a:path extrusionOk="0" h="559562" w="23876000">
                <a:moveTo>
                  <a:pt x="0" y="0"/>
                </a:moveTo>
                <a:lnTo>
                  <a:pt x="23876000" y="0"/>
                </a:lnTo>
                <a:lnTo>
                  <a:pt x="23876000" y="559562"/>
                </a:lnTo>
                <a:lnTo>
                  <a:pt x="0" y="559562"/>
                </a:lnTo>
                <a:lnTo>
                  <a:pt x="0" y="0"/>
                </a:lnTo>
                <a:close/>
              </a:path>
            </a:pathLst>
          </a:custGeom>
          <a:blipFill rotWithShape="1">
            <a:blip r:embed="rId4">
              <a:alphaModFix/>
            </a:blip>
            <a:stretch>
              <a:fillRect b="-2" l="0" r="0" t="0"/>
            </a:stretch>
          </a:blipFill>
          <a:ln>
            <a:noFill/>
          </a:ln>
        </p:spPr>
      </p:sp>
      <p:sp>
        <p:nvSpPr>
          <p:cNvPr id="354" name="Google Shape;354;p40"/>
          <p:cNvSpPr/>
          <p:nvPr/>
        </p:nvSpPr>
        <p:spPr>
          <a:xfrm>
            <a:off x="304800" y="7486375"/>
            <a:ext cx="14325600" cy="349758"/>
          </a:xfrm>
          <a:custGeom>
            <a:rect b="b" l="l" r="r" t="t"/>
            <a:pathLst>
              <a:path extrusionOk="0" h="582930" w="23876000">
                <a:moveTo>
                  <a:pt x="0" y="0"/>
                </a:moveTo>
                <a:lnTo>
                  <a:pt x="23876000" y="0"/>
                </a:lnTo>
                <a:lnTo>
                  <a:pt x="23876000" y="582930"/>
                </a:lnTo>
                <a:lnTo>
                  <a:pt x="0" y="58293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1"/>
          <p:cNvSpPr/>
          <p:nvPr/>
        </p:nvSpPr>
        <p:spPr>
          <a:xfrm>
            <a:off x="1433175" y="860500"/>
            <a:ext cx="12074242" cy="6217635"/>
          </a:xfrm>
          <a:custGeom>
            <a:rect b="b" l="l" r="r" t="t"/>
            <a:pathLst>
              <a:path extrusionOk="0" h="9988169" w="22998557">
                <a:moveTo>
                  <a:pt x="0" y="0"/>
                </a:moveTo>
                <a:lnTo>
                  <a:pt x="22998557" y="0"/>
                </a:lnTo>
                <a:lnTo>
                  <a:pt x="22998557" y="9988169"/>
                </a:lnTo>
                <a:lnTo>
                  <a:pt x="0" y="9988169"/>
                </a:lnTo>
                <a:lnTo>
                  <a:pt x="0" y="0"/>
                </a:lnTo>
                <a:close/>
              </a:path>
            </a:pathLst>
          </a:custGeom>
          <a:blipFill rotWithShape="1">
            <a:blip r:embed="rId3">
              <a:alphaModFix/>
            </a:blip>
            <a:stretch>
              <a:fillRect b="-48" l="0" r="0" t="-49"/>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2"/>
          <p:cNvSpPr txBox="1"/>
          <p:nvPr/>
        </p:nvSpPr>
        <p:spPr>
          <a:xfrm>
            <a:off x="525450" y="920675"/>
            <a:ext cx="12045300" cy="8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400" u="none" cap="none" strike="noStrike">
                <a:solidFill>
                  <a:schemeClr val="dk1"/>
                </a:solidFill>
                <a:latin typeface="Raleway"/>
                <a:ea typeface="Raleway"/>
                <a:cs typeface="Raleway"/>
                <a:sym typeface="Raleway"/>
              </a:rPr>
              <a:t>Threshold Sensitivity Analysis</a:t>
            </a:r>
            <a:endParaRPr b="0" i="0" sz="3400" u="none" cap="none" strike="noStrike">
              <a:solidFill>
                <a:schemeClr val="dk1"/>
              </a:solidFill>
              <a:latin typeface="Raleway"/>
              <a:ea typeface="Raleway"/>
              <a:cs typeface="Raleway"/>
              <a:sym typeface="Raleway"/>
            </a:endParaRPr>
          </a:p>
        </p:txBody>
      </p:sp>
      <p:pic>
        <p:nvPicPr>
          <p:cNvPr id="370" name="Google Shape;370;p42"/>
          <p:cNvPicPr preferRelativeResize="0"/>
          <p:nvPr/>
        </p:nvPicPr>
        <p:blipFill rotWithShape="1">
          <a:blip r:embed="rId3">
            <a:alphaModFix/>
          </a:blip>
          <a:srcRect b="0" l="0" r="0" t="0"/>
          <a:stretch/>
        </p:blipFill>
        <p:spPr>
          <a:xfrm>
            <a:off x="1523875" y="2270150"/>
            <a:ext cx="11582625" cy="50302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3"/>
          <p:cNvSpPr txBox="1"/>
          <p:nvPr/>
        </p:nvSpPr>
        <p:spPr>
          <a:xfrm>
            <a:off x="793776" y="704225"/>
            <a:ext cx="91263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What Drives AKI Risk? SHAP Analysis</a:t>
            </a:r>
            <a:endParaRPr b="0" i="0" sz="1100" u="none" cap="none" strike="noStrike">
              <a:solidFill>
                <a:srgbClr val="000000"/>
              </a:solidFill>
              <a:latin typeface="Arial"/>
              <a:ea typeface="Arial"/>
              <a:cs typeface="Arial"/>
              <a:sym typeface="Arial"/>
            </a:endParaRPr>
          </a:p>
        </p:txBody>
      </p:sp>
      <p:sp>
        <p:nvSpPr>
          <p:cNvPr id="380" name="Google Shape;380;p43"/>
          <p:cNvSpPr txBox="1"/>
          <p:nvPr/>
        </p:nvSpPr>
        <p:spPr>
          <a:xfrm>
            <a:off x="793790" y="1642333"/>
            <a:ext cx="13042800" cy="2310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SHAP analysis revealed the most important features for predicting drug-associated AKI, aligning with clinical expectations.</a:t>
            </a:r>
            <a:endParaRPr b="0" i="0" sz="1100" u="none" cap="none" strike="noStrike">
              <a:solidFill>
                <a:srgbClr val="000000"/>
              </a:solidFill>
              <a:latin typeface="Arial"/>
              <a:ea typeface="Arial"/>
              <a:cs typeface="Arial"/>
              <a:sym typeface="Arial"/>
            </a:endParaRPr>
          </a:p>
        </p:txBody>
      </p:sp>
      <p:sp>
        <p:nvSpPr>
          <p:cNvPr id="381" name="Google Shape;381;p43"/>
          <p:cNvSpPr txBox="1"/>
          <p:nvPr/>
        </p:nvSpPr>
        <p:spPr>
          <a:xfrm>
            <a:off x="626289" y="4320500"/>
            <a:ext cx="2738700" cy="3078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2000" u="none" cap="none" strike="noStrike">
                <a:solidFill>
                  <a:srgbClr val="3C3939"/>
                </a:solidFill>
                <a:latin typeface="Raleway"/>
                <a:ea typeface="Raleway"/>
                <a:cs typeface="Raleway"/>
                <a:sym typeface="Raleway"/>
              </a:rPr>
              <a:t>Vancomycin Exposure</a:t>
            </a:r>
            <a:endParaRPr b="0" i="0" sz="2000" u="none" cap="none" strike="noStrike">
              <a:solidFill>
                <a:srgbClr val="000000"/>
              </a:solidFill>
              <a:latin typeface="Arial"/>
              <a:ea typeface="Arial"/>
              <a:cs typeface="Arial"/>
              <a:sym typeface="Arial"/>
            </a:endParaRPr>
          </a:p>
        </p:txBody>
      </p:sp>
      <p:sp>
        <p:nvSpPr>
          <p:cNvPr id="382" name="Google Shape;382;p43"/>
          <p:cNvSpPr txBox="1"/>
          <p:nvPr/>
        </p:nvSpPr>
        <p:spPr>
          <a:xfrm>
            <a:off x="548675" y="5131650"/>
            <a:ext cx="3074700" cy="2462700"/>
          </a:xfrm>
          <a:prstGeom prst="rect">
            <a:avLst/>
          </a:prstGeom>
          <a:noFill/>
          <a:ln>
            <a:noFill/>
          </a:ln>
        </p:spPr>
        <p:txBody>
          <a:bodyPr anchorCtr="0" anchor="t" bIns="0" lIns="0" spcFirstLastPara="1" rIns="0" wrap="square" tIns="0">
            <a:spAutoFit/>
          </a:bodyPr>
          <a:lstStyle/>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Strongest predictor of 48-hour AKI.</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SHAP shows high positive contribution → risk sharply increases when vancomycin is used.</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Reflects known nephrotoxicity and dose-related toxicity in critically ill patients.</a:t>
            </a:r>
            <a:endParaRPr b="0" i="0" sz="1600" u="none" cap="none" strike="noStrike">
              <a:solidFill>
                <a:srgbClr val="000000"/>
              </a:solidFill>
              <a:latin typeface="DM Sans"/>
              <a:ea typeface="DM Sans"/>
              <a:cs typeface="DM Sans"/>
              <a:sym typeface="DM Sans"/>
            </a:endParaRPr>
          </a:p>
        </p:txBody>
      </p:sp>
      <p:sp>
        <p:nvSpPr>
          <p:cNvPr id="383" name="Google Shape;383;p43"/>
          <p:cNvSpPr txBox="1"/>
          <p:nvPr/>
        </p:nvSpPr>
        <p:spPr>
          <a:xfrm>
            <a:off x="3949074" y="4320500"/>
            <a:ext cx="2738700" cy="3078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2000" u="none" cap="none" strike="noStrike">
                <a:solidFill>
                  <a:srgbClr val="3C3939"/>
                </a:solidFill>
                <a:latin typeface="Raleway"/>
                <a:ea typeface="Raleway"/>
                <a:cs typeface="Raleway"/>
                <a:sym typeface="Raleway"/>
              </a:rPr>
              <a:t>SAPS II Severity Score</a:t>
            </a:r>
            <a:endParaRPr b="0" i="0" sz="2000" u="none" cap="none" strike="noStrike">
              <a:solidFill>
                <a:srgbClr val="000000"/>
              </a:solidFill>
              <a:latin typeface="Arial"/>
              <a:ea typeface="Arial"/>
              <a:cs typeface="Arial"/>
              <a:sym typeface="Arial"/>
            </a:endParaRPr>
          </a:p>
        </p:txBody>
      </p:sp>
      <p:sp>
        <p:nvSpPr>
          <p:cNvPr id="384" name="Google Shape;384;p43"/>
          <p:cNvSpPr txBox="1"/>
          <p:nvPr/>
        </p:nvSpPr>
        <p:spPr>
          <a:xfrm>
            <a:off x="3819567" y="5131644"/>
            <a:ext cx="3074700" cy="2462700"/>
          </a:xfrm>
          <a:prstGeom prst="rect">
            <a:avLst/>
          </a:prstGeom>
          <a:noFill/>
          <a:ln>
            <a:noFill/>
          </a:ln>
        </p:spPr>
        <p:txBody>
          <a:bodyPr anchorCtr="0" anchor="t" bIns="0" lIns="0" spcFirstLastPara="1" rIns="0" wrap="square" tIns="0">
            <a:spAutoFit/>
          </a:bodyPr>
          <a:lstStyle/>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⁠Higher severity scores greatly increase AKI risk.</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Captures global physiologic instability → sicker patients are more vulnerable to kidney injury.</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⁠SHAP confirms a *monotonic risk gradient* with rising severity.</a:t>
            </a:r>
            <a:endParaRPr b="0" i="0" sz="16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DM Sans"/>
              <a:ea typeface="DM Sans"/>
              <a:cs typeface="DM Sans"/>
              <a:sym typeface="DM Sans"/>
            </a:endParaRPr>
          </a:p>
        </p:txBody>
      </p:sp>
      <p:sp>
        <p:nvSpPr>
          <p:cNvPr id="385" name="Google Shape;385;p43"/>
          <p:cNvSpPr txBox="1"/>
          <p:nvPr/>
        </p:nvSpPr>
        <p:spPr>
          <a:xfrm>
            <a:off x="7271651" y="4320500"/>
            <a:ext cx="2914500" cy="3078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2000" u="none" cap="none" strike="noStrike">
                <a:solidFill>
                  <a:srgbClr val="3C3939"/>
                </a:solidFill>
                <a:latin typeface="Raleway"/>
                <a:ea typeface="Raleway"/>
                <a:cs typeface="Raleway"/>
                <a:sym typeface="Raleway"/>
              </a:rPr>
              <a:t>Loop Diuretic Exposure</a:t>
            </a:r>
            <a:endParaRPr b="0" i="0" sz="2000" u="none" cap="none" strike="noStrike">
              <a:solidFill>
                <a:srgbClr val="000000"/>
              </a:solidFill>
              <a:latin typeface="Arial"/>
              <a:ea typeface="Arial"/>
              <a:cs typeface="Arial"/>
              <a:sym typeface="Arial"/>
            </a:endParaRPr>
          </a:p>
        </p:txBody>
      </p:sp>
      <p:sp>
        <p:nvSpPr>
          <p:cNvPr id="386" name="Google Shape;386;p43"/>
          <p:cNvSpPr txBox="1"/>
          <p:nvPr/>
        </p:nvSpPr>
        <p:spPr>
          <a:xfrm>
            <a:off x="7271844" y="5131644"/>
            <a:ext cx="3074700" cy="1970100"/>
          </a:xfrm>
          <a:prstGeom prst="rect">
            <a:avLst/>
          </a:prstGeom>
          <a:noFill/>
          <a:ln>
            <a:noFill/>
          </a:ln>
        </p:spPr>
        <p:txBody>
          <a:bodyPr anchorCtr="0" anchor="t" bIns="0" lIns="0" spcFirstLastPara="1" rIns="0" wrap="square" tIns="0">
            <a:spAutoFit/>
          </a:bodyPr>
          <a:lstStyle/>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More loop diuretic orders → fluid depletion + hemodynamic stress → increased AKI risk.</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SHAP indicates even modest diuretic exposure contributes meaningfully to model predictions.</a:t>
            </a:r>
            <a:endParaRPr b="0" i="0" sz="1600" u="none" cap="none" strike="noStrike">
              <a:solidFill>
                <a:srgbClr val="000000"/>
              </a:solidFill>
              <a:latin typeface="DM Sans"/>
              <a:ea typeface="DM Sans"/>
              <a:cs typeface="DM Sans"/>
              <a:sym typeface="DM Sans"/>
            </a:endParaRPr>
          </a:p>
        </p:txBody>
      </p:sp>
      <p:sp>
        <p:nvSpPr>
          <p:cNvPr id="387" name="Google Shape;387;p43"/>
          <p:cNvSpPr txBox="1"/>
          <p:nvPr/>
        </p:nvSpPr>
        <p:spPr>
          <a:xfrm>
            <a:off x="10594314" y="4320500"/>
            <a:ext cx="3409800" cy="3078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0" i="0" lang="en-US" sz="2000" u="none" cap="none" strike="noStrike">
                <a:solidFill>
                  <a:srgbClr val="3C3939"/>
                </a:solidFill>
                <a:latin typeface="Raleway"/>
                <a:ea typeface="Raleway"/>
                <a:cs typeface="Raleway"/>
                <a:sym typeface="Raleway"/>
              </a:rPr>
              <a:t>Baseline Serum Creatinine</a:t>
            </a:r>
            <a:endParaRPr b="0" i="0" sz="2000" u="none" cap="none" strike="noStrike">
              <a:solidFill>
                <a:srgbClr val="000000"/>
              </a:solidFill>
              <a:latin typeface="Arial"/>
              <a:ea typeface="Arial"/>
              <a:cs typeface="Arial"/>
              <a:sym typeface="Arial"/>
            </a:endParaRPr>
          </a:p>
        </p:txBody>
      </p:sp>
      <p:sp>
        <p:nvSpPr>
          <p:cNvPr id="388" name="Google Shape;388;p43"/>
          <p:cNvSpPr txBox="1"/>
          <p:nvPr/>
        </p:nvSpPr>
        <p:spPr>
          <a:xfrm>
            <a:off x="10594621" y="5131638"/>
            <a:ext cx="3074700" cy="1970100"/>
          </a:xfrm>
          <a:prstGeom prst="rect">
            <a:avLst/>
          </a:prstGeom>
          <a:noFill/>
          <a:ln>
            <a:noFill/>
          </a:ln>
        </p:spPr>
        <p:txBody>
          <a:bodyPr anchorCtr="0" anchor="t" bIns="0" lIns="0" spcFirstLastPara="1" rIns="0" wrap="square" tIns="0">
            <a:spAutoFit/>
          </a:bodyPr>
          <a:lstStyle/>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Elevated baseline SCr = reduced kidney reserve.</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SHAP shows higher SCr consistently pushes prediction toward AKI.</a:t>
            </a:r>
            <a:endParaRPr b="0" i="0" sz="1600" u="none" cap="none" strike="noStrike">
              <a:solidFill>
                <a:srgbClr val="000000"/>
              </a:solidFill>
              <a:latin typeface="DM Sans"/>
              <a:ea typeface="DM Sans"/>
              <a:cs typeface="DM Sans"/>
              <a:sym typeface="DM Sans"/>
            </a:endParaRPr>
          </a:p>
          <a:p>
            <a:pPr indent="-330200" lvl="0" marL="457200" marR="0" rtl="0" algn="l">
              <a:lnSpc>
                <a:spcPct val="100000"/>
              </a:lnSpc>
              <a:spcBef>
                <a:spcPts val="0"/>
              </a:spcBef>
              <a:spcAft>
                <a:spcPts val="0"/>
              </a:spcAft>
              <a:buClr>
                <a:srgbClr val="000000"/>
              </a:buClr>
              <a:buSzPts val="1600"/>
              <a:buFont typeface="DM Sans"/>
              <a:buChar char="●"/>
            </a:pPr>
            <a:r>
              <a:rPr b="0" i="0" lang="en-US" sz="1600" u="none" cap="none" strike="noStrike">
                <a:solidFill>
                  <a:srgbClr val="000000"/>
                </a:solidFill>
                <a:latin typeface="DM Sans"/>
                <a:ea typeface="DM Sans"/>
                <a:cs typeface="DM Sans"/>
                <a:sym typeface="DM Sans"/>
              </a:rPr>
              <a:t>Clinically consistent: chronic impairment = higher susceptibility.</a:t>
            </a:r>
            <a:endParaRPr b="0" i="0" sz="1600" u="none" cap="none" strike="noStrike">
              <a:solidFill>
                <a:srgbClr val="000000"/>
              </a:solidFill>
              <a:latin typeface="DM Sans"/>
              <a:ea typeface="DM Sans"/>
              <a:cs typeface="DM Sans"/>
              <a:sym typeface="DM Sans"/>
            </a:endParaRPr>
          </a:p>
        </p:txBody>
      </p:sp>
      <p:pic>
        <p:nvPicPr>
          <p:cNvPr id="389" name="Google Shape;389;p43" title="image-removebg-preview-2.png"/>
          <p:cNvPicPr preferRelativeResize="0"/>
          <p:nvPr/>
        </p:nvPicPr>
        <p:blipFill rotWithShape="1">
          <a:blip r:embed="rId3">
            <a:alphaModFix/>
          </a:blip>
          <a:srcRect b="0" l="0" r="0" t="0"/>
          <a:stretch/>
        </p:blipFill>
        <p:spPr>
          <a:xfrm>
            <a:off x="4109149" y="2384871"/>
            <a:ext cx="2495550" cy="1666429"/>
          </a:xfrm>
          <a:prstGeom prst="rect">
            <a:avLst/>
          </a:prstGeom>
          <a:noFill/>
          <a:ln>
            <a:noFill/>
          </a:ln>
        </p:spPr>
      </p:pic>
      <p:pic>
        <p:nvPicPr>
          <p:cNvPr id="390" name="Google Shape;390;p43" title="image-removebg-preview-3.png"/>
          <p:cNvPicPr preferRelativeResize="0"/>
          <p:nvPr/>
        </p:nvPicPr>
        <p:blipFill rotWithShape="1">
          <a:blip r:embed="rId4">
            <a:alphaModFix/>
          </a:blip>
          <a:srcRect b="0" l="0" r="0" t="0"/>
          <a:stretch/>
        </p:blipFill>
        <p:spPr>
          <a:xfrm>
            <a:off x="793812" y="2441339"/>
            <a:ext cx="2119863" cy="1553487"/>
          </a:xfrm>
          <a:prstGeom prst="rect">
            <a:avLst/>
          </a:prstGeom>
          <a:noFill/>
          <a:ln>
            <a:noFill/>
          </a:ln>
        </p:spPr>
      </p:pic>
      <p:pic>
        <p:nvPicPr>
          <p:cNvPr id="391" name="Google Shape;391;p43" title="image-removebg-preview-4.png"/>
          <p:cNvPicPr preferRelativeResize="0"/>
          <p:nvPr/>
        </p:nvPicPr>
        <p:blipFill rotWithShape="1">
          <a:blip r:embed="rId5">
            <a:alphaModFix/>
          </a:blip>
          <a:srcRect b="0" l="0" r="0" t="0"/>
          <a:stretch/>
        </p:blipFill>
        <p:spPr>
          <a:xfrm>
            <a:off x="7657712" y="2025733"/>
            <a:ext cx="2142368" cy="2142368"/>
          </a:xfrm>
          <a:prstGeom prst="rect">
            <a:avLst/>
          </a:prstGeom>
          <a:noFill/>
          <a:ln>
            <a:noFill/>
          </a:ln>
        </p:spPr>
      </p:pic>
      <p:pic>
        <p:nvPicPr>
          <p:cNvPr id="392" name="Google Shape;392;p43" title="image-removebg-preview-5.png"/>
          <p:cNvPicPr preferRelativeResize="0"/>
          <p:nvPr/>
        </p:nvPicPr>
        <p:blipFill rotWithShape="1">
          <a:blip r:embed="rId6">
            <a:alphaModFix/>
          </a:blip>
          <a:srcRect b="0" l="0" r="0" t="0"/>
          <a:stretch/>
        </p:blipFill>
        <p:spPr>
          <a:xfrm>
            <a:off x="11131229" y="2146908"/>
            <a:ext cx="2001476" cy="21423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4"/>
          <p:cNvSpPr txBox="1"/>
          <p:nvPr/>
        </p:nvSpPr>
        <p:spPr>
          <a:xfrm>
            <a:off x="793802" y="461545"/>
            <a:ext cx="8980200" cy="569400"/>
          </a:xfrm>
          <a:prstGeom prst="rect">
            <a:avLst/>
          </a:prstGeom>
          <a:noFill/>
          <a:ln>
            <a:noFill/>
          </a:ln>
        </p:spPr>
        <p:txBody>
          <a:bodyPr anchorCtr="0" anchor="t" bIns="0" lIns="0" spcFirstLastPara="1" rIns="0" wrap="square" tIns="0">
            <a:spAutoFit/>
          </a:bodyPr>
          <a:lstStyle/>
          <a:p>
            <a:pPr indent="0" lvl="0" marL="0" marR="0" rtl="0" algn="l">
              <a:lnSpc>
                <a:spcPct val="149167"/>
              </a:lnSpc>
              <a:spcBef>
                <a:spcPts val="0"/>
              </a:spcBef>
              <a:spcAft>
                <a:spcPts val="0"/>
              </a:spcAft>
              <a:buClr>
                <a:srgbClr val="000000"/>
              </a:buClr>
              <a:buSzPts val="3700"/>
              <a:buFont typeface="Arial"/>
              <a:buNone/>
            </a:pPr>
            <a:r>
              <a:rPr b="0" i="0" lang="en-US" sz="3700" u="none" cap="none" strike="noStrike">
                <a:solidFill>
                  <a:srgbClr val="1B1B27"/>
                </a:solidFill>
                <a:latin typeface="Raleway"/>
                <a:ea typeface="Raleway"/>
                <a:cs typeface="Raleway"/>
                <a:sym typeface="Raleway"/>
              </a:rPr>
              <a:t>Why Temporal Enrichment Matters</a:t>
            </a:r>
            <a:endParaRPr b="0" i="0" sz="1100" u="none" cap="none" strike="noStrike">
              <a:solidFill>
                <a:srgbClr val="000000"/>
              </a:solidFill>
              <a:latin typeface="Arial"/>
              <a:ea typeface="Arial"/>
              <a:cs typeface="Arial"/>
              <a:sym typeface="Arial"/>
            </a:endParaRPr>
          </a:p>
        </p:txBody>
      </p:sp>
      <p:sp>
        <p:nvSpPr>
          <p:cNvPr id="402" name="Google Shape;402;p44"/>
          <p:cNvSpPr txBox="1"/>
          <p:nvPr/>
        </p:nvSpPr>
        <p:spPr>
          <a:xfrm>
            <a:off x="793790" y="1495901"/>
            <a:ext cx="13042800" cy="725100"/>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600" u="none" cap="none" strike="noStrike">
                <a:solidFill>
                  <a:srgbClr val="3C3939"/>
                </a:solidFill>
                <a:latin typeface="DM Sans"/>
                <a:ea typeface="DM Sans"/>
                <a:cs typeface="DM Sans"/>
                <a:sym typeface="DM Sans"/>
              </a:rPr>
              <a:t>Static baseline features are not enough. The largest gains came from features that capture dynamic clinical trajectories and encode the signals clinicians reason about informally.</a:t>
            </a:r>
            <a:endParaRPr b="0" i="0" sz="1300" u="none" cap="none" strike="noStrike">
              <a:solidFill>
                <a:srgbClr val="000000"/>
              </a:solidFill>
              <a:latin typeface="Arial"/>
              <a:ea typeface="Arial"/>
              <a:cs typeface="Arial"/>
              <a:sym typeface="Arial"/>
            </a:endParaRPr>
          </a:p>
        </p:txBody>
      </p:sp>
      <p:grpSp>
        <p:nvGrpSpPr>
          <p:cNvPr id="403" name="Google Shape;403;p44"/>
          <p:cNvGrpSpPr/>
          <p:nvPr/>
        </p:nvGrpSpPr>
        <p:grpSpPr>
          <a:xfrm>
            <a:off x="1071801" y="2884527"/>
            <a:ext cx="6153759" cy="198043"/>
            <a:chOff x="0" y="0"/>
            <a:chExt cx="10256266" cy="330073"/>
          </a:xfrm>
        </p:grpSpPr>
        <p:sp>
          <p:nvSpPr>
            <p:cNvPr id="404" name="Google Shape;404;p44"/>
            <p:cNvSpPr/>
            <p:nvPr/>
          </p:nvSpPr>
          <p:spPr>
            <a:xfrm>
              <a:off x="7874" y="7874"/>
              <a:ext cx="10240391" cy="314071"/>
            </a:xfrm>
            <a:custGeom>
              <a:rect b="b" l="l" r="r" t="t"/>
              <a:pathLst>
                <a:path extrusionOk="0" h="314071" w="10240391">
                  <a:moveTo>
                    <a:pt x="0" y="132080"/>
                  </a:moveTo>
                  <a:cubicBezTo>
                    <a:pt x="0" y="59182"/>
                    <a:pt x="62103" y="0"/>
                    <a:pt x="138557" y="0"/>
                  </a:cubicBezTo>
                  <a:lnTo>
                    <a:pt x="10101961" y="0"/>
                  </a:lnTo>
                  <a:cubicBezTo>
                    <a:pt x="10178415" y="0"/>
                    <a:pt x="10240391" y="59055"/>
                    <a:pt x="10240391" y="131953"/>
                  </a:cubicBezTo>
                  <a:lnTo>
                    <a:pt x="10240391" y="182118"/>
                  </a:lnTo>
                  <a:cubicBezTo>
                    <a:pt x="10240391" y="255016"/>
                    <a:pt x="10178415" y="314071"/>
                    <a:pt x="10101961" y="314071"/>
                  </a:cubicBezTo>
                  <a:lnTo>
                    <a:pt x="138557" y="314071"/>
                  </a:lnTo>
                  <a:cubicBezTo>
                    <a:pt x="62103" y="314198"/>
                    <a:pt x="127" y="255143"/>
                    <a:pt x="0" y="182245"/>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4"/>
            <p:cNvSpPr/>
            <p:nvPr/>
          </p:nvSpPr>
          <p:spPr>
            <a:xfrm>
              <a:off x="0" y="0"/>
              <a:ext cx="10256266" cy="330073"/>
            </a:xfrm>
            <a:custGeom>
              <a:rect b="b" l="l" r="r" t="t"/>
              <a:pathLst>
                <a:path extrusionOk="0" h="330073" w="10256266">
                  <a:moveTo>
                    <a:pt x="0" y="139954"/>
                  </a:moveTo>
                  <a:cubicBezTo>
                    <a:pt x="0" y="62230"/>
                    <a:pt x="65913" y="0"/>
                    <a:pt x="146431" y="0"/>
                  </a:cubicBezTo>
                  <a:lnTo>
                    <a:pt x="10109835" y="0"/>
                  </a:lnTo>
                  <a:lnTo>
                    <a:pt x="10109835" y="7874"/>
                  </a:lnTo>
                  <a:lnTo>
                    <a:pt x="10109835" y="0"/>
                  </a:lnTo>
                  <a:cubicBezTo>
                    <a:pt x="10190353" y="0"/>
                    <a:pt x="10256266" y="62230"/>
                    <a:pt x="10256266" y="139954"/>
                  </a:cubicBezTo>
                  <a:lnTo>
                    <a:pt x="10248392" y="139954"/>
                  </a:lnTo>
                  <a:lnTo>
                    <a:pt x="10256266" y="139954"/>
                  </a:lnTo>
                  <a:lnTo>
                    <a:pt x="10256266" y="190119"/>
                  </a:lnTo>
                  <a:lnTo>
                    <a:pt x="10248392" y="190119"/>
                  </a:lnTo>
                  <a:lnTo>
                    <a:pt x="10256266" y="190119"/>
                  </a:lnTo>
                  <a:cubicBezTo>
                    <a:pt x="10256266" y="267716"/>
                    <a:pt x="10190353" y="330073"/>
                    <a:pt x="10109835" y="330073"/>
                  </a:cubicBezTo>
                  <a:lnTo>
                    <a:pt x="10109835" y="322199"/>
                  </a:lnTo>
                  <a:lnTo>
                    <a:pt x="10109835" y="330073"/>
                  </a:lnTo>
                  <a:lnTo>
                    <a:pt x="146431" y="330073"/>
                  </a:lnTo>
                  <a:lnTo>
                    <a:pt x="146431" y="322199"/>
                  </a:lnTo>
                  <a:lnTo>
                    <a:pt x="146431" y="330073"/>
                  </a:lnTo>
                  <a:cubicBezTo>
                    <a:pt x="65913" y="329946"/>
                    <a:pt x="0" y="267716"/>
                    <a:pt x="0" y="190119"/>
                  </a:cubicBezTo>
                  <a:lnTo>
                    <a:pt x="0" y="139954"/>
                  </a:lnTo>
                  <a:lnTo>
                    <a:pt x="7874" y="139954"/>
                  </a:lnTo>
                  <a:lnTo>
                    <a:pt x="0" y="139954"/>
                  </a:lnTo>
                  <a:moveTo>
                    <a:pt x="15875" y="139954"/>
                  </a:moveTo>
                  <a:lnTo>
                    <a:pt x="15875" y="190119"/>
                  </a:lnTo>
                  <a:lnTo>
                    <a:pt x="7874" y="190119"/>
                  </a:lnTo>
                  <a:lnTo>
                    <a:pt x="15748" y="190119"/>
                  </a:lnTo>
                  <a:cubicBezTo>
                    <a:pt x="15748" y="258318"/>
                    <a:pt x="73787" y="314198"/>
                    <a:pt x="146304" y="314198"/>
                  </a:cubicBezTo>
                  <a:lnTo>
                    <a:pt x="10109835" y="314198"/>
                  </a:lnTo>
                  <a:cubicBezTo>
                    <a:pt x="10182225" y="314198"/>
                    <a:pt x="10240391" y="258318"/>
                    <a:pt x="10240391" y="190119"/>
                  </a:cubicBezTo>
                  <a:lnTo>
                    <a:pt x="10240391" y="139954"/>
                  </a:lnTo>
                  <a:cubicBezTo>
                    <a:pt x="10240391" y="71755"/>
                    <a:pt x="10182352" y="15875"/>
                    <a:pt x="10109835" y="15875"/>
                  </a:cubicBezTo>
                  <a:lnTo>
                    <a:pt x="146431" y="15875"/>
                  </a:lnTo>
                  <a:lnTo>
                    <a:pt x="146431" y="7874"/>
                  </a:lnTo>
                  <a:lnTo>
                    <a:pt x="146431" y="15748"/>
                  </a:lnTo>
                  <a:cubicBezTo>
                    <a:pt x="74041" y="15748"/>
                    <a:pt x="15875" y="71628"/>
                    <a:pt x="15875" y="139827"/>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p44"/>
          <p:cNvGrpSpPr/>
          <p:nvPr/>
        </p:nvGrpSpPr>
        <p:grpSpPr>
          <a:xfrm>
            <a:off x="789027" y="2696051"/>
            <a:ext cx="575082" cy="575005"/>
            <a:chOff x="0" y="0"/>
            <a:chExt cx="958469" cy="958342"/>
          </a:xfrm>
        </p:grpSpPr>
        <p:sp>
          <p:nvSpPr>
            <p:cNvPr id="407" name="Google Shape;407;p44"/>
            <p:cNvSpPr/>
            <p:nvPr/>
          </p:nvSpPr>
          <p:spPr>
            <a:xfrm>
              <a:off x="7874" y="7874"/>
              <a:ext cx="942594" cy="942594"/>
            </a:xfrm>
            <a:custGeom>
              <a:rect b="b" l="l" r="r" t="t"/>
              <a:pathLst>
                <a:path extrusionOk="0" h="942594" w="942594">
                  <a:moveTo>
                    <a:pt x="0" y="471297"/>
                  </a:moveTo>
                  <a:cubicBezTo>
                    <a:pt x="0" y="211074"/>
                    <a:pt x="211074" y="0"/>
                    <a:pt x="471297" y="0"/>
                  </a:cubicBezTo>
                  <a:cubicBezTo>
                    <a:pt x="731520" y="0"/>
                    <a:pt x="942594" y="211074"/>
                    <a:pt x="942594" y="471297"/>
                  </a:cubicBezTo>
                  <a:cubicBezTo>
                    <a:pt x="942594" y="731520"/>
                    <a:pt x="731647" y="942594"/>
                    <a:pt x="471297" y="942594"/>
                  </a:cubicBezTo>
                  <a:cubicBezTo>
                    <a:pt x="210947" y="942594"/>
                    <a:pt x="0" y="731647"/>
                    <a:pt x="0" y="471297"/>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4"/>
            <p:cNvSpPr/>
            <p:nvPr/>
          </p:nvSpPr>
          <p:spPr>
            <a:xfrm>
              <a:off x="0" y="0"/>
              <a:ext cx="958469" cy="958342"/>
            </a:xfrm>
            <a:custGeom>
              <a:rect b="b" l="l" r="r" t="t"/>
              <a:pathLst>
                <a:path extrusionOk="0" h="958342" w="958469">
                  <a:moveTo>
                    <a:pt x="0" y="479171"/>
                  </a:moveTo>
                  <a:cubicBezTo>
                    <a:pt x="0" y="214503"/>
                    <a:pt x="214503" y="0"/>
                    <a:pt x="479171" y="0"/>
                  </a:cubicBezTo>
                  <a:cubicBezTo>
                    <a:pt x="480695" y="0"/>
                    <a:pt x="482219" y="381"/>
                    <a:pt x="483489" y="1270"/>
                  </a:cubicBezTo>
                  <a:lnTo>
                    <a:pt x="479171" y="8001"/>
                  </a:lnTo>
                  <a:lnTo>
                    <a:pt x="479171" y="0"/>
                  </a:lnTo>
                  <a:lnTo>
                    <a:pt x="479171" y="7874"/>
                  </a:lnTo>
                  <a:lnTo>
                    <a:pt x="479171" y="0"/>
                  </a:lnTo>
                  <a:cubicBezTo>
                    <a:pt x="743839" y="0"/>
                    <a:pt x="958469" y="214503"/>
                    <a:pt x="958469" y="479171"/>
                  </a:cubicBezTo>
                  <a:cubicBezTo>
                    <a:pt x="958469" y="482219"/>
                    <a:pt x="956818" y="484886"/>
                    <a:pt x="954024" y="486283"/>
                  </a:cubicBezTo>
                  <a:lnTo>
                    <a:pt x="950468" y="479171"/>
                  </a:lnTo>
                  <a:lnTo>
                    <a:pt x="958342" y="479171"/>
                  </a:lnTo>
                  <a:cubicBezTo>
                    <a:pt x="958342" y="743839"/>
                    <a:pt x="743839" y="958342"/>
                    <a:pt x="479171" y="958342"/>
                  </a:cubicBezTo>
                  <a:lnTo>
                    <a:pt x="479171" y="950468"/>
                  </a:lnTo>
                  <a:lnTo>
                    <a:pt x="479171" y="958342"/>
                  </a:lnTo>
                  <a:lnTo>
                    <a:pt x="479171" y="950468"/>
                  </a:lnTo>
                  <a:lnTo>
                    <a:pt x="479171" y="958342"/>
                  </a:lnTo>
                  <a:cubicBezTo>
                    <a:pt x="214503" y="958469"/>
                    <a:pt x="0" y="743839"/>
                    <a:pt x="0" y="479171"/>
                  </a:cubicBezTo>
                  <a:cubicBezTo>
                    <a:pt x="0" y="477647"/>
                    <a:pt x="381" y="476123"/>
                    <a:pt x="1270" y="474853"/>
                  </a:cubicBezTo>
                  <a:lnTo>
                    <a:pt x="8001" y="479171"/>
                  </a:lnTo>
                  <a:lnTo>
                    <a:pt x="0" y="479171"/>
                  </a:lnTo>
                  <a:moveTo>
                    <a:pt x="15875" y="479171"/>
                  </a:moveTo>
                  <a:cubicBezTo>
                    <a:pt x="15875" y="480695"/>
                    <a:pt x="15494" y="482219"/>
                    <a:pt x="14605" y="483489"/>
                  </a:cubicBezTo>
                  <a:lnTo>
                    <a:pt x="7874" y="479171"/>
                  </a:lnTo>
                  <a:lnTo>
                    <a:pt x="15875" y="479171"/>
                  </a:lnTo>
                  <a:cubicBezTo>
                    <a:pt x="15875" y="735076"/>
                    <a:pt x="223266" y="942467"/>
                    <a:pt x="479171" y="942467"/>
                  </a:cubicBezTo>
                  <a:cubicBezTo>
                    <a:pt x="735076" y="942467"/>
                    <a:pt x="942594" y="735076"/>
                    <a:pt x="942594" y="479171"/>
                  </a:cubicBezTo>
                  <a:cubicBezTo>
                    <a:pt x="942594" y="476123"/>
                    <a:pt x="944245" y="473456"/>
                    <a:pt x="947039" y="472059"/>
                  </a:cubicBezTo>
                  <a:lnTo>
                    <a:pt x="950595" y="479171"/>
                  </a:lnTo>
                  <a:lnTo>
                    <a:pt x="942721" y="479171"/>
                  </a:lnTo>
                  <a:cubicBezTo>
                    <a:pt x="942721" y="223266"/>
                    <a:pt x="735330" y="15875"/>
                    <a:pt x="479425" y="15875"/>
                  </a:cubicBezTo>
                  <a:cubicBezTo>
                    <a:pt x="477901" y="15875"/>
                    <a:pt x="476377" y="15494"/>
                    <a:pt x="475107" y="14605"/>
                  </a:cubicBezTo>
                  <a:lnTo>
                    <a:pt x="479425" y="7874"/>
                  </a:lnTo>
                  <a:lnTo>
                    <a:pt x="479425" y="15875"/>
                  </a:lnTo>
                  <a:cubicBezTo>
                    <a:pt x="223266" y="15875"/>
                    <a:pt x="15875" y="223266"/>
                    <a:pt x="15875" y="479171"/>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descr="preencoded.png" id="409" name="Google Shape;409;p44"/>
          <p:cNvSpPr/>
          <p:nvPr/>
        </p:nvSpPr>
        <p:spPr>
          <a:xfrm>
            <a:off x="935117" y="2842260"/>
            <a:ext cx="282778" cy="282778"/>
          </a:xfrm>
          <a:custGeom>
            <a:rect b="b" l="l" r="r" t="t"/>
            <a:pathLst>
              <a:path extrusionOk="0" h="471297" w="471297">
                <a:moveTo>
                  <a:pt x="0" y="0"/>
                </a:moveTo>
                <a:lnTo>
                  <a:pt x="471297" y="0"/>
                </a:lnTo>
                <a:lnTo>
                  <a:pt x="471297" y="471297"/>
                </a:lnTo>
                <a:lnTo>
                  <a:pt x="0" y="471297"/>
                </a:lnTo>
                <a:lnTo>
                  <a:pt x="0" y="0"/>
                </a:lnTo>
                <a:close/>
              </a:path>
            </a:pathLst>
          </a:custGeom>
          <a:blipFill rotWithShape="1">
            <a:blip r:embed="rId3">
              <a:alphaModFix/>
            </a:blip>
            <a:stretch>
              <a:fillRect b="0" l="0" r="0" t="0"/>
            </a:stretch>
          </a:blipFill>
          <a:ln>
            <a:noFill/>
          </a:ln>
        </p:spPr>
      </p:sp>
      <p:sp>
        <p:nvSpPr>
          <p:cNvPr id="410" name="Google Shape;410;p44"/>
          <p:cNvSpPr txBox="1"/>
          <p:nvPr/>
        </p:nvSpPr>
        <p:spPr>
          <a:xfrm>
            <a:off x="982266" y="3393877"/>
            <a:ext cx="3154323" cy="355640"/>
          </a:xfrm>
          <a:prstGeom prst="rect">
            <a:avLst/>
          </a:prstGeom>
          <a:noFill/>
          <a:ln>
            <a:noFill/>
          </a:ln>
        </p:spPr>
        <p:txBody>
          <a:bodyPr anchorCtr="0" anchor="t" bIns="0" lIns="0" spcFirstLastPara="1" rIns="0" wrap="square" tIns="0">
            <a:spAutoFit/>
          </a:bodyPr>
          <a:lstStyle/>
          <a:p>
            <a:pPr indent="0" lvl="0" marL="0" marR="0" rtl="0" algn="l">
              <a:lnSpc>
                <a:spcPct val="149178"/>
              </a:lnSpc>
              <a:spcBef>
                <a:spcPts val="0"/>
              </a:spcBef>
              <a:spcAft>
                <a:spcPts val="0"/>
              </a:spcAft>
              <a:buClr>
                <a:srgbClr val="000000"/>
              </a:buClr>
              <a:buSzPts val="1800"/>
              <a:buFont typeface="Arial"/>
              <a:buNone/>
            </a:pPr>
            <a:r>
              <a:rPr b="0" i="0" lang="en-US" sz="1800" u="none" cap="none" strike="noStrike">
                <a:solidFill>
                  <a:srgbClr val="3C3939"/>
                </a:solidFill>
                <a:latin typeface="Raleway"/>
                <a:ea typeface="Raleway"/>
                <a:cs typeface="Raleway"/>
                <a:sym typeface="Raleway"/>
              </a:rPr>
              <a:t>Trajectory of Kidney Function</a:t>
            </a:r>
            <a:endParaRPr b="0" i="0" sz="1100" u="none" cap="none" strike="noStrike">
              <a:solidFill>
                <a:srgbClr val="000000"/>
              </a:solidFill>
              <a:latin typeface="Arial"/>
              <a:ea typeface="Arial"/>
              <a:cs typeface="Arial"/>
              <a:sym typeface="Arial"/>
            </a:endParaRPr>
          </a:p>
        </p:txBody>
      </p:sp>
      <p:sp>
        <p:nvSpPr>
          <p:cNvPr id="411" name="Google Shape;411;p44"/>
          <p:cNvSpPr txBox="1"/>
          <p:nvPr/>
        </p:nvSpPr>
        <p:spPr>
          <a:xfrm>
            <a:off x="982266" y="4099984"/>
            <a:ext cx="6050100" cy="670562"/>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400" u="none" cap="none" strike="noStrike">
                <a:solidFill>
                  <a:srgbClr val="3C3939"/>
                </a:solidFill>
                <a:latin typeface="DM Sans"/>
                <a:ea typeface="DM Sans"/>
                <a:cs typeface="DM Sans"/>
                <a:sym typeface="DM Sans"/>
              </a:rPr>
              <a:t>SCr trends and low urine output revealed declining renal function before AKI onset.</a:t>
            </a:r>
            <a:endParaRPr b="0" i="0" sz="1100" u="none" cap="none" strike="noStrike">
              <a:solidFill>
                <a:srgbClr val="000000"/>
              </a:solidFill>
              <a:latin typeface="Arial"/>
              <a:ea typeface="Arial"/>
              <a:cs typeface="Arial"/>
              <a:sym typeface="Arial"/>
            </a:endParaRPr>
          </a:p>
        </p:txBody>
      </p:sp>
      <p:grpSp>
        <p:nvGrpSpPr>
          <p:cNvPr id="412" name="Google Shape;412;p44"/>
          <p:cNvGrpSpPr/>
          <p:nvPr/>
        </p:nvGrpSpPr>
        <p:grpSpPr>
          <a:xfrm>
            <a:off x="7687390" y="2601754"/>
            <a:ext cx="6153912" cy="198043"/>
            <a:chOff x="0" y="0"/>
            <a:chExt cx="10256520" cy="330073"/>
          </a:xfrm>
        </p:grpSpPr>
        <p:sp>
          <p:nvSpPr>
            <p:cNvPr id="413" name="Google Shape;413;p44"/>
            <p:cNvSpPr/>
            <p:nvPr/>
          </p:nvSpPr>
          <p:spPr>
            <a:xfrm>
              <a:off x="7874" y="7874"/>
              <a:ext cx="10240645" cy="314071"/>
            </a:xfrm>
            <a:custGeom>
              <a:rect b="b" l="l" r="r" t="t"/>
              <a:pathLst>
                <a:path extrusionOk="0" h="314071" w="10240645">
                  <a:moveTo>
                    <a:pt x="0" y="132080"/>
                  </a:moveTo>
                  <a:cubicBezTo>
                    <a:pt x="0" y="59182"/>
                    <a:pt x="62103" y="0"/>
                    <a:pt x="138557" y="0"/>
                  </a:cubicBezTo>
                  <a:lnTo>
                    <a:pt x="10102215" y="0"/>
                  </a:lnTo>
                  <a:cubicBezTo>
                    <a:pt x="10178669" y="0"/>
                    <a:pt x="10240645" y="59055"/>
                    <a:pt x="10240645" y="131953"/>
                  </a:cubicBezTo>
                  <a:lnTo>
                    <a:pt x="10240645" y="182118"/>
                  </a:lnTo>
                  <a:cubicBezTo>
                    <a:pt x="10240645" y="255016"/>
                    <a:pt x="10178669" y="314071"/>
                    <a:pt x="10102215" y="314071"/>
                  </a:cubicBezTo>
                  <a:lnTo>
                    <a:pt x="138557" y="314071"/>
                  </a:lnTo>
                  <a:cubicBezTo>
                    <a:pt x="62103" y="314198"/>
                    <a:pt x="127" y="255143"/>
                    <a:pt x="0" y="182245"/>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4"/>
            <p:cNvSpPr/>
            <p:nvPr/>
          </p:nvSpPr>
          <p:spPr>
            <a:xfrm>
              <a:off x="0" y="0"/>
              <a:ext cx="10256520" cy="330073"/>
            </a:xfrm>
            <a:custGeom>
              <a:rect b="b" l="l" r="r" t="t"/>
              <a:pathLst>
                <a:path extrusionOk="0" h="330073" w="10256520">
                  <a:moveTo>
                    <a:pt x="0" y="139954"/>
                  </a:moveTo>
                  <a:cubicBezTo>
                    <a:pt x="0" y="62230"/>
                    <a:pt x="65913" y="0"/>
                    <a:pt x="146431" y="0"/>
                  </a:cubicBezTo>
                  <a:lnTo>
                    <a:pt x="10110089" y="0"/>
                  </a:lnTo>
                  <a:lnTo>
                    <a:pt x="10110089" y="7874"/>
                  </a:lnTo>
                  <a:lnTo>
                    <a:pt x="10110089" y="0"/>
                  </a:lnTo>
                  <a:cubicBezTo>
                    <a:pt x="10190607" y="0"/>
                    <a:pt x="10256520" y="62230"/>
                    <a:pt x="10256520" y="139954"/>
                  </a:cubicBezTo>
                  <a:lnTo>
                    <a:pt x="10248646" y="139954"/>
                  </a:lnTo>
                  <a:lnTo>
                    <a:pt x="10256520" y="139954"/>
                  </a:lnTo>
                  <a:lnTo>
                    <a:pt x="10256520" y="190119"/>
                  </a:lnTo>
                  <a:lnTo>
                    <a:pt x="10248646" y="190119"/>
                  </a:lnTo>
                  <a:lnTo>
                    <a:pt x="10256520" y="190119"/>
                  </a:lnTo>
                  <a:cubicBezTo>
                    <a:pt x="10256520" y="267716"/>
                    <a:pt x="10190607" y="330073"/>
                    <a:pt x="10110089" y="330073"/>
                  </a:cubicBezTo>
                  <a:lnTo>
                    <a:pt x="10110089" y="322199"/>
                  </a:lnTo>
                  <a:lnTo>
                    <a:pt x="10110089" y="330073"/>
                  </a:lnTo>
                  <a:lnTo>
                    <a:pt x="146431" y="330073"/>
                  </a:lnTo>
                  <a:lnTo>
                    <a:pt x="146431" y="322199"/>
                  </a:lnTo>
                  <a:lnTo>
                    <a:pt x="146431" y="330073"/>
                  </a:lnTo>
                  <a:cubicBezTo>
                    <a:pt x="65913" y="329946"/>
                    <a:pt x="0" y="267716"/>
                    <a:pt x="0" y="190119"/>
                  </a:cubicBezTo>
                  <a:lnTo>
                    <a:pt x="0" y="139954"/>
                  </a:lnTo>
                  <a:lnTo>
                    <a:pt x="7874" y="139954"/>
                  </a:lnTo>
                  <a:lnTo>
                    <a:pt x="0" y="139954"/>
                  </a:lnTo>
                  <a:moveTo>
                    <a:pt x="15875" y="139954"/>
                  </a:moveTo>
                  <a:lnTo>
                    <a:pt x="15875" y="190119"/>
                  </a:lnTo>
                  <a:lnTo>
                    <a:pt x="7874" y="190119"/>
                  </a:lnTo>
                  <a:lnTo>
                    <a:pt x="15748" y="190119"/>
                  </a:lnTo>
                  <a:cubicBezTo>
                    <a:pt x="15748" y="258318"/>
                    <a:pt x="73787" y="314198"/>
                    <a:pt x="146304" y="314198"/>
                  </a:cubicBezTo>
                  <a:lnTo>
                    <a:pt x="10110089" y="314198"/>
                  </a:lnTo>
                  <a:cubicBezTo>
                    <a:pt x="10182479" y="314198"/>
                    <a:pt x="10240645" y="258318"/>
                    <a:pt x="10240645" y="190119"/>
                  </a:cubicBezTo>
                  <a:lnTo>
                    <a:pt x="10240645" y="139954"/>
                  </a:lnTo>
                  <a:cubicBezTo>
                    <a:pt x="10240645" y="71755"/>
                    <a:pt x="10182606" y="15875"/>
                    <a:pt x="10110089" y="15875"/>
                  </a:cubicBezTo>
                  <a:lnTo>
                    <a:pt x="146431" y="15875"/>
                  </a:lnTo>
                  <a:lnTo>
                    <a:pt x="146431" y="7874"/>
                  </a:lnTo>
                  <a:lnTo>
                    <a:pt x="146431" y="15748"/>
                  </a:lnTo>
                  <a:cubicBezTo>
                    <a:pt x="74041" y="15748"/>
                    <a:pt x="15875" y="71628"/>
                    <a:pt x="15875" y="139827"/>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5" name="Google Shape;415;p44"/>
          <p:cNvGrpSpPr/>
          <p:nvPr/>
        </p:nvGrpSpPr>
        <p:grpSpPr>
          <a:xfrm>
            <a:off x="7404615" y="2413278"/>
            <a:ext cx="575082" cy="575005"/>
            <a:chOff x="0" y="0"/>
            <a:chExt cx="958469" cy="958342"/>
          </a:xfrm>
        </p:grpSpPr>
        <p:sp>
          <p:nvSpPr>
            <p:cNvPr id="416" name="Google Shape;416;p44"/>
            <p:cNvSpPr/>
            <p:nvPr/>
          </p:nvSpPr>
          <p:spPr>
            <a:xfrm>
              <a:off x="7874" y="7874"/>
              <a:ext cx="942594" cy="942594"/>
            </a:xfrm>
            <a:custGeom>
              <a:rect b="b" l="l" r="r" t="t"/>
              <a:pathLst>
                <a:path extrusionOk="0" h="942594" w="942594">
                  <a:moveTo>
                    <a:pt x="0" y="471297"/>
                  </a:moveTo>
                  <a:cubicBezTo>
                    <a:pt x="0" y="211074"/>
                    <a:pt x="211074" y="0"/>
                    <a:pt x="471297" y="0"/>
                  </a:cubicBezTo>
                  <a:cubicBezTo>
                    <a:pt x="731520" y="0"/>
                    <a:pt x="942594" y="211074"/>
                    <a:pt x="942594" y="471297"/>
                  </a:cubicBezTo>
                  <a:cubicBezTo>
                    <a:pt x="942594" y="731520"/>
                    <a:pt x="731647" y="942594"/>
                    <a:pt x="471297" y="942594"/>
                  </a:cubicBezTo>
                  <a:cubicBezTo>
                    <a:pt x="210947" y="942594"/>
                    <a:pt x="0" y="731647"/>
                    <a:pt x="0" y="471297"/>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4"/>
            <p:cNvSpPr/>
            <p:nvPr/>
          </p:nvSpPr>
          <p:spPr>
            <a:xfrm>
              <a:off x="0" y="0"/>
              <a:ext cx="958469" cy="958342"/>
            </a:xfrm>
            <a:custGeom>
              <a:rect b="b" l="l" r="r" t="t"/>
              <a:pathLst>
                <a:path extrusionOk="0" h="958342" w="958469">
                  <a:moveTo>
                    <a:pt x="0" y="479171"/>
                  </a:moveTo>
                  <a:cubicBezTo>
                    <a:pt x="0" y="214503"/>
                    <a:pt x="214503" y="0"/>
                    <a:pt x="479171" y="0"/>
                  </a:cubicBezTo>
                  <a:cubicBezTo>
                    <a:pt x="480695" y="0"/>
                    <a:pt x="482219" y="381"/>
                    <a:pt x="483489" y="1270"/>
                  </a:cubicBezTo>
                  <a:lnTo>
                    <a:pt x="479171" y="8001"/>
                  </a:lnTo>
                  <a:lnTo>
                    <a:pt x="479171" y="0"/>
                  </a:lnTo>
                  <a:lnTo>
                    <a:pt x="479171" y="7874"/>
                  </a:lnTo>
                  <a:lnTo>
                    <a:pt x="479171" y="0"/>
                  </a:lnTo>
                  <a:cubicBezTo>
                    <a:pt x="743839" y="0"/>
                    <a:pt x="958469" y="214503"/>
                    <a:pt x="958469" y="479171"/>
                  </a:cubicBezTo>
                  <a:cubicBezTo>
                    <a:pt x="958469" y="482219"/>
                    <a:pt x="956818" y="484886"/>
                    <a:pt x="954024" y="486283"/>
                  </a:cubicBezTo>
                  <a:lnTo>
                    <a:pt x="950468" y="479171"/>
                  </a:lnTo>
                  <a:lnTo>
                    <a:pt x="958342" y="479171"/>
                  </a:lnTo>
                  <a:cubicBezTo>
                    <a:pt x="958342" y="743839"/>
                    <a:pt x="743839" y="958342"/>
                    <a:pt x="479171" y="958342"/>
                  </a:cubicBezTo>
                  <a:lnTo>
                    <a:pt x="479171" y="950468"/>
                  </a:lnTo>
                  <a:lnTo>
                    <a:pt x="479171" y="958342"/>
                  </a:lnTo>
                  <a:lnTo>
                    <a:pt x="479171" y="950468"/>
                  </a:lnTo>
                  <a:lnTo>
                    <a:pt x="479171" y="958342"/>
                  </a:lnTo>
                  <a:cubicBezTo>
                    <a:pt x="214503" y="958469"/>
                    <a:pt x="0" y="743839"/>
                    <a:pt x="0" y="479171"/>
                  </a:cubicBezTo>
                  <a:cubicBezTo>
                    <a:pt x="0" y="477647"/>
                    <a:pt x="381" y="476123"/>
                    <a:pt x="1270" y="474853"/>
                  </a:cubicBezTo>
                  <a:lnTo>
                    <a:pt x="8001" y="479171"/>
                  </a:lnTo>
                  <a:lnTo>
                    <a:pt x="0" y="479171"/>
                  </a:lnTo>
                  <a:moveTo>
                    <a:pt x="15875" y="479171"/>
                  </a:moveTo>
                  <a:cubicBezTo>
                    <a:pt x="15875" y="480695"/>
                    <a:pt x="15494" y="482219"/>
                    <a:pt x="14605" y="483489"/>
                  </a:cubicBezTo>
                  <a:lnTo>
                    <a:pt x="7874" y="479171"/>
                  </a:lnTo>
                  <a:lnTo>
                    <a:pt x="15875" y="479171"/>
                  </a:lnTo>
                  <a:cubicBezTo>
                    <a:pt x="15875" y="735076"/>
                    <a:pt x="223266" y="942467"/>
                    <a:pt x="479171" y="942467"/>
                  </a:cubicBezTo>
                  <a:cubicBezTo>
                    <a:pt x="735076" y="942467"/>
                    <a:pt x="942594" y="735076"/>
                    <a:pt x="942594" y="479171"/>
                  </a:cubicBezTo>
                  <a:cubicBezTo>
                    <a:pt x="942594" y="476123"/>
                    <a:pt x="944245" y="473456"/>
                    <a:pt x="947039" y="472059"/>
                  </a:cubicBezTo>
                  <a:lnTo>
                    <a:pt x="950595" y="479171"/>
                  </a:lnTo>
                  <a:lnTo>
                    <a:pt x="942721" y="479171"/>
                  </a:lnTo>
                  <a:cubicBezTo>
                    <a:pt x="942721" y="223266"/>
                    <a:pt x="735330" y="15875"/>
                    <a:pt x="479425" y="15875"/>
                  </a:cubicBezTo>
                  <a:cubicBezTo>
                    <a:pt x="477901" y="15875"/>
                    <a:pt x="476377" y="15494"/>
                    <a:pt x="475107" y="14605"/>
                  </a:cubicBezTo>
                  <a:lnTo>
                    <a:pt x="479425" y="7874"/>
                  </a:lnTo>
                  <a:lnTo>
                    <a:pt x="479425" y="15875"/>
                  </a:lnTo>
                  <a:cubicBezTo>
                    <a:pt x="223266" y="15875"/>
                    <a:pt x="15875" y="223266"/>
                    <a:pt x="15875" y="479171"/>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descr="preencoded.png" id="418" name="Google Shape;418;p44"/>
          <p:cNvSpPr/>
          <p:nvPr/>
        </p:nvSpPr>
        <p:spPr>
          <a:xfrm>
            <a:off x="7550706" y="2559487"/>
            <a:ext cx="282778" cy="282778"/>
          </a:xfrm>
          <a:custGeom>
            <a:rect b="b" l="l" r="r" t="t"/>
            <a:pathLst>
              <a:path extrusionOk="0" h="471297" w="471297">
                <a:moveTo>
                  <a:pt x="0" y="0"/>
                </a:moveTo>
                <a:lnTo>
                  <a:pt x="471297" y="0"/>
                </a:lnTo>
                <a:lnTo>
                  <a:pt x="471297" y="471297"/>
                </a:lnTo>
                <a:lnTo>
                  <a:pt x="0" y="471297"/>
                </a:lnTo>
                <a:lnTo>
                  <a:pt x="0" y="0"/>
                </a:lnTo>
                <a:close/>
              </a:path>
            </a:pathLst>
          </a:custGeom>
          <a:blipFill rotWithShape="1">
            <a:blip r:embed="rId4">
              <a:alphaModFix/>
            </a:blip>
            <a:stretch>
              <a:fillRect b="0" l="0" r="0" t="0"/>
            </a:stretch>
          </a:blipFill>
          <a:ln>
            <a:noFill/>
          </a:ln>
        </p:spPr>
      </p:sp>
      <p:sp>
        <p:nvSpPr>
          <p:cNvPr id="419" name="Google Shape;419;p44"/>
          <p:cNvSpPr txBox="1"/>
          <p:nvPr/>
        </p:nvSpPr>
        <p:spPr>
          <a:xfrm>
            <a:off x="7597854" y="3111103"/>
            <a:ext cx="2356842" cy="355640"/>
          </a:xfrm>
          <a:prstGeom prst="rect">
            <a:avLst/>
          </a:prstGeom>
          <a:noFill/>
          <a:ln>
            <a:noFill/>
          </a:ln>
        </p:spPr>
        <p:txBody>
          <a:bodyPr anchorCtr="0" anchor="t" bIns="0" lIns="0" spcFirstLastPara="1" rIns="0" wrap="square" tIns="0">
            <a:spAutoFit/>
          </a:bodyPr>
          <a:lstStyle/>
          <a:p>
            <a:pPr indent="0" lvl="0" marL="0" marR="0" rtl="0" algn="l">
              <a:lnSpc>
                <a:spcPct val="149178"/>
              </a:lnSpc>
              <a:spcBef>
                <a:spcPts val="0"/>
              </a:spcBef>
              <a:spcAft>
                <a:spcPts val="0"/>
              </a:spcAft>
              <a:buClr>
                <a:srgbClr val="000000"/>
              </a:buClr>
              <a:buSzPts val="1800"/>
              <a:buFont typeface="Arial"/>
              <a:buNone/>
            </a:pPr>
            <a:r>
              <a:rPr b="0" i="0" lang="en-US" sz="1800" u="none" cap="none" strike="noStrike">
                <a:solidFill>
                  <a:srgbClr val="3C3939"/>
                </a:solidFill>
                <a:latin typeface="Raleway"/>
                <a:ea typeface="Raleway"/>
                <a:cs typeface="Raleway"/>
                <a:sym typeface="Raleway"/>
              </a:rPr>
              <a:t>Overall Severity</a:t>
            </a:r>
            <a:endParaRPr b="0" i="0" sz="1100" u="none" cap="none" strike="noStrike">
              <a:solidFill>
                <a:srgbClr val="000000"/>
              </a:solidFill>
              <a:latin typeface="Arial"/>
              <a:ea typeface="Arial"/>
              <a:cs typeface="Arial"/>
              <a:sym typeface="Arial"/>
            </a:endParaRPr>
          </a:p>
        </p:txBody>
      </p:sp>
      <p:sp>
        <p:nvSpPr>
          <p:cNvPr id="420" name="Google Shape;420;p44"/>
          <p:cNvSpPr txBox="1"/>
          <p:nvPr/>
        </p:nvSpPr>
        <p:spPr>
          <a:xfrm>
            <a:off x="7597854" y="3473172"/>
            <a:ext cx="6050280" cy="670562"/>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400" u="none" cap="none" strike="noStrike">
                <a:solidFill>
                  <a:srgbClr val="3C3939"/>
                </a:solidFill>
                <a:latin typeface="DM Sans"/>
                <a:ea typeface="DM Sans"/>
                <a:cs typeface="DM Sans"/>
                <a:sym typeface="DM Sans"/>
              </a:rPr>
              <a:t>SOFA and SAPS II scores captured organ dysfunction and illness acuity comprehensively.</a:t>
            </a:r>
            <a:endParaRPr b="0" i="0" sz="1100" u="none" cap="none" strike="noStrike">
              <a:solidFill>
                <a:srgbClr val="000000"/>
              </a:solidFill>
              <a:latin typeface="Arial"/>
              <a:ea typeface="Arial"/>
              <a:cs typeface="Arial"/>
              <a:sym typeface="Arial"/>
            </a:endParaRPr>
          </a:p>
        </p:txBody>
      </p:sp>
      <p:grpSp>
        <p:nvGrpSpPr>
          <p:cNvPr id="421" name="Google Shape;421;p44"/>
          <p:cNvGrpSpPr/>
          <p:nvPr/>
        </p:nvGrpSpPr>
        <p:grpSpPr>
          <a:xfrm>
            <a:off x="1071801" y="5309474"/>
            <a:ext cx="6153759" cy="198043"/>
            <a:chOff x="0" y="0"/>
            <a:chExt cx="10256266" cy="330073"/>
          </a:xfrm>
        </p:grpSpPr>
        <p:sp>
          <p:nvSpPr>
            <p:cNvPr id="422" name="Google Shape;422;p44"/>
            <p:cNvSpPr/>
            <p:nvPr/>
          </p:nvSpPr>
          <p:spPr>
            <a:xfrm>
              <a:off x="7874" y="7874"/>
              <a:ext cx="10240391" cy="314071"/>
            </a:xfrm>
            <a:custGeom>
              <a:rect b="b" l="l" r="r" t="t"/>
              <a:pathLst>
                <a:path extrusionOk="0" h="314071" w="10240391">
                  <a:moveTo>
                    <a:pt x="0" y="132080"/>
                  </a:moveTo>
                  <a:cubicBezTo>
                    <a:pt x="0" y="59182"/>
                    <a:pt x="62103" y="0"/>
                    <a:pt x="138557" y="0"/>
                  </a:cubicBezTo>
                  <a:lnTo>
                    <a:pt x="10101961" y="0"/>
                  </a:lnTo>
                  <a:cubicBezTo>
                    <a:pt x="10178415" y="0"/>
                    <a:pt x="10240391" y="59055"/>
                    <a:pt x="10240391" y="131953"/>
                  </a:cubicBezTo>
                  <a:lnTo>
                    <a:pt x="10240391" y="182118"/>
                  </a:lnTo>
                  <a:cubicBezTo>
                    <a:pt x="10240391" y="255016"/>
                    <a:pt x="10178415" y="314071"/>
                    <a:pt x="10101961" y="314071"/>
                  </a:cubicBezTo>
                  <a:lnTo>
                    <a:pt x="138557" y="314071"/>
                  </a:lnTo>
                  <a:cubicBezTo>
                    <a:pt x="62103" y="314198"/>
                    <a:pt x="127" y="255143"/>
                    <a:pt x="0" y="182245"/>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4"/>
            <p:cNvSpPr/>
            <p:nvPr/>
          </p:nvSpPr>
          <p:spPr>
            <a:xfrm>
              <a:off x="0" y="0"/>
              <a:ext cx="10256266" cy="330073"/>
            </a:xfrm>
            <a:custGeom>
              <a:rect b="b" l="l" r="r" t="t"/>
              <a:pathLst>
                <a:path extrusionOk="0" h="330073" w="10256266">
                  <a:moveTo>
                    <a:pt x="0" y="139954"/>
                  </a:moveTo>
                  <a:cubicBezTo>
                    <a:pt x="0" y="62230"/>
                    <a:pt x="65913" y="0"/>
                    <a:pt x="146431" y="0"/>
                  </a:cubicBezTo>
                  <a:lnTo>
                    <a:pt x="10109835" y="0"/>
                  </a:lnTo>
                  <a:lnTo>
                    <a:pt x="10109835" y="7874"/>
                  </a:lnTo>
                  <a:lnTo>
                    <a:pt x="10109835" y="0"/>
                  </a:lnTo>
                  <a:cubicBezTo>
                    <a:pt x="10190353" y="0"/>
                    <a:pt x="10256266" y="62230"/>
                    <a:pt x="10256266" y="139954"/>
                  </a:cubicBezTo>
                  <a:lnTo>
                    <a:pt x="10248392" y="139954"/>
                  </a:lnTo>
                  <a:lnTo>
                    <a:pt x="10256266" y="139954"/>
                  </a:lnTo>
                  <a:lnTo>
                    <a:pt x="10256266" y="190119"/>
                  </a:lnTo>
                  <a:lnTo>
                    <a:pt x="10248392" y="190119"/>
                  </a:lnTo>
                  <a:lnTo>
                    <a:pt x="10256266" y="190119"/>
                  </a:lnTo>
                  <a:cubicBezTo>
                    <a:pt x="10256266" y="267716"/>
                    <a:pt x="10190353" y="330073"/>
                    <a:pt x="10109835" y="330073"/>
                  </a:cubicBezTo>
                  <a:lnTo>
                    <a:pt x="10109835" y="322199"/>
                  </a:lnTo>
                  <a:lnTo>
                    <a:pt x="10109835" y="330073"/>
                  </a:lnTo>
                  <a:lnTo>
                    <a:pt x="146431" y="330073"/>
                  </a:lnTo>
                  <a:lnTo>
                    <a:pt x="146431" y="322199"/>
                  </a:lnTo>
                  <a:lnTo>
                    <a:pt x="146431" y="330073"/>
                  </a:lnTo>
                  <a:cubicBezTo>
                    <a:pt x="65913" y="329946"/>
                    <a:pt x="0" y="267716"/>
                    <a:pt x="0" y="190119"/>
                  </a:cubicBezTo>
                  <a:lnTo>
                    <a:pt x="0" y="139954"/>
                  </a:lnTo>
                  <a:lnTo>
                    <a:pt x="7874" y="139954"/>
                  </a:lnTo>
                  <a:lnTo>
                    <a:pt x="0" y="139954"/>
                  </a:lnTo>
                  <a:moveTo>
                    <a:pt x="15875" y="139954"/>
                  </a:moveTo>
                  <a:lnTo>
                    <a:pt x="15875" y="190119"/>
                  </a:lnTo>
                  <a:lnTo>
                    <a:pt x="7874" y="190119"/>
                  </a:lnTo>
                  <a:lnTo>
                    <a:pt x="15748" y="190119"/>
                  </a:lnTo>
                  <a:cubicBezTo>
                    <a:pt x="15748" y="258318"/>
                    <a:pt x="73787" y="314198"/>
                    <a:pt x="146304" y="314198"/>
                  </a:cubicBezTo>
                  <a:lnTo>
                    <a:pt x="10109835" y="314198"/>
                  </a:lnTo>
                  <a:cubicBezTo>
                    <a:pt x="10182225" y="314198"/>
                    <a:pt x="10240391" y="258318"/>
                    <a:pt x="10240391" y="190119"/>
                  </a:cubicBezTo>
                  <a:lnTo>
                    <a:pt x="10240391" y="139954"/>
                  </a:lnTo>
                  <a:cubicBezTo>
                    <a:pt x="10240391" y="71755"/>
                    <a:pt x="10182352" y="15875"/>
                    <a:pt x="10109835" y="15875"/>
                  </a:cubicBezTo>
                  <a:lnTo>
                    <a:pt x="146431" y="15875"/>
                  </a:lnTo>
                  <a:lnTo>
                    <a:pt x="146431" y="7874"/>
                  </a:lnTo>
                  <a:lnTo>
                    <a:pt x="146431" y="15748"/>
                  </a:lnTo>
                  <a:cubicBezTo>
                    <a:pt x="74041" y="15748"/>
                    <a:pt x="15875" y="71628"/>
                    <a:pt x="15875" y="139827"/>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4" name="Google Shape;424;p44"/>
          <p:cNvGrpSpPr/>
          <p:nvPr/>
        </p:nvGrpSpPr>
        <p:grpSpPr>
          <a:xfrm>
            <a:off x="789027" y="5120998"/>
            <a:ext cx="575082" cy="575005"/>
            <a:chOff x="0" y="0"/>
            <a:chExt cx="958469" cy="958342"/>
          </a:xfrm>
        </p:grpSpPr>
        <p:sp>
          <p:nvSpPr>
            <p:cNvPr id="425" name="Google Shape;425;p44"/>
            <p:cNvSpPr/>
            <p:nvPr/>
          </p:nvSpPr>
          <p:spPr>
            <a:xfrm>
              <a:off x="7874" y="7874"/>
              <a:ext cx="942594" cy="942594"/>
            </a:xfrm>
            <a:custGeom>
              <a:rect b="b" l="l" r="r" t="t"/>
              <a:pathLst>
                <a:path extrusionOk="0" h="942594" w="942594">
                  <a:moveTo>
                    <a:pt x="0" y="471297"/>
                  </a:moveTo>
                  <a:cubicBezTo>
                    <a:pt x="0" y="211074"/>
                    <a:pt x="211074" y="0"/>
                    <a:pt x="471297" y="0"/>
                  </a:cubicBezTo>
                  <a:cubicBezTo>
                    <a:pt x="731520" y="0"/>
                    <a:pt x="942594" y="211074"/>
                    <a:pt x="942594" y="471297"/>
                  </a:cubicBezTo>
                  <a:cubicBezTo>
                    <a:pt x="942594" y="731520"/>
                    <a:pt x="731647" y="942594"/>
                    <a:pt x="471297" y="942594"/>
                  </a:cubicBezTo>
                  <a:cubicBezTo>
                    <a:pt x="210947" y="942594"/>
                    <a:pt x="0" y="731647"/>
                    <a:pt x="0" y="471297"/>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4"/>
            <p:cNvSpPr/>
            <p:nvPr/>
          </p:nvSpPr>
          <p:spPr>
            <a:xfrm>
              <a:off x="0" y="0"/>
              <a:ext cx="958469" cy="958342"/>
            </a:xfrm>
            <a:custGeom>
              <a:rect b="b" l="l" r="r" t="t"/>
              <a:pathLst>
                <a:path extrusionOk="0" h="958342" w="958469">
                  <a:moveTo>
                    <a:pt x="0" y="479171"/>
                  </a:moveTo>
                  <a:cubicBezTo>
                    <a:pt x="0" y="214503"/>
                    <a:pt x="214503" y="0"/>
                    <a:pt x="479171" y="0"/>
                  </a:cubicBezTo>
                  <a:cubicBezTo>
                    <a:pt x="480695" y="0"/>
                    <a:pt x="482219" y="381"/>
                    <a:pt x="483489" y="1270"/>
                  </a:cubicBezTo>
                  <a:lnTo>
                    <a:pt x="479171" y="8001"/>
                  </a:lnTo>
                  <a:lnTo>
                    <a:pt x="479171" y="0"/>
                  </a:lnTo>
                  <a:lnTo>
                    <a:pt x="479171" y="7874"/>
                  </a:lnTo>
                  <a:lnTo>
                    <a:pt x="479171" y="0"/>
                  </a:lnTo>
                  <a:cubicBezTo>
                    <a:pt x="743839" y="0"/>
                    <a:pt x="958469" y="214503"/>
                    <a:pt x="958469" y="479171"/>
                  </a:cubicBezTo>
                  <a:cubicBezTo>
                    <a:pt x="958469" y="482219"/>
                    <a:pt x="956818" y="484886"/>
                    <a:pt x="954024" y="486283"/>
                  </a:cubicBezTo>
                  <a:lnTo>
                    <a:pt x="950468" y="479171"/>
                  </a:lnTo>
                  <a:lnTo>
                    <a:pt x="958342" y="479171"/>
                  </a:lnTo>
                  <a:cubicBezTo>
                    <a:pt x="958342" y="743839"/>
                    <a:pt x="743839" y="958342"/>
                    <a:pt x="479171" y="958342"/>
                  </a:cubicBezTo>
                  <a:lnTo>
                    <a:pt x="479171" y="950468"/>
                  </a:lnTo>
                  <a:lnTo>
                    <a:pt x="479171" y="958342"/>
                  </a:lnTo>
                  <a:lnTo>
                    <a:pt x="479171" y="950468"/>
                  </a:lnTo>
                  <a:lnTo>
                    <a:pt x="479171" y="958342"/>
                  </a:lnTo>
                  <a:cubicBezTo>
                    <a:pt x="214503" y="958469"/>
                    <a:pt x="0" y="743839"/>
                    <a:pt x="0" y="479171"/>
                  </a:cubicBezTo>
                  <a:cubicBezTo>
                    <a:pt x="0" y="477647"/>
                    <a:pt x="381" y="476123"/>
                    <a:pt x="1270" y="474853"/>
                  </a:cubicBezTo>
                  <a:lnTo>
                    <a:pt x="8001" y="479171"/>
                  </a:lnTo>
                  <a:lnTo>
                    <a:pt x="0" y="479171"/>
                  </a:lnTo>
                  <a:moveTo>
                    <a:pt x="15875" y="479171"/>
                  </a:moveTo>
                  <a:cubicBezTo>
                    <a:pt x="15875" y="480695"/>
                    <a:pt x="15494" y="482219"/>
                    <a:pt x="14605" y="483489"/>
                  </a:cubicBezTo>
                  <a:lnTo>
                    <a:pt x="7874" y="479171"/>
                  </a:lnTo>
                  <a:lnTo>
                    <a:pt x="15875" y="479171"/>
                  </a:lnTo>
                  <a:cubicBezTo>
                    <a:pt x="15875" y="735076"/>
                    <a:pt x="223266" y="942467"/>
                    <a:pt x="479171" y="942467"/>
                  </a:cubicBezTo>
                  <a:cubicBezTo>
                    <a:pt x="735076" y="942467"/>
                    <a:pt x="942594" y="735076"/>
                    <a:pt x="942594" y="479171"/>
                  </a:cubicBezTo>
                  <a:cubicBezTo>
                    <a:pt x="942594" y="476123"/>
                    <a:pt x="944245" y="473456"/>
                    <a:pt x="947039" y="472059"/>
                  </a:cubicBezTo>
                  <a:lnTo>
                    <a:pt x="950595" y="479171"/>
                  </a:lnTo>
                  <a:lnTo>
                    <a:pt x="942721" y="479171"/>
                  </a:lnTo>
                  <a:cubicBezTo>
                    <a:pt x="942721" y="223266"/>
                    <a:pt x="735330" y="15875"/>
                    <a:pt x="479425" y="15875"/>
                  </a:cubicBezTo>
                  <a:cubicBezTo>
                    <a:pt x="477901" y="15875"/>
                    <a:pt x="476377" y="15494"/>
                    <a:pt x="475107" y="14605"/>
                  </a:cubicBezTo>
                  <a:lnTo>
                    <a:pt x="479425" y="7874"/>
                  </a:lnTo>
                  <a:lnTo>
                    <a:pt x="479425" y="15875"/>
                  </a:lnTo>
                  <a:cubicBezTo>
                    <a:pt x="223266" y="15875"/>
                    <a:pt x="15875" y="223266"/>
                    <a:pt x="15875" y="479171"/>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descr="preencoded.png" id="427" name="Google Shape;427;p44"/>
          <p:cNvSpPr/>
          <p:nvPr/>
        </p:nvSpPr>
        <p:spPr>
          <a:xfrm>
            <a:off x="935117" y="5267206"/>
            <a:ext cx="282778" cy="282778"/>
          </a:xfrm>
          <a:custGeom>
            <a:rect b="b" l="l" r="r" t="t"/>
            <a:pathLst>
              <a:path extrusionOk="0" h="471297" w="471297">
                <a:moveTo>
                  <a:pt x="0" y="0"/>
                </a:moveTo>
                <a:lnTo>
                  <a:pt x="471297" y="0"/>
                </a:lnTo>
                <a:lnTo>
                  <a:pt x="471297" y="471297"/>
                </a:lnTo>
                <a:lnTo>
                  <a:pt x="0" y="471297"/>
                </a:lnTo>
                <a:lnTo>
                  <a:pt x="0" y="0"/>
                </a:lnTo>
                <a:close/>
              </a:path>
            </a:pathLst>
          </a:custGeom>
          <a:blipFill rotWithShape="1">
            <a:blip r:embed="rId5">
              <a:alphaModFix/>
            </a:blip>
            <a:stretch>
              <a:fillRect b="0" l="0" r="0" t="0"/>
            </a:stretch>
          </a:blipFill>
          <a:ln>
            <a:noFill/>
          </a:ln>
        </p:spPr>
      </p:sp>
      <p:sp>
        <p:nvSpPr>
          <p:cNvPr id="428" name="Google Shape;428;p44"/>
          <p:cNvSpPr txBox="1"/>
          <p:nvPr/>
        </p:nvSpPr>
        <p:spPr>
          <a:xfrm>
            <a:off x="982266" y="5818822"/>
            <a:ext cx="2356842" cy="355640"/>
          </a:xfrm>
          <a:prstGeom prst="rect">
            <a:avLst/>
          </a:prstGeom>
          <a:noFill/>
          <a:ln>
            <a:noFill/>
          </a:ln>
        </p:spPr>
        <p:txBody>
          <a:bodyPr anchorCtr="0" anchor="t" bIns="0" lIns="0" spcFirstLastPara="1" rIns="0" wrap="square" tIns="0">
            <a:spAutoFit/>
          </a:bodyPr>
          <a:lstStyle/>
          <a:p>
            <a:pPr indent="0" lvl="0" marL="0" marR="0" rtl="0" algn="l">
              <a:lnSpc>
                <a:spcPct val="149178"/>
              </a:lnSpc>
              <a:spcBef>
                <a:spcPts val="0"/>
              </a:spcBef>
              <a:spcAft>
                <a:spcPts val="0"/>
              </a:spcAft>
              <a:buClr>
                <a:srgbClr val="000000"/>
              </a:buClr>
              <a:buSzPts val="1800"/>
              <a:buFont typeface="Arial"/>
              <a:buNone/>
            </a:pPr>
            <a:r>
              <a:rPr b="0" i="0" lang="en-US" sz="1800" u="none" cap="none" strike="noStrike">
                <a:solidFill>
                  <a:srgbClr val="3C3939"/>
                </a:solidFill>
                <a:latin typeface="Raleway"/>
                <a:ea typeface="Raleway"/>
                <a:cs typeface="Raleway"/>
                <a:sym typeface="Raleway"/>
              </a:rPr>
              <a:t>Intensity of Exposure</a:t>
            </a:r>
            <a:endParaRPr b="0" i="0" sz="1100" u="none" cap="none" strike="noStrike">
              <a:solidFill>
                <a:srgbClr val="000000"/>
              </a:solidFill>
              <a:latin typeface="Arial"/>
              <a:ea typeface="Arial"/>
              <a:cs typeface="Arial"/>
              <a:sym typeface="Arial"/>
            </a:endParaRPr>
          </a:p>
        </p:txBody>
      </p:sp>
      <p:sp>
        <p:nvSpPr>
          <p:cNvPr id="429" name="Google Shape;429;p44"/>
          <p:cNvSpPr txBox="1"/>
          <p:nvPr/>
        </p:nvSpPr>
        <p:spPr>
          <a:xfrm>
            <a:off x="982266" y="6180892"/>
            <a:ext cx="6050161" cy="670562"/>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400" u="none" cap="none" strike="noStrike">
                <a:solidFill>
                  <a:srgbClr val="3C3939"/>
                </a:solidFill>
                <a:latin typeface="DM Sans"/>
                <a:ea typeface="DM Sans"/>
                <a:cs typeface="DM Sans"/>
                <a:sym typeface="DM Sans"/>
              </a:rPr>
              <a:t>Loop diuretic order counts and drug duration quantified cumulative nephrotoxic burden.</a:t>
            </a:r>
            <a:endParaRPr b="0" i="0" sz="1100" u="none" cap="none" strike="noStrike">
              <a:solidFill>
                <a:srgbClr val="000000"/>
              </a:solidFill>
              <a:latin typeface="Arial"/>
              <a:ea typeface="Arial"/>
              <a:cs typeface="Arial"/>
              <a:sym typeface="Arial"/>
            </a:endParaRPr>
          </a:p>
        </p:txBody>
      </p:sp>
      <p:grpSp>
        <p:nvGrpSpPr>
          <p:cNvPr id="430" name="Google Shape;430;p44"/>
          <p:cNvGrpSpPr/>
          <p:nvPr/>
        </p:nvGrpSpPr>
        <p:grpSpPr>
          <a:xfrm>
            <a:off x="7687390" y="5026699"/>
            <a:ext cx="6153912" cy="198043"/>
            <a:chOff x="0" y="0"/>
            <a:chExt cx="10256520" cy="330073"/>
          </a:xfrm>
        </p:grpSpPr>
        <p:sp>
          <p:nvSpPr>
            <p:cNvPr id="431" name="Google Shape;431;p44"/>
            <p:cNvSpPr/>
            <p:nvPr/>
          </p:nvSpPr>
          <p:spPr>
            <a:xfrm>
              <a:off x="7874" y="7874"/>
              <a:ext cx="10240645" cy="314071"/>
            </a:xfrm>
            <a:custGeom>
              <a:rect b="b" l="l" r="r" t="t"/>
              <a:pathLst>
                <a:path extrusionOk="0" h="314071" w="10240645">
                  <a:moveTo>
                    <a:pt x="0" y="132080"/>
                  </a:moveTo>
                  <a:cubicBezTo>
                    <a:pt x="0" y="59182"/>
                    <a:pt x="62103" y="0"/>
                    <a:pt x="138557" y="0"/>
                  </a:cubicBezTo>
                  <a:lnTo>
                    <a:pt x="10102215" y="0"/>
                  </a:lnTo>
                  <a:cubicBezTo>
                    <a:pt x="10178669" y="0"/>
                    <a:pt x="10240645" y="59055"/>
                    <a:pt x="10240645" y="131953"/>
                  </a:cubicBezTo>
                  <a:lnTo>
                    <a:pt x="10240645" y="182118"/>
                  </a:lnTo>
                  <a:cubicBezTo>
                    <a:pt x="10240645" y="255016"/>
                    <a:pt x="10178669" y="314071"/>
                    <a:pt x="10102215" y="314071"/>
                  </a:cubicBezTo>
                  <a:lnTo>
                    <a:pt x="138557" y="314071"/>
                  </a:lnTo>
                  <a:cubicBezTo>
                    <a:pt x="62103" y="314198"/>
                    <a:pt x="127" y="255143"/>
                    <a:pt x="0" y="182245"/>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4"/>
            <p:cNvSpPr/>
            <p:nvPr/>
          </p:nvSpPr>
          <p:spPr>
            <a:xfrm>
              <a:off x="0" y="0"/>
              <a:ext cx="10256520" cy="330073"/>
            </a:xfrm>
            <a:custGeom>
              <a:rect b="b" l="l" r="r" t="t"/>
              <a:pathLst>
                <a:path extrusionOk="0" h="330073" w="10256520">
                  <a:moveTo>
                    <a:pt x="0" y="139954"/>
                  </a:moveTo>
                  <a:cubicBezTo>
                    <a:pt x="0" y="62230"/>
                    <a:pt x="65913" y="0"/>
                    <a:pt x="146431" y="0"/>
                  </a:cubicBezTo>
                  <a:lnTo>
                    <a:pt x="10110089" y="0"/>
                  </a:lnTo>
                  <a:lnTo>
                    <a:pt x="10110089" y="7874"/>
                  </a:lnTo>
                  <a:lnTo>
                    <a:pt x="10110089" y="0"/>
                  </a:lnTo>
                  <a:cubicBezTo>
                    <a:pt x="10190607" y="0"/>
                    <a:pt x="10256520" y="62230"/>
                    <a:pt x="10256520" y="139954"/>
                  </a:cubicBezTo>
                  <a:lnTo>
                    <a:pt x="10248646" y="139954"/>
                  </a:lnTo>
                  <a:lnTo>
                    <a:pt x="10256520" y="139954"/>
                  </a:lnTo>
                  <a:lnTo>
                    <a:pt x="10256520" y="190119"/>
                  </a:lnTo>
                  <a:lnTo>
                    <a:pt x="10248646" y="190119"/>
                  </a:lnTo>
                  <a:lnTo>
                    <a:pt x="10256520" y="190119"/>
                  </a:lnTo>
                  <a:cubicBezTo>
                    <a:pt x="10256520" y="267716"/>
                    <a:pt x="10190607" y="330073"/>
                    <a:pt x="10110089" y="330073"/>
                  </a:cubicBezTo>
                  <a:lnTo>
                    <a:pt x="10110089" y="322199"/>
                  </a:lnTo>
                  <a:lnTo>
                    <a:pt x="10110089" y="330073"/>
                  </a:lnTo>
                  <a:lnTo>
                    <a:pt x="146431" y="330073"/>
                  </a:lnTo>
                  <a:lnTo>
                    <a:pt x="146431" y="322199"/>
                  </a:lnTo>
                  <a:lnTo>
                    <a:pt x="146431" y="330073"/>
                  </a:lnTo>
                  <a:cubicBezTo>
                    <a:pt x="65913" y="329946"/>
                    <a:pt x="0" y="267716"/>
                    <a:pt x="0" y="190119"/>
                  </a:cubicBezTo>
                  <a:lnTo>
                    <a:pt x="0" y="139954"/>
                  </a:lnTo>
                  <a:lnTo>
                    <a:pt x="7874" y="139954"/>
                  </a:lnTo>
                  <a:lnTo>
                    <a:pt x="0" y="139954"/>
                  </a:lnTo>
                  <a:moveTo>
                    <a:pt x="15875" y="139954"/>
                  </a:moveTo>
                  <a:lnTo>
                    <a:pt x="15875" y="190119"/>
                  </a:lnTo>
                  <a:lnTo>
                    <a:pt x="7874" y="190119"/>
                  </a:lnTo>
                  <a:lnTo>
                    <a:pt x="15748" y="190119"/>
                  </a:lnTo>
                  <a:cubicBezTo>
                    <a:pt x="15748" y="258318"/>
                    <a:pt x="73787" y="314198"/>
                    <a:pt x="146304" y="314198"/>
                  </a:cubicBezTo>
                  <a:lnTo>
                    <a:pt x="10110089" y="314198"/>
                  </a:lnTo>
                  <a:cubicBezTo>
                    <a:pt x="10182479" y="314198"/>
                    <a:pt x="10240645" y="258318"/>
                    <a:pt x="10240645" y="190119"/>
                  </a:cubicBezTo>
                  <a:lnTo>
                    <a:pt x="10240645" y="139954"/>
                  </a:lnTo>
                  <a:cubicBezTo>
                    <a:pt x="10240645" y="71755"/>
                    <a:pt x="10182606" y="15875"/>
                    <a:pt x="10110089" y="15875"/>
                  </a:cubicBezTo>
                  <a:lnTo>
                    <a:pt x="146431" y="15875"/>
                  </a:lnTo>
                  <a:lnTo>
                    <a:pt x="146431" y="7874"/>
                  </a:lnTo>
                  <a:lnTo>
                    <a:pt x="146431" y="15748"/>
                  </a:lnTo>
                  <a:cubicBezTo>
                    <a:pt x="74041" y="15748"/>
                    <a:pt x="15875" y="71628"/>
                    <a:pt x="15875" y="139827"/>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 name="Google Shape;433;p44"/>
          <p:cNvGrpSpPr/>
          <p:nvPr/>
        </p:nvGrpSpPr>
        <p:grpSpPr>
          <a:xfrm>
            <a:off x="7404615" y="4838223"/>
            <a:ext cx="575082" cy="575005"/>
            <a:chOff x="0" y="0"/>
            <a:chExt cx="958469" cy="958342"/>
          </a:xfrm>
        </p:grpSpPr>
        <p:sp>
          <p:nvSpPr>
            <p:cNvPr id="434" name="Google Shape;434;p44"/>
            <p:cNvSpPr/>
            <p:nvPr/>
          </p:nvSpPr>
          <p:spPr>
            <a:xfrm>
              <a:off x="7874" y="7874"/>
              <a:ext cx="942594" cy="942594"/>
            </a:xfrm>
            <a:custGeom>
              <a:rect b="b" l="l" r="r" t="t"/>
              <a:pathLst>
                <a:path extrusionOk="0" h="942594" w="942594">
                  <a:moveTo>
                    <a:pt x="0" y="471297"/>
                  </a:moveTo>
                  <a:cubicBezTo>
                    <a:pt x="0" y="211074"/>
                    <a:pt x="211074" y="0"/>
                    <a:pt x="471297" y="0"/>
                  </a:cubicBezTo>
                  <a:cubicBezTo>
                    <a:pt x="731520" y="0"/>
                    <a:pt x="942594" y="211074"/>
                    <a:pt x="942594" y="471297"/>
                  </a:cubicBezTo>
                  <a:cubicBezTo>
                    <a:pt x="942594" y="731520"/>
                    <a:pt x="731647" y="942594"/>
                    <a:pt x="471297" y="942594"/>
                  </a:cubicBezTo>
                  <a:cubicBezTo>
                    <a:pt x="210947" y="942594"/>
                    <a:pt x="0" y="731647"/>
                    <a:pt x="0" y="471297"/>
                  </a:cubicBezTo>
                  <a:close/>
                </a:path>
              </a:pathLst>
            </a:custGeom>
            <a:solidFill>
              <a:srgbClr val="E1E1EA"/>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4"/>
            <p:cNvSpPr/>
            <p:nvPr/>
          </p:nvSpPr>
          <p:spPr>
            <a:xfrm>
              <a:off x="0" y="0"/>
              <a:ext cx="958469" cy="958342"/>
            </a:xfrm>
            <a:custGeom>
              <a:rect b="b" l="l" r="r" t="t"/>
              <a:pathLst>
                <a:path extrusionOk="0" h="958342" w="958469">
                  <a:moveTo>
                    <a:pt x="0" y="479171"/>
                  </a:moveTo>
                  <a:cubicBezTo>
                    <a:pt x="0" y="214503"/>
                    <a:pt x="214503" y="0"/>
                    <a:pt x="479171" y="0"/>
                  </a:cubicBezTo>
                  <a:cubicBezTo>
                    <a:pt x="480695" y="0"/>
                    <a:pt x="482219" y="381"/>
                    <a:pt x="483489" y="1270"/>
                  </a:cubicBezTo>
                  <a:lnTo>
                    <a:pt x="479171" y="8001"/>
                  </a:lnTo>
                  <a:lnTo>
                    <a:pt x="479171" y="0"/>
                  </a:lnTo>
                  <a:lnTo>
                    <a:pt x="479171" y="7874"/>
                  </a:lnTo>
                  <a:lnTo>
                    <a:pt x="479171" y="0"/>
                  </a:lnTo>
                  <a:cubicBezTo>
                    <a:pt x="743839" y="0"/>
                    <a:pt x="958469" y="214503"/>
                    <a:pt x="958469" y="479171"/>
                  </a:cubicBezTo>
                  <a:cubicBezTo>
                    <a:pt x="958469" y="482219"/>
                    <a:pt x="956818" y="484886"/>
                    <a:pt x="954024" y="486283"/>
                  </a:cubicBezTo>
                  <a:lnTo>
                    <a:pt x="950468" y="479171"/>
                  </a:lnTo>
                  <a:lnTo>
                    <a:pt x="958342" y="479171"/>
                  </a:lnTo>
                  <a:cubicBezTo>
                    <a:pt x="958342" y="743839"/>
                    <a:pt x="743839" y="958342"/>
                    <a:pt x="479171" y="958342"/>
                  </a:cubicBezTo>
                  <a:lnTo>
                    <a:pt x="479171" y="950468"/>
                  </a:lnTo>
                  <a:lnTo>
                    <a:pt x="479171" y="958342"/>
                  </a:lnTo>
                  <a:lnTo>
                    <a:pt x="479171" y="950468"/>
                  </a:lnTo>
                  <a:lnTo>
                    <a:pt x="479171" y="958342"/>
                  </a:lnTo>
                  <a:cubicBezTo>
                    <a:pt x="214503" y="958469"/>
                    <a:pt x="0" y="743839"/>
                    <a:pt x="0" y="479171"/>
                  </a:cubicBezTo>
                  <a:cubicBezTo>
                    <a:pt x="0" y="477647"/>
                    <a:pt x="381" y="476123"/>
                    <a:pt x="1270" y="474853"/>
                  </a:cubicBezTo>
                  <a:lnTo>
                    <a:pt x="8001" y="479171"/>
                  </a:lnTo>
                  <a:lnTo>
                    <a:pt x="0" y="479171"/>
                  </a:lnTo>
                  <a:moveTo>
                    <a:pt x="15875" y="479171"/>
                  </a:moveTo>
                  <a:cubicBezTo>
                    <a:pt x="15875" y="480695"/>
                    <a:pt x="15494" y="482219"/>
                    <a:pt x="14605" y="483489"/>
                  </a:cubicBezTo>
                  <a:lnTo>
                    <a:pt x="7874" y="479171"/>
                  </a:lnTo>
                  <a:lnTo>
                    <a:pt x="15875" y="479171"/>
                  </a:lnTo>
                  <a:cubicBezTo>
                    <a:pt x="15875" y="735076"/>
                    <a:pt x="223266" y="942467"/>
                    <a:pt x="479171" y="942467"/>
                  </a:cubicBezTo>
                  <a:cubicBezTo>
                    <a:pt x="735076" y="942467"/>
                    <a:pt x="942594" y="735076"/>
                    <a:pt x="942594" y="479171"/>
                  </a:cubicBezTo>
                  <a:cubicBezTo>
                    <a:pt x="942594" y="476123"/>
                    <a:pt x="944245" y="473456"/>
                    <a:pt x="947039" y="472059"/>
                  </a:cubicBezTo>
                  <a:lnTo>
                    <a:pt x="950595" y="479171"/>
                  </a:lnTo>
                  <a:lnTo>
                    <a:pt x="942721" y="479171"/>
                  </a:lnTo>
                  <a:cubicBezTo>
                    <a:pt x="942721" y="223266"/>
                    <a:pt x="735330" y="15875"/>
                    <a:pt x="479425" y="15875"/>
                  </a:cubicBezTo>
                  <a:cubicBezTo>
                    <a:pt x="477901" y="15875"/>
                    <a:pt x="476377" y="15494"/>
                    <a:pt x="475107" y="14605"/>
                  </a:cubicBezTo>
                  <a:lnTo>
                    <a:pt x="479425" y="7874"/>
                  </a:lnTo>
                  <a:lnTo>
                    <a:pt x="479425" y="15875"/>
                  </a:lnTo>
                  <a:cubicBezTo>
                    <a:pt x="223266" y="15875"/>
                    <a:pt x="15875" y="223266"/>
                    <a:pt x="15875" y="479171"/>
                  </a:cubicBezTo>
                  <a:close/>
                </a:path>
              </a:pathLst>
            </a:custGeom>
            <a:solidFill>
              <a:srgbClr val="C7C7D0"/>
            </a:solidFill>
            <a:ln cap="flat" cmpd="sng" w="12700">
              <a:solidFill>
                <a:srgbClr val="000000"/>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descr="preencoded.png" id="436" name="Google Shape;436;p44"/>
          <p:cNvSpPr/>
          <p:nvPr/>
        </p:nvSpPr>
        <p:spPr>
          <a:xfrm>
            <a:off x="7550706" y="4984432"/>
            <a:ext cx="282778" cy="282778"/>
          </a:xfrm>
          <a:custGeom>
            <a:rect b="b" l="l" r="r" t="t"/>
            <a:pathLst>
              <a:path extrusionOk="0" h="471297" w="471297">
                <a:moveTo>
                  <a:pt x="0" y="0"/>
                </a:moveTo>
                <a:lnTo>
                  <a:pt x="471297" y="0"/>
                </a:lnTo>
                <a:lnTo>
                  <a:pt x="471297" y="471297"/>
                </a:lnTo>
                <a:lnTo>
                  <a:pt x="0" y="471297"/>
                </a:lnTo>
                <a:lnTo>
                  <a:pt x="0" y="0"/>
                </a:lnTo>
                <a:close/>
              </a:path>
            </a:pathLst>
          </a:custGeom>
          <a:blipFill rotWithShape="1">
            <a:blip r:embed="rId6">
              <a:alphaModFix/>
            </a:blip>
            <a:stretch>
              <a:fillRect b="0" l="0" r="0" t="0"/>
            </a:stretch>
          </a:blipFill>
          <a:ln>
            <a:noFill/>
          </a:ln>
        </p:spPr>
      </p:sp>
      <p:sp>
        <p:nvSpPr>
          <p:cNvPr id="437" name="Google Shape;437;p44"/>
          <p:cNvSpPr txBox="1"/>
          <p:nvPr/>
        </p:nvSpPr>
        <p:spPr>
          <a:xfrm>
            <a:off x="7597854" y="5536049"/>
            <a:ext cx="2356842" cy="355640"/>
          </a:xfrm>
          <a:prstGeom prst="rect">
            <a:avLst/>
          </a:prstGeom>
          <a:noFill/>
          <a:ln>
            <a:noFill/>
          </a:ln>
        </p:spPr>
        <p:txBody>
          <a:bodyPr anchorCtr="0" anchor="t" bIns="0" lIns="0" spcFirstLastPara="1" rIns="0" wrap="square" tIns="0">
            <a:spAutoFit/>
          </a:bodyPr>
          <a:lstStyle/>
          <a:p>
            <a:pPr indent="0" lvl="0" marL="0" marR="0" rtl="0" algn="l">
              <a:lnSpc>
                <a:spcPct val="149178"/>
              </a:lnSpc>
              <a:spcBef>
                <a:spcPts val="0"/>
              </a:spcBef>
              <a:spcAft>
                <a:spcPts val="0"/>
              </a:spcAft>
              <a:buClr>
                <a:srgbClr val="000000"/>
              </a:buClr>
              <a:buSzPts val="1800"/>
              <a:buFont typeface="Arial"/>
              <a:buNone/>
            </a:pPr>
            <a:r>
              <a:rPr b="0" i="0" lang="en-US" sz="1800" u="none" cap="none" strike="noStrike">
                <a:solidFill>
                  <a:srgbClr val="3C3939"/>
                </a:solidFill>
                <a:latin typeface="Raleway"/>
                <a:ea typeface="Raleway"/>
                <a:cs typeface="Raleway"/>
                <a:sym typeface="Raleway"/>
              </a:rPr>
              <a:t>Clinical Interactions</a:t>
            </a:r>
            <a:endParaRPr b="0" i="0" sz="1100" u="none" cap="none" strike="noStrike">
              <a:solidFill>
                <a:srgbClr val="000000"/>
              </a:solidFill>
              <a:latin typeface="Arial"/>
              <a:ea typeface="Arial"/>
              <a:cs typeface="Arial"/>
              <a:sym typeface="Arial"/>
            </a:endParaRPr>
          </a:p>
        </p:txBody>
      </p:sp>
      <p:sp>
        <p:nvSpPr>
          <p:cNvPr id="438" name="Google Shape;438;p44"/>
          <p:cNvSpPr txBox="1"/>
          <p:nvPr/>
        </p:nvSpPr>
        <p:spPr>
          <a:xfrm>
            <a:off x="7597854" y="5898118"/>
            <a:ext cx="6050280" cy="670562"/>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400" u="none" cap="none" strike="noStrike">
                <a:solidFill>
                  <a:srgbClr val="3C3939"/>
                </a:solidFill>
                <a:latin typeface="DM Sans"/>
                <a:ea typeface="DM Sans"/>
                <a:cs typeface="DM Sans"/>
                <a:sym typeface="DM Sans"/>
              </a:rPr>
              <a:t>Diabetes+NSAID and CKD+vancomycin flags marked high-risk combinations explicitly.</a:t>
            </a:r>
            <a:endParaRPr b="0" i="0" sz="1100" u="none" cap="none" strike="noStrike">
              <a:solidFill>
                <a:srgbClr val="000000"/>
              </a:solidFill>
              <a:latin typeface="Arial"/>
              <a:ea typeface="Arial"/>
              <a:cs typeface="Arial"/>
              <a:sym typeface="Arial"/>
            </a:endParaRPr>
          </a:p>
        </p:txBody>
      </p:sp>
      <p:sp>
        <p:nvSpPr>
          <p:cNvPr id="439" name="Google Shape;439;p44"/>
          <p:cNvSpPr txBox="1"/>
          <p:nvPr/>
        </p:nvSpPr>
        <p:spPr>
          <a:xfrm>
            <a:off x="793790" y="7184827"/>
            <a:ext cx="13042821" cy="320042"/>
          </a:xfrm>
          <a:prstGeom prst="rect">
            <a:avLst/>
          </a:prstGeom>
          <a:noFill/>
          <a:ln>
            <a:noFill/>
          </a:ln>
        </p:spPr>
        <p:txBody>
          <a:bodyPr anchorCtr="0" anchor="t" bIns="0" lIns="0" spcFirstLastPara="1" rIns="0" wrap="square" tIns="0">
            <a:spAutoFit/>
          </a:bodyPr>
          <a:lstStyle/>
          <a:p>
            <a:pPr indent="0" lvl="0" marL="0" marR="0" rtl="0" algn="l">
              <a:lnSpc>
                <a:spcPct val="194481"/>
              </a:lnSpc>
              <a:spcBef>
                <a:spcPts val="0"/>
              </a:spcBef>
              <a:spcAft>
                <a:spcPts val="0"/>
              </a:spcAft>
              <a:buClr>
                <a:srgbClr val="000000"/>
              </a:buClr>
              <a:buSzPts val="1400"/>
              <a:buFont typeface="Arial"/>
              <a:buNone/>
            </a:pPr>
            <a:r>
              <a:rPr b="0" i="0" lang="en-US" sz="1400" u="none" cap="none" strike="noStrike">
                <a:solidFill>
                  <a:srgbClr val="3C3939"/>
                </a:solidFill>
                <a:latin typeface="DM Sans"/>
                <a:ea typeface="DM Sans"/>
                <a:cs typeface="DM Sans"/>
                <a:sym typeface="DM Sans"/>
              </a:rPr>
              <a:t>Encoding these signals explicitly allowed CatBoost to better separate high- and low-risk exposures, especially under severe class imbalance.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5"/>
          <p:cNvSpPr txBox="1"/>
          <p:nvPr/>
        </p:nvSpPr>
        <p:spPr>
          <a:xfrm>
            <a:off x="793800" y="681450"/>
            <a:ext cx="128445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Clinical Application: Workflow</a:t>
            </a:r>
            <a:endParaRPr b="0" i="0" sz="1100" u="none" cap="none" strike="noStrike">
              <a:solidFill>
                <a:srgbClr val="000000"/>
              </a:solidFill>
              <a:latin typeface="Arial"/>
              <a:ea typeface="Arial"/>
              <a:cs typeface="Arial"/>
              <a:sym typeface="Arial"/>
            </a:endParaRPr>
          </a:p>
        </p:txBody>
      </p:sp>
      <p:sp>
        <p:nvSpPr>
          <p:cNvPr id="449" name="Google Shape;449;p45"/>
          <p:cNvSpPr txBox="1"/>
          <p:nvPr/>
        </p:nvSpPr>
        <p:spPr>
          <a:xfrm>
            <a:off x="793790" y="1758630"/>
            <a:ext cx="13042800" cy="231000"/>
          </a:xfrm>
          <a:prstGeom prst="rect">
            <a:avLst/>
          </a:prstGeom>
          <a:noFill/>
          <a:ln>
            <a:noFill/>
          </a:ln>
        </p:spPr>
        <p:txBody>
          <a:bodyPr anchorCtr="0" anchor="t" bIns="0" lIns="0" spcFirstLastPara="1" rIns="0" wrap="square" tIns="0">
            <a:spAutoFit/>
          </a:bodyPr>
          <a:lstStyle/>
          <a:p>
            <a:pPr indent="0" lvl="0" marL="0" marR="0" rtl="0" algn="l">
              <a:lnSpc>
                <a:spcPct val="193546"/>
              </a:lnSpc>
              <a:spcBef>
                <a:spcPts val="0"/>
              </a:spcBef>
              <a:spcAft>
                <a:spcPts val="0"/>
              </a:spcAft>
              <a:buClr>
                <a:srgbClr val="000000"/>
              </a:buClr>
              <a:buSzPts val="1500"/>
              <a:buFont typeface="Arial"/>
              <a:buNone/>
            </a:pPr>
            <a:r>
              <a:rPr b="0" i="0" lang="en-US" sz="1500" u="none" cap="none" strike="noStrike">
                <a:solidFill>
                  <a:srgbClr val="3C3939"/>
                </a:solidFill>
                <a:latin typeface="DM Sans"/>
                <a:ea typeface="DM Sans"/>
                <a:cs typeface="DM Sans"/>
                <a:sym typeface="DM Sans"/>
              </a:rPr>
              <a:t>The any-AKI-post-drug model is better suited for deployment than the 48-hour model and supports a realistic screening workflow.</a:t>
            </a:r>
            <a:endParaRPr b="0" i="0" sz="1100" u="none" cap="none" strike="noStrike">
              <a:solidFill>
                <a:srgbClr val="000000"/>
              </a:solidFill>
              <a:latin typeface="Arial"/>
              <a:ea typeface="Arial"/>
              <a:cs typeface="Arial"/>
              <a:sym typeface="Arial"/>
            </a:endParaRPr>
          </a:p>
        </p:txBody>
      </p:sp>
      <p:sp>
        <p:nvSpPr>
          <p:cNvPr id="450" name="Google Shape;450;p45"/>
          <p:cNvSpPr/>
          <p:nvPr/>
        </p:nvSpPr>
        <p:spPr>
          <a:xfrm>
            <a:off x="793790" y="4464487"/>
            <a:ext cx="13042800" cy="22800"/>
          </a:xfrm>
          <a:prstGeom prst="roundRect">
            <a:avLst>
              <a:gd fmla="val 364651" name="adj"/>
            </a:avLst>
          </a:prstGeom>
          <a:solidFill>
            <a:srgbClr val="C7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5"/>
          <p:cNvSpPr/>
          <p:nvPr/>
        </p:nvSpPr>
        <p:spPr>
          <a:xfrm>
            <a:off x="3316486" y="3869174"/>
            <a:ext cx="22800" cy="595200"/>
          </a:xfrm>
          <a:prstGeom prst="roundRect">
            <a:avLst>
              <a:gd fmla="val 364651" name="adj"/>
            </a:avLst>
          </a:prstGeom>
          <a:solidFill>
            <a:srgbClr val="C7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5"/>
          <p:cNvSpPr/>
          <p:nvPr/>
        </p:nvSpPr>
        <p:spPr>
          <a:xfrm>
            <a:off x="3104674" y="4241244"/>
            <a:ext cx="446400" cy="446400"/>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5"/>
          <p:cNvSpPr/>
          <p:nvPr/>
        </p:nvSpPr>
        <p:spPr>
          <a:xfrm>
            <a:off x="3179088" y="4278451"/>
            <a:ext cx="2976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300"/>
              <a:buFont typeface="Raleway"/>
              <a:buNone/>
            </a:pPr>
            <a:r>
              <a:rPr b="0" i="0" lang="en-US" sz="2300" u="none" cap="none" strike="noStrike">
                <a:solidFill>
                  <a:srgbClr val="3C3939"/>
                </a:solidFill>
                <a:latin typeface="Raleway"/>
                <a:ea typeface="Raleway"/>
                <a:cs typeface="Raleway"/>
                <a:sym typeface="Raleway"/>
              </a:rPr>
              <a:t>1</a:t>
            </a:r>
            <a:endParaRPr b="0" i="0" sz="2300" u="none" cap="none" strike="noStrike">
              <a:solidFill>
                <a:srgbClr val="000000"/>
              </a:solidFill>
              <a:latin typeface="Arial"/>
              <a:ea typeface="Arial"/>
              <a:cs typeface="Arial"/>
              <a:sym typeface="Arial"/>
            </a:endParaRPr>
          </a:p>
        </p:txBody>
      </p:sp>
      <p:sp>
        <p:nvSpPr>
          <p:cNvPr id="454" name="Google Shape;454;p45"/>
          <p:cNvSpPr/>
          <p:nvPr/>
        </p:nvSpPr>
        <p:spPr>
          <a:xfrm>
            <a:off x="2087404" y="2606397"/>
            <a:ext cx="2481000" cy="3102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Daily Screening</a:t>
            </a:r>
            <a:endParaRPr b="0" i="0" sz="1950" u="none" cap="none" strike="noStrike">
              <a:solidFill>
                <a:srgbClr val="000000"/>
              </a:solidFill>
              <a:latin typeface="Arial"/>
              <a:ea typeface="Arial"/>
              <a:cs typeface="Arial"/>
              <a:sym typeface="Arial"/>
            </a:endParaRPr>
          </a:p>
        </p:txBody>
      </p:sp>
      <p:sp>
        <p:nvSpPr>
          <p:cNvPr id="455" name="Google Shape;455;p45"/>
          <p:cNvSpPr/>
          <p:nvPr/>
        </p:nvSpPr>
        <p:spPr>
          <a:xfrm>
            <a:off x="992148" y="3035618"/>
            <a:ext cx="4671600" cy="635100"/>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Run the model once per day for patients receiving nephrotoxic drugs in the ICU.</a:t>
            </a:r>
            <a:endParaRPr b="0" i="0" sz="1550" u="none" cap="none" strike="noStrike">
              <a:solidFill>
                <a:srgbClr val="000000"/>
              </a:solidFill>
              <a:latin typeface="Arial"/>
              <a:ea typeface="Arial"/>
              <a:cs typeface="Arial"/>
              <a:sym typeface="Arial"/>
            </a:endParaRPr>
          </a:p>
        </p:txBody>
      </p:sp>
      <p:sp>
        <p:nvSpPr>
          <p:cNvPr id="456" name="Google Shape;456;p45"/>
          <p:cNvSpPr/>
          <p:nvPr/>
        </p:nvSpPr>
        <p:spPr>
          <a:xfrm>
            <a:off x="5974556" y="4464487"/>
            <a:ext cx="22800" cy="595200"/>
          </a:xfrm>
          <a:prstGeom prst="roundRect">
            <a:avLst>
              <a:gd fmla="val 364651" name="adj"/>
            </a:avLst>
          </a:prstGeom>
          <a:solidFill>
            <a:srgbClr val="C7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5"/>
          <p:cNvSpPr/>
          <p:nvPr/>
        </p:nvSpPr>
        <p:spPr>
          <a:xfrm>
            <a:off x="5762744" y="4241244"/>
            <a:ext cx="446400" cy="446400"/>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5"/>
          <p:cNvSpPr/>
          <p:nvPr/>
        </p:nvSpPr>
        <p:spPr>
          <a:xfrm>
            <a:off x="5837158" y="4278451"/>
            <a:ext cx="2976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300"/>
              <a:buFont typeface="Raleway"/>
              <a:buNone/>
            </a:pPr>
            <a:r>
              <a:rPr b="0" i="0" lang="en-US" sz="2300" u="none" cap="none" strike="noStrike">
                <a:solidFill>
                  <a:srgbClr val="3C3939"/>
                </a:solidFill>
                <a:latin typeface="Raleway"/>
                <a:ea typeface="Raleway"/>
                <a:cs typeface="Raleway"/>
                <a:sym typeface="Raleway"/>
              </a:rPr>
              <a:t>2</a:t>
            </a:r>
            <a:endParaRPr b="0" i="0" sz="2300" u="none" cap="none" strike="noStrike">
              <a:solidFill>
                <a:srgbClr val="000000"/>
              </a:solidFill>
              <a:latin typeface="Arial"/>
              <a:ea typeface="Arial"/>
              <a:cs typeface="Arial"/>
              <a:sym typeface="Arial"/>
            </a:endParaRPr>
          </a:p>
        </p:txBody>
      </p:sp>
      <p:sp>
        <p:nvSpPr>
          <p:cNvPr id="459" name="Google Shape;459;p45"/>
          <p:cNvSpPr/>
          <p:nvPr/>
        </p:nvSpPr>
        <p:spPr>
          <a:xfrm>
            <a:off x="4745593" y="5258276"/>
            <a:ext cx="2481000" cy="3102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Risk Flagging</a:t>
            </a:r>
            <a:endParaRPr b="0" i="0" sz="1950" u="none" cap="none" strike="noStrike">
              <a:solidFill>
                <a:srgbClr val="000000"/>
              </a:solidFill>
              <a:latin typeface="Arial"/>
              <a:ea typeface="Arial"/>
              <a:cs typeface="Arial"/>
              <a:sym typeface="Arial"/>
            </a:endParaRPr>
          </a:p>
        </p:txBody>
      </p:sp>
      <p:sp>
        <p:nvSpPr>
          <p:cNvPr id="460" name="Google Shape;460;p45"/>
          <p:cNvSpPr/>
          <p:nvPr/>
        </p:nvSpPr>
        <p:spPr>
          <a:xfrm>
            <a:off x="3650218" y="5687497"/>
            <a:ext cx="4671600" cy="635100"/>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At threshold 0.5, identify a subset of patients at elevated risk (recall 0.80, precision 0.13).</a:t>
            </a:r>
            <a:endParaRPr b="0" i="0" sz="1550" u="none" cap="none" strike="noStrike">
              <a:solidFill>
                <a:srgbClr val="000000"/>
              </a:solidFill>
              <a:latin typeface="Arial"/>
              <a:ea typeface="Arial"/>
              <a:cs typeface="Arial"/>
              <a:sym typeface="Arial"/>
            </a:endParaRPr>
          </a:p>
        </p:txBody>
      </p:sp>
      <p:sp>
        <p:nvSpPr>
          <p:cNvPr id="461" name="Google Shape;461;p45"/>
          <p:cNvSpPr/>
          <p:nvPr/>
        </p:nvSpPr>
        <p:spPr>
          <a:xfrm>
            <a:off x="8632746" y="3869174"/>
            <a:ext cx="22800" cy="595200"/>
          </a:xfrm>
          <a:prstGeom prst="roundRect">
            <a:avLst>
              <a:gd fmla="val 364651" name="adj"/>
            </a:avLst>
          </a:prstGeom>
          <a:solidFill>
            <a:srgbClr val="C7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5"/>
          <p:cNvSpPr/>
          <p:nvPr/>
        </p:nvSpPr>
        <p:spPr>
          <a:xfrm>
            <a:off x="8420933" y="4241244"/>
            <a:ext cx="446400" cy="446400"/>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5"/>
          <p:cNvSpPr/>
          <p:nvPr/>
        </p:nvSpPr>
        <p:spPr>
          <a:xfrm>
            <a:off x="8495348" y="4278451"/>
            <a:ext cx="2976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300"/>
              <a:buFont typeface="Raleway"/>
              <a:buNone/>
            </a:pPr>
            <a:r>
              <a:rPr b="0" i="0" lang="en-US" sz="2300" u="none" cap="none" strike="noStrike">
                <a:solidFill>
                  <a:srgbClr val="3C3939"/>
                </a:solidFill>
                <a:latin typeface="Raleway"/>
                <a:ea typeface="Raleway"/>
                <a:cs typeface="Raleway"/>
                <a:sym typeface="Raleway"/>
              </a:rPr>
              <a:t>3</a:t>
            </a:r>
            <a:endParaRPr b="0" i="0" sz="2300" u="none" cap="none" strike="noStrike">
              <a:solidFill>
                <a:srgbClr val="000000"/>
              </a:solidFill>
              <a:latin typeface="Arial"/>
              <a:ea typeface="Arial"/>
              <a:cs typeface="Arial"/>
              <a:sym typeface="Arial"/>
            </a:endParaRPr>
          </a:p>
        </p:txBody>
      </p:sp>
      <p:sp>
        <p:nvSpPr>
          <p:cNvPr id="464" name="Google Shape;464;p45"/>
          <p:cNvSpPr/>
          <p:nvPr/>
        </p:nvSpPr>
        <p:spPr>
          <a:xfrm>
            <a:off x="7403783" y="2606397"/>
            <a:ext cx="2481000" cy="3102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Clinical Review</a:t>
            </a:r>
            <a:endParaRPr b="0" i="0" sz="1950" u="none" cap="none" strike="noStrike">
              <a:solidFill>
                <a:srgbClr val="000000"/>
              </a:solidFill>
              <a:latin typeface="Arial"/>
              <a:ea typeface="Arial"/>
              <a:cs typeface="Arial"/>
              <a:sym typeface="Arial"/>
            </a:endParaRPr>
          </a:p>
        </p:txBody>
      </p:sp>
      <p:sp>
        <p:nvSpPr>
          <p:cNvPr id="465" name="Google Shape;465;p45"/>
          <p:cNvSpPr/>
          <p:nvPr/>
        </p:nvSpPr>
        <p:spPr>
          <a:xfrm>
            <a:off x="6308408" y="3035618"/>
            <a:ext cx="4671600" cy="635100"/>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Pharmacists or nephrologists review flagged cases, considering dose adjustment or alternative agents.</a:t>
            </a:r>
            <a:endParaRPr b="0" i="0" sz="1550" u="none" cap="none" strike="noStrike">
              <a:solidFill>
                <a:srgbClr val="000000"/>
              </a:solidFill>
              <a:latin typeface="Arial"/>
              <a:ea typeface="Arial"/>
              <a:cs typeface="Arial"/>
              <a:sym typeface="Arial"/>
            </a:endParaRPr>
          </a:p>
        </p:txBody>
      </p:sp>
      <p:sp>
        <p:nvSpPr>
          <p:cNvPr id="466" name="Google Shape;466;p45"/>
          <p:cNvSpPr/>
          <p:nvPr/>
        </p:nvSpPr>
        <p:spPr>
          <a:xfrm>
            <a:off x="11290935" y="4464487"/>
            <a:ext cx="22800" cy="595200"/>
          </a:xfrm>
          <a:prstGeom prst="roundRect">
            <a:avLst>
              <a:gd fmla="val 364651" name="adj"/>
            </a:avLst>
          </a:prstGeom>
          <a:solidFill>
            <a:srgbClr val="C7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5"/>
          <p:cNvSpPr/>
          <p:nvPr/>
        </p:nvSpPr>
        <p:spPr>
          <a:xfrm>
            <a:off x="11079123" y="4241244"/>
            <a:ext cx="446400" cy="446400"/>
          </a:xfrm>
          <a:prstGeom prst="roundRect">
            <a:avLst>
              <a:gd fmla="val 18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5"/>
          <p:cNvSpPr/>
          <p:nvPr/>
        </p:nvSpPr>
        <p:spPr>
          <a:xfrm>
            <a:off x="11153537" y="4278451"/>
            <a:ext cx="2976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C3939"/>
              </a:buClr>
              <a:buSzPts val="2300"/>
              <a:buFont typeface="Raleway"/>
              <a:buNone/>
            </a:pPr>
            <a:r>
              <a:rPr b="0" i="0" lang="en-US" sz="2300" u="none" cap="none" strike="noStrike">
                <a:solidFill>
                  <a:srgbClr val="3C3939"/>
                </a:solidFill>
                <a:latin typeface="Raleway"/>
                <a:ea typeface="Raleway"/>
                <a:cs typeface="Raleway"/>
                <a:sym typeface="Raleway"/>
              </a:rPr>
              <a:t>4</a:t>
            </a:r>
            <a:endParaRPr b="0" i="0" sz="2300" u="none" cap="none" strike="noStrike">
              <a:solidFill>
                <a:srgbClr val="000000"/>
              </a:solidFill>
              <a:latin typeface="Arial"/>
              <a:ea typeface="Arial"/>
              <a:cs typeface="Arial"/>
              <a:sym typeface="Arial"/>
            </a:endParaRPr>
          </a:p>
        </p:txBody>
      </p:sp>
      <p:sp>
        <p:nvSpPr>
          <p:cNvPr id="469" name="Google Shape;469;p45"/>
          <p:cNvSpPr/>
          <p:nvPr/>
        </p:nvSpPr>
        <p:spPr>
          <a:xfrm>
            <a:off x="10061972" y="5258276"/>
            <a:ext cx="2481000" cy="310200"/>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Enhanced Monitoring</a:t>
            </a:r>
            <a:endParaRPr b="0" i="0" sz="1950" u="none" cap="none" strike="noStrike">
              <a:solidFill>
                <a:srgbClr val="000000"/>
              </a:solidFill>
              <a:latin typeface="Arial"/>
              <a:ea typeface="Arial"/>
              <a:cs typeface="Arial"/>
              <a:sym typeface="Arial"/>
            </a:endParaRPr>
          </a:p>
        </p:txBody>
      </p:sp>
      <p:sp>
        <p:nvSpPr>
          <p:cNvPr id="470" name="Google Shape;470;p45"/>
          <p:cNvSpPr/>
          <p:nvPr/>
        </p:nvSpPr>
        <p:spPr>
          <a:xfrm>
            <a:off x="8966597" y="5687497"/>
            <a:ext cx="4671600" cy="635100"/>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Implement closer monitoring with more frequent SCr checks or urine output tracking.</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6"/>
          <p:cNvSpPr txBox="1"/>
          <p:nvPr/>
        </p:nvSpPr>
        <p:spPr>
          <a:xfrm>
            <a:off x="793802" y="1038175"/>
            <a:ext cx="8821500" cy="600300"/>
          </a:xfrm>
          <a:prstGeom prst="rect">
            <a:avLst/>
          </a:prstGeom>
          <a:noFill/>
          <a:ln>
            <a:noFill/>
          </a:ln>
        </p:spPr>
        <p:txBody>
          <a:bodyPr anchorCtr="0" anchor="t" bIns="0" lIns="0" spcFirstLastPara="1" rIns="0" wrap="square" tIns="0">
            <a:spAutoFit/>
          </a:bodyPr>
          <a:lstStyle/>
          <a:p>
            <a:pPr indent="0" lvl="0" marL="0" marR="0" rtl="0" algn="l">
              <a:lnSpc>
                <a:spcPct val="149210"/>
              </a:lnSpc>
              <a:spcBef>
                <a:spcPts val="0"/>
              </a:spcBef>
              <a:spcAft>
                <a:spcPts val="0"/>
              </a:spcAft>
              <a:buClr>
                <a:srgbClr val="000000"/>
              </a:buClr>
              <a:buSzPts val="3900"/>
              <a:buFont typeface="Arial"/>
              <a:buNone/>
            </a:pPr>
            <a:r>
              <a:rPr b="0" i="0" lang="en-US" sz="3900" u="none" cap="none" strike="noStrike">
                <a:solidFill>
                  <a:srgbClr val="1B1B27"/>
                </a:solidFill>
                <a:latin typeface="Raleway"/>
                <a:ea typeface="Raleway"/>
                <a:cs typeface="Raleway"/>
                <a:sym typeface="Raleway"/>
              </a:rPr>
              <a:t>Limitations and Future Directions</a:t>
            </a:r>
            <a:endParaRPr b="0" i="0" sz="1100" u="none" cap="none" strike="noStrike">
              <a:solidFill>
                <a:srgbClr val="000000"/>
              </a:solidFill>
              <a:latin typeface="Arial"/>
              <a:ea typeface="Arial"/>
              <a:cs typeface="Arial"/>
              <a:sym typeface="Arial"/>
            </a:endParaRPr>
          </a:p>
        </p:txBody>
      </p:sp>
      <p:sp>
        <p:nvSpPr>
          <p:cNvPr id="480" name="Google Shape;480;p46"/>
          <p:cNvSpPr txBox="1"/>
          <p:nvPr/>
        </p:nvSpPr>
        <p:spPr>
          <a:xfrm>
            <a:off x="881915" y="2553991"/>
            <a:ext cx="24810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1B1B27"/>
                </a:solidFill>
                <a:latin typeface="Raleway"/>
                <a:ea typeface="Raleway"/>
                <a:cs typeface="Raleway"/>
                <a:sym typeface="Raleway"/>
              </a:rPr>
              <a:t>Current Limitations</a:t>
            </a:r>
            <a:endParaRPr b="1" i="0" sz="1100" u="none" cap="none" strike="noStrike">
              <a:solidFill>
                <a:srgbClr val="000000"/>
              </a:solidFill>
              <a:latin typeface="Arial"/>
              <a:ea typeface="Arial"/>
              <a:cs typeface="Arial"/>
              <a:sym typeface="Arial"/>
            </a:endParaRPr>
          </a:p>
        </p:txBody>
      </p:sp>
      <p:sp>
        <p:nvSpPr>
          <p:cNvPr id="481" name="Google Shape;481;p46"/>
          <p:cNvSpPr txBox="1"/>
          <p:nvPr/>
        </p:nvSpPr>
        <p:spPr>
          <a:xfrm>
            <a:off x="881925" y="3241320"/>
            <a:ext cx="6050100" cy="49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3C3939"/>
                </a:solidFill>
                <a:latin typeface="DM Sans"/>
                <a:ea typeface="DM Sans"/>
                <a:cs typeface="DM Sans"/>
                <a:sym typeface="DM Sans"/>
              </a:rPr>
              <a:t>Single-center dataset:</a:t>
            </a:r>
            <a:r>
              <a:rPr b="0" i="0" lang="en-US" sz="1500" u="none" cap="none" strike="noStrike">
                <a:solidFill>
                  <a:srgbClr val="3C3939"/>
                </a:solidFill>
                <a:latin typeface="DM Sans"/>
                <a:ea typeface="DM Sans"/>
                <a:cs typeface="DM Sans"/>
                <a:sym typeface="DM Sans"/>
              </a:rPr>
              <a:t> MIMIC-IV reflects one academic medical center; external validation needed</a:t>
            </a:r>
            <a:endParaRPr b="0" i="0" sz="1100" u="none" cap="none" strike="noStrike">
              <a:solidFill>
                <a:srgbClr val="000000"/>
              </a:solidFill>
              <a:latin typeface="Arial"/>
              <a:ea typeface="Arial"/>
              <a:cs typeface="Arial"/>
              <a:sym typeface="Arial"/>
            </a:endParaRPr>
          </a:p>
        </p:txBody>
      </p:sp>
      <p:sp>
        <p:nvSpPr>
          <p:cNvPr id="482" name="Google Shape;482;p46"/>
          <p:cNvSpPr txBox="1"/>
          <p:nvPr/>
        </p:nvSpPr>
        <p:spPr>
          <a:xfrm>
            <a:off x="881925" y="3945814"/>
            <a:ext cx="6050100" cy="49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3C3939"/>
                </a:solidFill>
                <a:latin typeface="DM Sans"/>
                <a:ea typeface="DM Sans"/>
                <a:cs typeface="DM Sans"/>
                <a:sym typeface="DM Sans"/>
              </a:rPr>
              <a:t>Temporal association ≠ causation:</a:t>
            </a:r>
            <a:r>
              <a:rPr b="0" i="0" lang="en-US" sz="1500" u="none" cap="none" strike="noStrike">
                <a:solidFill>
                  <a:srgbClr val="3C3939"/>
                </a:solidFill>
                <a:latin typeface="DM Sans"/>
                <a:ea typeface="DM Sans"/>
                <a:cs typeface="DM Sans"/>
                <a:sym typeface="DM Sans"/>
              </a:rPr>
              <a:t> Some events may be due to underlying illness rather than drugs</a:t>
            </a:r>
            <a:endParaRPr b="0" i="0" sz="1100" u="none" cap="none" strike="noStrike">
              <a:solidFill>
                <a:srgbClr val="000000"/>
              </a:solidFill>
              <a:latin typeface="Arial"/>
              <a:ea typeface="Arial"/>
              <a:cs typeface="Arial"/>
              <a:sym typeface="Arial"/>
            </a:endParaRPr>
          </a:p>
        </p:txBody>
      </p:sp>
      <p:sp>
        <p:nvSpPr>
          <p:cNvPr id="483" name="Google Shape;483;p46"/>
          <p:cNvSpPr txBox="1"/>
          <p:nvPr/>
        </p:nvSpPr>
        <p:spPr>
          <a:xfrm>
            <a:off x="881925" y="4650307"/>
            <a:ext cx="6050100" cy="49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3C3939"/>
                </a:solidFill>
                <a:latin typeface="DM Sans"/>
                <a:ea typeface="DM Sans"/>
                <a:cs typeface="DM Sans"/>
                <a:sym typeface="DM Sans"/>
              </a:rPr>
              <a:t>Residual confounding:</a:t>
            </a:r>
            <a:r>
              <a:rPr b="0" i="0" lang="en-US" sz="1500" u="none" cap="none" strike="noStrike">
                <a:solidFill>
                  <a:srgbClr val="3C3939"/>
                </a:solidFill>
                <a:latin typeface="DM Sans"/>
                <a:ea typeface="DM Sans"/>
                <a:cs typeface="DM Sans"/>
                <a:sym typeface="DM Sans"/>
              </a:rPr>
              <a:t> Unmeasured confounders remain despite extensive adjustment</a:t>
            </a:r>
            <a:endParaRPr b="0" i="0" sz="1100" u="none" cap="none" strike="noStrike">
              <a:solidFill>
                <a:srgbClr val="000000"/>
              </a:solidFill>
              <a:latin typeface="Arial"/>
              <a:ea typeface="Arial"/>
              <a:cs typeface="Arial"/>
              <a:sym typeface="Arial"/>
            </a:endParaRPr>
          </a:p>
        </p:txBody>
      </p:sp>
      <p:sp>
        <p:nvSpPr>
          <p:cNvPr id="484" name="Google Shape;484;p46"/>
          <p:cNvSpPr txBox="1"/>
          <p:nvPr/>
        </p:nvSpPr>
        <p:spPr>
          <a:xfrm>
            <a:off x="881925" y="5354770"/>
            <a:ext cx="6050100" cy="49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3C3939"/>
                </a:solidFill>
                <a:latin typeface="DM Sans"/>
                <a:ea typeface="DM Sans"/>
                <a:cs typeface="DM Sans"/>
                <a:sym typeface="DM Sans"/>
              </a:rPr>
              <a:t>Modest precision:</a:t>
            </a:r>
            <a:r>
              <a:rPr b="0" i="0" lang="en-US" sz="1500" u="none" cap="none" strike="noStrike">
                <a:solidFill>
                  <a:srgbClr val="3C3939"/>
                </a:solidFill>
                <a:latin typeface="DM Sans"/>
                <a:ea typeface="DM Sans"/>
                <a:cs typeface="DM Sans"/>
                <a:sym typeface="DM Sans"/>
              </a:rPr>
              <a:t> ~0.13 at reasonable recall limits suitability for hard-stop alerts</a:t>
            </a:r>
            <a:endParaRPr b="0" i="0" sz="1100" u="none" cap="none" strike="noStrike">
              <a:solidFill>
                <a:srgbClr val="000000"/>
              </a:solidFill>
              <a:latin typeface="Arial"/>
              <a:ea typeface="Arial"/>
              <a:cs typeface="Arial"/>
              <a:sym typeface="Arial"/>
            </a:endParaRPr>
          </a:p>
        </p:txBody>
      </p:sp>
      <p:sp>
        <p:nvSpPr>
          <p:cNvPr id="485" name="Google Shape;485;p46"/>
          <p:cNvSpPr txBox="1"/>
          <p:nvPr/>
        </p:nvSpPr>
        <p:spPr>
          <a:xfrm>
            <a:off x="7652999" y="2553991"/>
            <a:ext cx="2481000" cy="292500"/>
          </a:xfrm>
          <a:prstGeom prst="rect">
            <a:avLst/>
          </a:prstGeom>
          <a:noFill/>
          <a:ln>
            <a:noFill/>
          </a:ln>
        </p:spPr>
        <p:txBody>
          <a:bodyPr anchorCtr="0" anchor="t" bIns="0" lIns="0" spcFirstLastPara="1" rIns="0" wrap="square" tIns="0">
            <a:spAutoFit/>
          </a:bodyPr>
          <a:lstStyle/>
          <a:p>
            <a:pPr indent="0" lvl="0" marL="0" marR="0" rtl="0" algn="l">
              <a:lnSpc>
                <a:spcPct val="147681"/>
              </a:lnSpc>
              <a:spcBef>
                <a:spcPts val="0"/>
              </a:spcBef>
              <a:spcAft>
                <a:spcPts val="0"/>
              </a:spcAft>
              <a:buClr>
                <a:srgbClr val="000000"/>
              </a:buClr>
              <a:buSzPts val="1900"/>
              <a:buFont typeface="Arial"/>
              <a:buNone/>
            </a:pPr>
            <a:r>
              <a:rPr b="1" i="0" lang="en-US" sz="1900" u="none" cap="none" strike="noStrike">
                <a:solidFill>
                  <a:srgbClr val="1B1B27"/>
                </a:solidFill>
                <a:latin typeface="Raleway"/>
                <a:ea typeface="Raleway"/>
                <a:cs typeface="Raleway"/>
                <a:sym typeface="Raleway"/>
              </a:rPr>
              <a:t>Future Work</a:t>
            </a:r>
            <a:endParaRPr b="1" i="0" sz="1100" u="none" cap="none" strike="noStrike">
              <a:solidFill>
                <a:srgbClr val="000000"/>
              </a:solidFill>
              <a:latin typeface="Arial"/>
              <a:ea typeface="Arial"/>
              <a:cs typeface="Arial"/>
              <a:sym typeface="Arial"/>
            </a:endParaRPr>
          </a:p>
        </p:txBody>
      </p:sp>
      <p:sp>
        <p:nvSpPr>
          <p:cNvPr id="486" name="Google Shape;486;p46"/>
          <p:cNvSpPr txBox="1"/>
          <p:nvPr/>
        </p:nvSpPr>
        <p:spPr>
          <a:xfrm>
            <a:off x="7469176" y="3241332"/>
            <a:ext cx="6279300" cy="231000"/>
          </a:xfrm>
          <a:prstGeom prst="rect">
            <a:avLst/>
          </a:prstGeom>
          <a:noFill/>
          <a:ln>
            <a:noFill/>
          </a:ln>
        </p:spPr>
        <p:txBody>
          <a:bodyPr anchorCtr="0" anchor="t" bIns="0" lIns="0" spcFirstLastPara="1" rIns="0" wrap="square" tIns="0">
            <a:spAutoFit/>
          </a:bodyPr>
          <a:lstStyle/>
          <a:p>
            <a:pPr indent="-107950" lvl="1" marL="228600" marR="0" rtl="0" algn="l">
              <a:lnSpc>
                <a:spcPct val="193546"/>
              </a:lnSpc>
              <a:spcBef>
                <a:spcPts val="0"/>
              </a:spcBef>
              <a:spcAft>
                <a:spcPts val="0"/>
              </a:spcAft>
              <a:buClr>
                <a:srgbClr val="3C3939"/>
              </a:buClr>
              <a:buSzPts val="1500"/>
              <a:buFont typeface="Arial"/>
              <a:buChar char="•"/>
            </a:pPr>
            <a:r>
              <a:rPr b="0" i="0" lang="en-US" sz="1500" u="none" cap="none" strike="noStrike">
                <a:solidFill>
                  <a:srgbClr val="3C3939"/>
                </a:solidFill>
                <a:latin typeface="DM Sans"/>
                <a:ea typeface="DM Sans"/>
                <a:cs typeface="DM Sans"/>
                <a:sym typeface="DM Sans"/>
              </a:rPr>
              <a:t>External validation on other EHR datasets and institutions</a:t>
            </a:r>
            <a:endParaRPr b="0" i="0" sz="1100" u="none" cap="none" strike="noStrike">
              <a:solidFill>
                <a:srgbClr val="000000"/>
              </a:solidFill>
              <a:latin typeface="Arial"/>
              <a:ea typeface="Arial"/>
              <a:cs typeface="Arial"/>
              <a:sym typeface="Arial"/>
            </a:endParaRPr>
          </a:p>
        </p:txBody>
      </p:sp>
      <p:sp>
        <p:nvSpPr>
          <p:cNvPr id="487" name="Google Shape;487;p46"/>
          <p:cNvSpPr txBox="1"/>
          <p:nvPr/>
        </p:nvSpPr>
        <p:spPr>
          <a:xfrm>
            <a:off x="7469176" y="3506828"/>
            <a:ext cx="6279300" cy="231000"/>
          </a:xfrm>
          <a:prstGeom prst="rect">
            <a:avLst/>
          </a:prstGeom>
          <a:noFill/>
          <a:ln>
            <a:noFill/>
          </a:ln>
        </p:spPr>
        <p:txBody>
          <a:bodyPr anchorCtr="0" anchor="t" bIns="0" lIns="0" spcFirstLastPara="1" rIns="0" wrap="square" tIns="0">
            <a:spAutoFit/>
          </a:bodyPr>
          <a:lstStyle/>
          <a:p>
            <a:pPr indent="-107950" lvl="1" marL="228600" marR="0" rtl="0" algn="l">
              <a:lnSpc>
                <a:spcPct val="193546"/>
              </a:lnSpc>
              <a:spcBef>
                <a:spcPts val="0"/>
              </a:spcBef>
              <a:spcAft>
                <a:spcPts val="0"/>
              </a:spcAft>
              <a:buClr>
                <a:srgbClr val="3C3939"/>
              </a:buClr>
              <a:buSzPts val="1500"/>
              <a:buFont typeface="Arial"/>
              <a:buChar char="•"/>
            </a:pPr>
            <a:r>
              <a:rPr b="0" i="0" lang="en-US" sz="1500" u="none" cap="none" strike="noStrike">
                <a:solidFill>
                  <a:srgbClr val="3C3939"/>
                </a:solidFill>
                <a:latin typeface="DM Sans"/>
                <a:ea typeface="DM Sans"/>
                <a:cs typeface="DM Sans"/>
                <a:sym typeface="DM Sans"/>
              </a:rPr>
              <a:t>Model calibration and monitoring for drift over time</a:t>
            </a:r>
            <a:endParaRPr b="0" i="0" sz="1100" u="none" cap="none" strike="noStrike">
              <a:solidFill>
                <a:srgbClr val="000000"/>
              </a:solidFill>
              <a:latin typeface="Arial"/>
              <a:ea typeface="Arial"/>
              <a:cs typeface="Arial"/>
              <a:sym typeface="Arial"/>
            </a:endParaRPr>
          </a:p>
        </p:txBody>
      </p:sp>
      <p:sp>
        <p:nvSpPr>
          <p:cNvPr id="488" name="Google Shape;488;p46"/>
          <p:cNvSpPr txBox="1"/>
          <p:nvPr/>
        </p:nvSpPr>
        <p:spPr>
          <a:xfrm>
            <a:off x="7469176" y="3867156"/>
            <a:ext cx="6279300" cy="677700"/>
          </a:xfrm>
          <a:prstGeom prst="rect">
            <a:avLst/>
          </a:prstGeom>
          <a:noFill/>
          <a:ln>
            <a:noFill/>
          </a:ln>
        </p:spPr>
        <p:txBody>
          <a:bodyPr anchorCtr="0" anchor="t" bIns="0" lIns="0" spcFirstLastPara="1" rIns="0" wrap="square" tIns="0">
            <a:spAutoFit/>
          </a:bodyPr>
          <a:lstStyle/>
          <a:p>
            <a:pPr indent="-107950" lvl="1" marL="228600" marR="0" rtl="0" algn="l">
              <a:lnSpc>
                <a:spcPct val="193546"/>
              </a:lnSpc>
              <a:spcBef>
                <a:spcPts val="0"/>
              </a:spcBef>
              <a:spcAft>
                <a:spcPts val="0"/>
              </a:spcAft>
              <a:buClr>
                <a:srgbClr val="3C3939"/>
              </a:buClr>
              <a:buSzPts val="1500"/>
              <a:buFont typeface="Arial"/>
              <a:buChar char="•"/>
            </a:pPr>
            <a:r>
              <a:rPr b="0" i="0" lang="en-US" sz="1500" u="none" cap="none" strike="noStrike">
                <a:solidFill>
                  <a:srgbClr val="3C3939"/>
                </a:solidFill>
                <a:latin typeface="DM Sans"/>
                <a:ea typeface="DM Sans"/>
                <a:cs typeface="DM Sans"/>
                <a:sym typeface="DM Sans"/>
              </a:rPr>
              <a:t>Integration with clinician-facing interfaces that surface SHAP-highlighted features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7"/>
          <p:cNvSpPr/>
          <p:nvPr/>
        </p:nvSpPr>
        <p:spPr>
          <a:xfrm>
            <a:off x="793800" y="950975"/>
            <a:ext cx="12059700" cy="6201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1B1B27"/>
              </a:buClr>
              <a:buSzPts val="3900"/>
              <a:buFont typeface="Raleway"/>
              <a:buNone/>
            </a:pPr>
            <a:r>
              <a:rPr b="0" i="0" lang="en-US" sz="3900" u="none" cap="none" strike="noStrike">
                <a:solidFill>
                  <a:srgbClr val="1B1B27"/>
                </a:solidFill>
                <a:latin typeface="Raleway"/>
                <a:ea typeface="Raleway"/>
                <a:cs typeface="Raleway"/>
                <a:sym typeface="Raleway"/>
              </a:rPr>
              <a:t>Conclusion: Toward Safer Medication Use in the ICU</a:t>
            </a:r>
            <a:endParaRPr b="0" i="0" sz="3900" u="none" cap="none" strike="noStrike">
              <a:solidFill>
                <a:srgbClr val="000000"/>
              </a:solidFill>
              <a:latin typeface="Arial"/>
              <a:ea typeface="Arial"/>
              <a:cs typeface="Arial"/>
              <a:sym typeface="Arial"/>
            </a:endParaRPr>
          </a:p>
        </p:txBody>
      </p:sp>
      <p:sp>
        <p:nvSpPr>
          <p:cNvPr id="498" name="Google Shape;498;p47"/>
          <p:cNvSpPr/>
          <p:nvPr/>
        </p:nvSpPr>
        <p:spPr>
          <a:xfrm>
            <a:off x="793790" y="2694027"/>
            <a:ext cx="13042800" cy="635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We built and documented a </a:t>
            </a:r>
            <a:r>
              <a:rPr b="1" i="0" lang="en-US" sz="1550" u="none" cap="none" strike="noStrike">
                <a:solidFill>
                  <a:srgbClr val="3C3939"/>
                </a:solidFill>
                <a:latin typeface="Roboto"/>
                <a:ea typeface="Roboto"/>
                <a:cs typeface="Roboto"/>
                <a:sym typeface="Roboto"/>
              </a:rPr>
              <a:t>BigQuery pipeline on MIMIC-IV v3.1</a:t>
            </a:r>
            <a:r>
              <a:rPr b="0" i="0" lang="en-US" sz="1550" u="none" cap="none" strike="noStrike">
                <a:solidFill>
                  <a:srgbClr val="3C3939"/>
                </a:solidFill>
                <a:latin typeface="Roboto"/>
                <a:ea typeface="Roboto"/>
                <a:cs typeface="Roboto"/>
                <a:sym typeface="Roboto"/>
              </a:rPr>
              <a:t> that generates full KDIGO AKI labels and drug-level ADE outcomes. Temporally enriched CatBoost models substantially improved PR-AUC and recall for predicting drug-associated AKI.</a:t>
            </a:r>
            <a:endParaRPr b="0" i="0" sz="1550" u="none" cap="none" strike="noStrike">
              <a:solidFill>
                <a:srgbClr val="000000"/>
              </a:solidFill>
              <a:latin typeface="Arial"/>
              <a:ea typeface="Arial"/>
              <a:cs typeface="Arial"/>
              <a:sym typeface="Arial"/>
            </a:endParaRPr>
          </a:p>
        </p:txBody>
      </p:sp>
      <p:sp>
        <p:nvSpPr>
          <p:cNvPr id="499" name="Google Shape;499;p47"/>
          <p:cNvSpPr/>
          <p:nvPr/>
        </p:nvSpPr>
        <p:spPr>
          <a:xfrm>
            <a:off x="1121265" y="3806873"/>
            <a:ext cx="4215300" cy="2141700"/>
          </a:xfrm>
          <a:prstGeom prst="roundRect">
            <a:avLst>
              <a:gd fmla="val 5123" name="adj"/>
            </a:avLst>
          </a:prstGeom>
          <a:solidFill>
            <a:srgbClr val="FFFFFF">
              <a:alpha val="94117"/>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7"/>
          <p:cNvSpPr/>
          <p:nvPr/>
        </p:nvSpPr>
        <p:spPr>
          <a:xfrm>
            <a:off x="1411079" y="4028099"/>
            <a:ext cx="4123800" cy="310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Temporal Context is Crucial</a:t>
            </a:r>
            <a:endParaRPr b="0" i="0" sz="1950" u="none" cap="none" strike="noStrike">
              <a:solidFill>
                <a:srgbClr val="000000"/>
              </a:solidFill>
              <a:latin typeface="Arial"/>
              <a:ea typeface="Arial"/>
              <a:cs typeface="Arial"/>
              <a:sym typeface="Arial"/>
            </a:endParaRPr>
          </a:p>
        </p:txBody>
      </p:sp>
      <p:sp>
        <p:nvSpPr>
          <p:cNvPr id="501" name="Google Shape;501;p47"/>
          <p:cNvSpPr/>
          <p:nvPr/>
        </p:nvSpPr>
        <p:spPr>
          <a:xfrm>
            <a:off x="1411063" y="4457311"/>
            <a:ext cx="3704400" cy="952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Pre-drug rolling labs, vitals, urine output, severity scores, and interaction flags were essential for identifying at-risk patients.</a:t>
            </a:r>
            <a:endParaRPr b="0" i="0" sz="1550" u="none" cap="none" strike="noStrike">
              <a:solidFill>
                <a:srgbClr val="000000"/>
              </a:solidFill>
              <a:latin typeface="Arial"/>
              <a:ea typeface="Arial"/>
              <a:cs typeface="Arial"/>
              <a:sym typeface="Arial"/>
            </a:endParaRPr>
          </a:p>
        </p:txBody>
      </p:sp>
      <p:sp>
        <p:nvSpPr>
          <p:cNvPr id="502" name="Google Shape;502;p47"/>
          <p:cNvSpPr/>
          <p:nvPr/>
        </p:nvSpPr>
        <p:spPr>
          <a:xfrm>
            <a:off x="1411079" y="4028099"/>
            <a:ext cx="4123800" cy="310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Temporal Context is Crucial</a:t>
            </a:r>
            <a:endParaRPr b="0" i="0" sz="1950" u="none" cap="none" strike="noStrike">
              <a:solidFill>
                <a:srgbClr val="000000"/>
              </a:solidFill>
              <a:latin typeface="Arial"/>
              <a:ea typeface="Arial"/>
              <a:cs typeface="Arial"/>
              <a:sym typeface="Arial"/>
            </a:endParaRPr>
          </a:p>
        </p:txBody>
      </p:sp>
      <p:sp>
        <p:nvSpPr>
          <p:cNvPr id="503" name="Google Shape;503;p47"/>
          <p:cNvSpPr/>
          <p:nvPr/>
        </p:nvSpPr>
        <p:spPr>
          <a:xfrm>
            <a:off x="8556453" y="3806873"/>
            <a:ext cx="4215300" cy="2141700"/>
          </a:xfrm>
          <a:prstGeom prst="roundRect">
            <a:avLst>
              <a:gd fmla="val 5123" name="adj"/>
            </a:avLst>
          </a:prstGeom>
          <a:solidFill>
            <a:srgbClr val="FFFFFF">
              <a:alpha val="94117"/>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7"/>
          <p:cNvSpPr/>
          <p:nvPr/>
        </p:nvSpPr>
        <p:spPr>
          <a:xfrm>
            <a:off x="6836168" y="3806873"/>
            <a:ext cx="91500" cy="2141700"/>
          </a:xfrm>
          <a:prstGeom prst="roundRect">
            <a:avLst>
              <a:gd fmla="val 91163" name="adj"/>
            </a:avLst>
          </a:prstGeom>
          <a:solidFill>
            <a:srgbClr val="1B1B2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7"/>
          <p:cNvSpPr/>
          <p:nvPr/>
        </p:nvSpPr>
        <p:spPr>
          <a:xfrm>
            <a:off x="8846250" y="4028099"/>
            <a:ext cx="3925500" cy="620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Raleway"/>
                <a:ea typeface="Raleway"/>
                <a:cs typeface="Raleway"/>
                <a:sym typeface="Raleway"/>
              </a:rPr>
              <a:t>Decision Support, Not Replacement</a:t>
            </a:r>
            <a:endParaRPr b="0" i="0" sz="1950" u="none" cap="none" strike="noStrike">
              <a:solidFill>
                <a:srgbClr val="000000"/>
              </a:solidFill>
              <a:latin typeface="Arial"/>
              <a:ea typeface="Arial"/>
              <a:cs typeface="Arial"/>
              <a:sym typeface="Arial"/>
            </a:endParaRPr>
          </a:p>
        </p:txBody>
      </p:sp>
      <p:sp>
        <p:nvSpPr>
          <p:cNvPr id="506" name="Google Shape;506;p47"/>
          <p:cNvSpPr/>
          <p:nvPr/>
        </p:nvSpPr>
        <p:spPr>
          <a:xfrm>
            <a:off x="8846251" y="4767469"/>
            <a:ext cx="3704400" cy="952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Roboto"/>
                <a:ea typeface="Roboto"/>
                <a:cs typeface="Roboto"/>
                <a:sym typeface="Roboto"/>
              </a:rPr>
              <a:t>Models should support clinician judgment by surfacing risk scores and interpretable drivers, not make autonomous decisions.</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8"/>
          <p:cNvSpPr/>
          <p:nvPr/>
        </p:nvSpPr>
        <p:spPr>
          <a:xfrm>
            <a:off x="1939850" y="1802675"/>
            <a:ext cx="5967300" cy="23754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1B1B27"/>
              </a:buClr>
              <a:buSzPts val="3900"/>
              <a:buFont typeface="Raleway"/>
              <a:buNone/>
            </a:pPr>
            <a:r>
              <a:rPr lang="en-US" sz="6400">
                <a:solidFill>
                  <a:srgbClr val="1B1B27"/>
                </a:solidFill>
                <a:latin typeface="Raleway"/>
                <a:ea typeface="Raleway"/>
                <a:cs typeface="Raleway"/>
                <a:sym typeface="Raleway"/>
              </a:rPr>
              <a:t>THANK YOU!</a:t>
            </a:r>
            <a:br>
              <a:rPr lang="en-US" sz="6400">
                <a:solidFill>
                  <a:srgbClr val="1B1B27"/>
                </a:solidFill>
                <a:latin typeface="Raleway"/>
                <a:ea typeface="Raleway"/>
                <a:cs typeface="Raleway"/>
                <a:sym typeface="Raleway"/>
              </a:rPr>
            </a:br>
            <a:r>
              <a:rPr lang="en-US" sz="4900">
                <a:solidFill>
                  <a:srgbClr val="1B1B27"/>
                </a:solidFill>
                <a:latin typeface="Raleway"/>
                <a:ea typeface="Raleway"/>
                <a:cs typeface="Raleway"/>
                <a:sym typeface="Raleway"/>
              </a:rPr>
              <a:t>Questions?</a:t>
            </a:r>
            <a:endParaRPr b="0" i="0" sz="4900" u="none" cap="none" strike="noStrike">
              <a:solidFill>
                <a:srgbClr val="000000"/>
              </a:solidFill>
              <a:latin typeface="Arial"/>
              <a:ea typeface="Arial"/>
              <a:cs typeface="Arial"/>
              <a:sym typeface="Arial"/>
            </a:endParaRPr>
          </a:p>
        </p:txBody>
      </p:sp>
      <p:pic>
        <p:nvPicPr>
          <p:cNvPr id="516" name="Google Shape;516;p48" title="Screenshot_2025-12-09_at_8.05.22_PM-removebg-preview.png"/>
          <p:cNvPicPr preferRelativeResize="0"/>
          <p:nvPr/>
        </p:nvPicPr>
        <p:blipFill>
          <a:blip r:embed="rId3">
            <a:alphaModFix/>
          </a:blip>
          <a:stretch>
            <a:fillRect/>
          </a:stretch>
        </p:blipFill>
        <p:spPr>
          <a:xfrm>
            <a:off x="10537375" y="4423950"/>
            <a:ext cx="3609701" cy="350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